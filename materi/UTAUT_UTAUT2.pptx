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a0c848b9-1a1c-6a3d-3023-a571feb594e6}">
          <p14:sldIdLst>
            <p14:sldId id="256"/>
            <p14:sldId id="257"/>
            <p14:sldId id="258"/>
          </p14:sldIdLst>
        </p14:section>
        <p14:section name="Pengantar" id="{054ae432-432a-6326-3bbf-69dd5bd387b8}">
          <p14:sldIdLst>
            <p14:sldId id="259"/>
          </p14:sldIdLst>
        </p14:section>
        <p14:section name="UTAUT" id="{56cbcb0e-02b1-de64-9d2f-161eb08d6543}">
          <p14:sldIdLst>
            <p14:sldId id="260"/>
            <p14:sldId id="261"/>
            <p14:sldId id="262"/>
            <p14:sldId id="263"/>
            <p14:sldId id="264"/>
            <p14:sldId id="265"/>
            <p14:sldId id="266"/>
            <p14:sldId id="267"/>
            <p14:sldId id="268"/>
            <p14:sldId id="269"/>
            <p14:sldId id="270"/>
            <p14:sldId id="271"/>
            <p14:sldId id="272"/>
          </p14:sldIdLst>
        </p14:section>
        <p14:section name="UTAUT2" id="{f9e2bdd1-53c1-d7f2-95ca-9f7129e5eafc}">
          <p14:sldIdLst>
            <p14:sldId id="273"/>
            <p14:sldId id="274"/>
            <p14:sldId id="275"/>
            <p14:sldId id="276"/>
            <p14:sldId id="277"/>
            <p14:sldId id="278"/>
            <p14:sldId id="279"/>
            <p14:sldId id="280"/>
          </p14:sldIdLst>
        </p14:section>
        <p14:section name="Perbandingan" id="{4666ee92-b3ea-6b58-5aa7-e913642e0929}">
          <p14:sldIdLst>
            <p14:sldId id="281"/>
            <p14:sldId id="282"/>
          </p14:sldIdLst>
        </p14:section>
        <p14:section name="Penutup" id="{cf43f87b-2a7f-b592-e577-2baf0638fff7}">
          <p14:sldIdLst>
            <p14:sldId id="283"/>
            <p14:sldId id="284"/>
            <p14:sldId id="285"/>
          </p14:sldIdLst>
        </p14:section>
        <p14:section name="Lampiran" id="{f5b738fd-04a2-0446-b849-642c3cb3fbff}">
          <p14:sldIdLst>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C1A33"/>
                </a:solidFill>
                <a:latin typeface="+mn-lt"/>
              </a:defRPr>
            </a:pPr>
            <a:r>
              <a:rPr sz="1600" b="0" i="0" u="none" strike="noStrike">
                <a:solidFill>
                  <a:srgbClr val="1C1A33"/>
                </a:solidFill>
                <a:latin typeface="+mn-lt"/>
              </a:rPr>
              <a:t>Daya jelas model (%)</a:t>
            </a:r>
          </a:p>
        </c:rich>
      </c:tx>
      <c:layout/>
      <c:overlay val="0"/>
    </c:title>
    <c:autoTitleDeleted val="0"/>
    <c:plotArea>
      <c:layout/>
      <c:barChart>
        <c:barDir val="col"/>
        <c:grouping val="clustered"/>
        <c:varyColors val="0"/>
        <c:ser>
          <c:idx val="0"/>
          <c:order val="0"/>
          <c:tx>
            <c:strRef>
              <c:f>Sheet1!$B$1</c:f>
              <c:strCache>
                <c:ptCount val="1"/>
                <c:pt idx="0">
                  <c:v>UTAUT</c:v>
                </c:pt>
              </c:strCache>
            </c:strRef>
          </c:tx>
          <c:spPr>
            <a:solidFill>
              <a:srgbClr val="8A8AA3"/>
            </a:solidFill>
            <a:effectLst/>
          </c:spPr>
          <c:invertIfNegative val="0"/>
          <c:dLbls>
            <c:numFmt formatCode="0&quot;%&quot;" sourceLinked="0"/>
            <c:txPr>
              <a:bodyPr/>
              <a:lstStyle/>
              <a:p>
                <a:pPr>
                  <a:defRPr b="1" i="0" strike="noStrike" sz="1600" u="none">
                    <a:solidFill>
                      <a:srgbClr val="1C1A33"/>
                    </a:solidFill>
                    <a:latin typeface="+mn-lt"/>
                  </a:defRPr>
                </a:pPr>
              </a:p>
            </c:txPr>
            <c:showLegendKey val="0"/>
            <c:showVal val="1"/>
            <c:showCatName val="0"/>
            <c:showSerName val="0"/>
            <c:showPercent val="0"/>
            <c:showBubbleSize val="0"/>
            <c:showLeaderLines val="0"/>
          </c:dLbls>
          <c:cat>
            <c:multiLvlStrRef>
              <c:f>Sheet1!$A$2:$A$3</c:f>
              <c:multiLvlStrCache>
                <c:ptCount val="2"/>
                <c:lvl>
                  <c:pt idx="0">
                    <c:v>Niat (BI)</c:v>
                  </c:pt>
                  <c:pt idx="1">
                    <c:v>Penggunaan (UB)</c:v>
                  </c:pt>
                </c:lvl>
              </c:multiLvlStrCache>
            </c:multiLvlStrRef>
          </c:cat>
          <c:val>
            <c:numRef>
              <c:f>Sheet1!$B$2:$B$3</c:f>
              <c:numCache>
                <c:formatCode>General</c:formatCode>
                <c:ptCount val="2"/>
                <c:pt idx="0">
                  <c:v>56</c:v>
                </c:pt>
                <c:pt idx="1">
                  <c:v>40</c:v>
                </c:pt>
              </c:numCache>
            </c:numRef>
          </c:val>
        </c:ser>
        <c:ser>
          <c:idx val="1"/>
          <c:order val="1"/>
          <c:tx>
            <c:strRef>
              <c:f>Sheet1!$C$1</c:f>
              <c:strCache>
                <c:ptCount val="1"/>
                <c:pt idx="0">
                  <c:v>UTAUT2</c:v>
                </c:pt>
              </c:strCache>
            </c:strRef>
          </c:tx>
          <c:spPr>
            <a:solidFill>
              <a:srgbClr val="E8962E"/>
            </a:solidFill>
            <a:effectLst/>
          </c:spPr>
          <c:invertIfNegative val="0"/>
          <c:dLbls>
            <c:numFmt formatCode="0&quot;%&quot;" sourceLinked="0"/>
            <c:txPr>
              <a:bodyPr/>
              <a:lstStyle/>
              <a:p>
                <a:pPr>
                  <a:defRPr b="1" i="0" strike="noStrike" sz="1600" u="none">
                    <a:solidFill>
                      <a:srgbClr val="1C1A33"/>
                    </a:solidFill>
                    <a:latin typeface="+mn-lt"/>
                  </a:defRPr>
                </a:pPr>
              </a:p>
            </c:txPr>
            <c:showLegendKey val="0"/>
            <c:showVal val="1"/>
            <c:showCatName val="0"/>
            <c:showSerName val="0"/>
            <c:showPercent val="0"/>
            <c:showBubbleSize val="0"/>
            <c:showLeaderLines val="0"/>
          </c:dLbls>
          <c:cat>
            <c:multiLvlStrRef>
              <c:f>Sheet1!$A$2:$A$3</c:f>
              <c:multiLvlStrCache>
                <c:ptCount val="2"/>
                <c:lvl>
                  <c:pt idx="0">
                    <c:v>Niat (BI)</c:v>
                  </c:pt>
                  <c:pt idx="1">
                    <c:v>Penggunaan (UB)</c:v>
                  </c:pt>
                </c:lvl>
              </c:multiLvlStrCache>
            </c:multiLvlStrRef>
          </c:cat>
          <c:val>
            <c:numRef>
              <c:f>Sheet1!$C$2:$C$3</c:f>
              <c:numCache>
                <c:formatCode>General</c:formatCode>
                <c:ptCount val="2"/>
                <c:pt idx="0">
                  <c:v>74</c:v>
                </c:pt>
                <c:pt idx="1">
                  <c:v>52</c:v>
                </c:pt>
              </c:numCache>
            </c:numRef>
          </c:val>
        </c:ser>
        <c:dLbls>
          <c:numFmt formatCode="0&quot;%&quot;" sourceLinked="0"/>
          <c:txPr>
            <a:bodyPr/>
            <a:lstStyle/>
            <a:p>
              <a:pPr>
                <a:defRPr b="1" i="0" strike="noStrike" sz="1600" u="none">
                  <a:solidFill>
                    <a:srgbClr val="1C1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2E2A5A"/>
                </a:solidFill>
                <a:latin typeface="+mn-lt"/>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E2A5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 – OPENING.
Halo semuanya! Di video ini kita akan membahas dua teori penerimaan teknologi: UTAUT dan UTAUT2. Keduanya menjelaskan mengapa seseorang mau menerima, berniat menggunakan, lalu benar-benar menggunakan sebuah teknologi.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 (hook).
Coba ingat-ingat: pernah nggak kalian install sebuah aplikasi, lalu tidak pernah membukanya lagi? Atau sebaliknya, ada aplikasi yang setiap hari kalian buka tanpa berpikir panjang? Kenapa bisa begitu? Itulah yang dijelaskan oleh UTAUT dan UTAUT2.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 (lanjutan) – PETA MATERI.
Kita mulai dari pengantar, lalu masuk ke UTAUT: asal-usulnya, empat faktor utamanya, serta niat, perilaku, dan moderator. Setelah itu UTAUT2 yang menambahkan kesenangan, harga, dan kebiasaan. Terakhir kita bandingkan UTAUT, UTAUT2, dan TAM, lalu menutup dengan ringkasan.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2 – PENGANTAR.
Keberhasilan teknologi tidak hanya ditentukan oleh apakah sistemnya berfungsi. Teknologi juga harus diterima dan digunakan oleh manusia. Misalnya kampus membuat aplikasi pembayaran digital. Walaupun fiturnya lengkap, mahasiswa belum tentu mau memakainya. Mereka akan bertanya: apakah bermanfaat? mudah? didorong teman? fasilitasnya ada? menyenangkan? harganya sepadan? sudah jadi kebiasaan? Empat pertanyaan pertama (warna teal) dijawab oleh UTAUT, tiga terakhir (warna oranye) ditambahkan oleh UTAUT2.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3 – MASUK KE UTAUT.
Kita mulai dari teori pertama: UTAUT, singkatan dari Unified Theory of Acceptance and Use of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3 – PENGERTIAN UTAUT.
UTAUT adalah model yang menjelaskan faktor-faktor yang membuat seseorang berniat menggunakan teknologi dan akhirnya benar-benar menggunakannya. Model ini diperkenalkan oleh Venkatesh, Morris, Davis, dan Davis pada tahun 2003 di jurnal MIS Quarterly, lewat artikel 'User Acceptance of Information Technology: Toward a Unified View'. Mereka membandingkan delapan model penerimaan teknologi sebelumnya, lalu menguji model gabungan secara longitudinal di empat organisasi. Hasilnya, UTAUT mampu menjelaskan sekitar 70 persen variasi niat menggunakan, jauh lebih tinggi dari model-model pendahulunya yang hanya 17 sampai 53 persen.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3 (lanjutan) – LATAR BELAKANG.
Sebelum UTAUT, sudah ada banyak teori: Theory of Reasoned Action, Technology Acceptance Model, Motivational Model, Theory of Planned Behavior, gabungan TAM dan TPB, Model of PC Utilization, Innovation Diffusion Theory, dan Social Cognitive Theory. Masing-masing punya istilah sendiri untuk konsep yang sebenarnya mirip. Misalnya 'perceived usefulness' di TAM, 'extrinsic motivation' di MM, dan 'relative advantage' di IDT, semuanya bicara soal manfaat. UTAUT menyatukan konsep-konsep yang mirip itu menjadi empat konstruk inti dan empat moderator. Karena itulah disebut Unified, artinya disatukan.
Catatan perbaikan: draf awal hanya menyebut lima model; paper aslinya mengintegrasikan delapan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4 – MODEL UTAUT.
Ini struktur dasar UTAUT. Di kiri ada empat konstruk inti: Performance Expectancy, Effort Expectancy, Social Influence, dan Facilitating Conditions. Tiga yang pertama memengaruhi Behavioral Intention, yaitu niat menggunakan. Niat kemudian mendorong Use Behavior, yaitu penggunaan nyata. Facilitating Conditions berbeda: ia berpengaruh langsung ke Use Behavior, karena walaupun seseorang sudah berniat, ia tetap butuh perangkat, internet, dan dukungan untuk benar-benar memakai teknologi. Di atas ada empat moderator: gender, usia, pengalaman, dan kesukarelaan. Jadi alurnya: faktor, lalu niat, lalu penggunaan.
Catatan: dalam studi asli, pengaruh FC terhadap niat tidak signifikan setelah PE dan EE dimasukkan, sehingga FC hanya diarahkan ke Use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5 – PERFORMANCE EXPECTANCY.
Faktor pertama adalah Performance Expectancy atau harapan kinerja: sejauh mana seseorang yakin bahwa teknologi akan membantu meningkatkan kinerjanya. Pertanyaannya: apakah teknologi ini membuat saya lebih efektif? Contohnya mahasiswa memakai aplikasi AI karena mempercepat mencari informasi dan membantu memahami materi. Atau pengguna e-wallet berpikir: dengan aplikasi ini saya tidak perlu membawa uang tunai dan pembayaran jadi lebih cepat. Semakin besar manfaat yang dirasakan, semakin besar niat menggunakan.
(Konstruk ini berakar dari perceived usefulness di TAM, extrinsic motivation di MM, job-fit di MPCU, relative advantage di IDT, dan outcome expectations di SCT.)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5 – EFFORT EXPECTANCY.
Faktor kedua adalah Effort Expectancy atau harapan usaha: tingkat kemudahan dalam menggunakan teknologi. Pertanyaannya: apakah teknologi ini mudah dipakai? Kalau menunya jelas, tombolnya mudah dipahami, registrasinya sederhana, dan pengguna merasa 'sekali coba langsung mengerti', maka Effort Expectancy tinggi. Sebaliknya, aplikasi yang membingungkan dan terlalu banyak langkah membuat Effort Expectancy rendah.
(Berakar dari perceived ease of use di TAM, complexity di MPCU, dan ease of use di IDT.)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5 – SOCIAL INFLUENCE.
Faktor ketiga adalah Social Influence atau pengaruh sosial: sejauh mana orang lain memengaruhi keputusan kita, baik teman, keluarga, rekan kerja, atasan, maupun dosen. Contohnya seorang mahasiswa awalnya tidak memakai aplikasi pembayaran tertentu, tapi hampir semua temannya memakai dan bilang 'pakai aplikasi ini saja, lebih gampang'. Akhirnya ia ikut memakai. Di perusahaan, hal ini terjadi saat atasan meminta seluruh pegawai memakai sistem tertentu.
(Berakar dari subjective norm di TRA, TPB, dan TAM2, social factors di MPCU, dan image di IDT.)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5 – FACILITATING CONDITIONS.
Faktor keempat adalah Facilitating Conditions atau kondisi pendukung: sejauh mana pengguna merasa sumber daya dan dukungan tersedia. Misalnya punya smartphone, ada koneksi internet, ada panduan, ada customer service, dan sistemnya kompatibel dengan perangkat. Bayangkan sistem HRMS di perusahaan yang sebenarnya bagus, tapi komputernya lambat dan jaringan sering bermasalah. Pegawai mungkin ingin memakainya, tapi penggunaannya terganggu. Karena itu FC berhubungan langsung dengan penggunaan nyata.
(Berakar dari perceived behavioral control di TPB, facilitating conditions di MPCU, dan compatibility di IDT.)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6 – NIAT VS PERILAKU.
Behavioral Intention adalah niat. Contohnya: 'Besok saya mau mulai pakai mobile banking.' Itu belum berarti sudah dipakai. Use Behavior adalah penggunaan nyata, misalnya benar-benar membuka mobile banking setiap minggu untuk transfer dan membayar tagihan. Dalam penelitian, Use Behavior biasanya diukur dari frekuensi atau intensitas penggunaan. Karena niat tidak selalu berubah menjadi tindakan, UTAUT juga menghubungkan Facilitating Conditions langsung ke Use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7 – MODERATOR.
Yang membuat UTAUT lebih lengkap adalah moderator. Moderator bukan faktor yang langsung menyebabkan orang memakai teknologi, tetapi memengaruhi seberapa kuat hubungan antar-variabel. Contohnya pengalaman. Dua orang memakai sistem baru yang sama. Pengguna A sudah sering memakai sistem digital, jadi ia tidak terlalu memikirkan apakah sistemnya mudah atau tidak. Pengguna B baru pertama kali, jadi kemudahan sangat menentukan. Artinya, pengalaman memperlemah pengaruh Effort Expectancy terhadap niat.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7 (lanjutan) – PETA MODERATOR.
Tidak semua moderator berlaku di semua jalur. Berdasarkan temuan Venkatesh dan rekan-rekan tahun 2003: pengaruh Performance Expectancy lebih kuat pada pria dan usia muda. Effort Expectancy lebih kuat pada wanita, usia lebih tua, dan pengguna yang masih baru. Social Influence dimoderasi keempatnya, dan paling kuat pada wanita, usia lebih tua, pengguna baru, dan ketika penggunaan bersifat wajib. Facilitating Conditions terhadap penggunaan lebih kuat pada pekerja yang lebih tua dan berpengalaman. Hubungan niat ke penggunaan tidak dimoderasi.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8 – STUDI KASUS UTAUT.
Misalkan universitas meluncurkan aplikasi CampusPay. Mahasiswa merasa pembayaran jadi lebih cepat: itu Performance Expectancy. Aplikasinya gampang dipakai: Effort Expectancy. Teman-temannya juga memakai: Social Influence. Mereka punya smartphone dan internet: Facilitating Conditions. Dari situ terbentuk niat, 'Saya ingin menggunakan CampusPay', yaitu Behavioral Intention. Akhirnya mahasiswa benar-benar bertransaksi dengan CampusPay: Use Behavior. Inilah cara sederhana membaca model UTAUT.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9 – TRANSISI KE UTAUT2.
UTAUT awalnya diuji pada konteks organisasi: sistem informasi perusahaan, ERP, HRMS, atau sistem akademik. Di sana motif utamanya produktivitas kerja, penggunaan sering diwajibkan, dan biayanya ditanggung organisasi. Namun sekarang teknologi banyak dipakai konsumen: e-commerce, mobile banking, streaming, game, e-wallet, transportasi online, dan media sosial. Konsumen memakai teknologi juga karena senang, mereka membayar sendiri, dan lama-kelamaan pemakaian menjadi kebiasaan. Tiga hal ini belum ditangkap UTAUT. Dari kebutuhan inilah lahir UTAUT2.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10 – MASUK KE UTAUT2.
Sekarang kita masuk ke UTAUT2, perluasan UTAUT untuk konteks konsumen.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10 – PENGERTIAN UTAUT2.
Pada tahun 2012, Venkatesh, Thong, dan Xu mengembangkan UTAUT menjadi UTAUT2, khusus untuk konteks konsumen atau B2C. Penelitian aslinya, di jurnal MIS Quarterly, dilakukan pada 1.512 pengguna mobile internet di Hong Kong dalam dua tahap survei berjarak empat bulan. UTAUT2 tetap memakai empat konstruk UTAUT dan menambahkan tiga: Hedonic Motivation, Price Value, dan Habit. Hasilnya, kemampuan model menjelaskan niat naik dari 56 menjadi 74 persen, dan menjelaskan penggunaan naik dari 40 menjadi 52 persen.
Coba bayangkan Netflix: orang memakainya bukan karena meningkatkan produktivitas, tapi karena menyenangkan. Ia juga menimbang apakah harga langganannya sepadan, dan lama-lama menontonnya jadi kebiasaan. Faktor seperti inilah yang ditambahkan UTAUT2.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11 – HEDONIC MOTIVATION.
Faktor baru pertama adalah Hedonic Motivation atau motivasi hedonis: kesenangan atau kenikmatan yang dirasakan saat memakai teknologi. Pertanyaannya: apakah menggunakannya menyenangkan? Contoh paling mudah adalah game. Orang main game bukan karena produktif, tapi karena seru. Contoh lain TikTok: orang terus memakainya karena menghibur dan membuat waktu terasa cepat. Semakin besar rasa senang, semakin besar kemungkinan teknologi digunakan.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11 – PRICE VALUE.
Faktor baru kedua adalah Price Value atau nilai harga: perbandingan antara manfaat yang diperoleh dan biaya yang dikeluarkan. Pertanyaannya: apakah harganya sepadan? Misalnya aplikasi streaming mengenakan Rp60.000 per bulan. Kalau pengguna merasa mendapatkan banyak film, tanpa iklan, dan kualitas video bagus, maka harganya sepadan dan Price Value positif. Kalau terasa kemahalan, Price Value rendah. Faktor ini penting di UTAUT2 karena konsumen membayar dengan uangnya sendiri, berbeda dengan pegawai yang sistemnya dibayar perusahaan.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11 – HABIT.
Faktor baru ketiga adalah Habit atau kebiasaan: sejauh mana penggunaan teknologi sudah menjadi kebiasaan atau terjadi hampir otomatis. Contohnya bangun tidur langsung membuka WhatsApp, mau mencari lokasi langsung membuka Google Maps, mau membayar langsung membuka mobile banking. Pengguna tidak lagi menimbang panjang; perilakunya sudah otomatis. Habit penting karena penggunaan teknologi tidak selalu hasil keputusan rasional, kadang hanya karena 'saya memang sudah terbiasa'. Itulah sebabnya Habit berpengaruh ke niat dan juga langsung ke penggunaan.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12 – MODEL UTAUT2.
Ini model UTAUT2. Ada tujuh konstruk: empat dari UTAUT berwarna teal, tiga yang baru berwarna oranye. Ketujuhnya mengarah ke Behavioral Intention, termasuk Facilitating Conditions yang di UTAUT2 juga memengaruhi niat. Niat kemudian mengarah ke Use Behavior. Ada dua jalur langsung ke Use Behavior, dari Facilitating Conditions dan dari Habit. Moderatornya tinggal tiga: usia, gender, dan pengalaman. Voluntariness dihapus karena penggunaan oleh konsumen umumnya sudah sukarela.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12 (lanjutan) – MODERATOR UTAUT2.
Di UTAUT2, usia, gender, dan pengalaman memoderasi jalur-jalur baru. Facilitating Conditions terhadap niat paling kuat pada wanita yang lebih tua dan masih baru memakai teknologi. Hedonic Motivation paling kuat pada pria muda yang baru mulai memakai. Price Value lebih penting bagi wanita yang lebih tua. Habit paling kuat pada pria yang lebih tua dan sudah berpengalaman. Yang menarik, hubungan niat ke penggunaan justru melemah seiring pengalaman, karena perilaku makin digerakkan oleh kebiasaan, bukan lagi oleh niat yang dipikirkan secara sadar. Untuk PE, EE, dan SI, moderasinya mengikuti UTAUT tanpa voluntariness.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13 – STUDI KASUS UTAUT2.
Mengapa orang berlangganan Spotify Premium? Spotify memudahkan mencari dan mendengarkan musik (Performance Expectancy), mudah digunakan (Effort Expectancy), teman-teman juga memakainya (Social Influence), HP dan internet mendukung (Facilitating Conditions). Lalu tiga faktor UTAUT2: menggunakannya menyenangkan (Hedonic Motivation), harga Premium sebanding dengan fiturnya (Price Value), dan pengguna sudah terbiasa membukanya setiap hari (Habit). Hasilnya pengguna ingin terus berlangganan, itu Behavioral Intention, dan benar-benar memakainya secara rutin, itu Use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14 – PERBANDINGAN.
UTAUT dibuat tahun 2003 untuk konteks organisasi, UTAUT2 tahun 2012 untuk konteks konsumen. UTAUT punya empat konstruk; UTAUT2 mempertahankan keempatnya dan menambah tiga: Hedonic Motivation, Price Value, dan Habit. Moderator UTAUT ada empat, sedangkan UTAUT2 tinggal tiga karena voluntariness dihapus. Selain itu, di UTAUT2 Facilitating Conditions juga memengaruhi niat, dan Habit punya jalur langsung ke penggunaan.
Rumus cepatnya: UTAUT = PE + EE + SI + FC. UTAUT2 = PE + EE + SI + FC + HM + PV +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14 (lanjutan) – UTAUT VS TAM.
Kalau sebelumnya kalian sudah belajar TAM, konsepnya mirip. Perceived Usefulness di TAM setara dengan Performance Expectancy. Perceived Ease of Use setara dengan Effort Expectancy. Norma subjektif dari TAM2 diperluas menjadi Social Influence. UTAUT menambahkan Facilitating Conditions dan empat moderator, serta mengukur penggunaan nyata. Menariknya, variabel sikap atau attitude dari TAM tidak dipakai di UTAUT, karena pengaruhnya tidak signifikan setelah PE dan EE dimasukkan. Jadi UTAUT adalah perluasan yang lebih komprehensif dari TAM.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15 – CARA MENGINGAT.
Cara paling mudah mengingat UTAUT adalah empat pertanyaan: Berguna tidak? Mudah tidak? Didorong orang lain tidak? Fasilitasnya mendukung tidak? UTAUT2 mempertahankan empat pertanyaan itu, lalu menambahkan tiga: Menyenangkan tidak? Harganya sepadan tidak? Sudah jadi kebiasaan tidak? Kalau jawabannya mendukung, terbentuk niat, lalu penggunaan nyata.
UTAUT = manfaat + kemudahan + sosial + fasilitas. UTAUT2 = UTAUT + kesenangan + harga + kebiasaan.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16 – KESIMPULAN.
Jadi, UTAUT adalah model penerimaan teknologi dari Venkatesh dan rekan-rekan tahun 2003. Model ini menyatukan delapan teori menjadi empat faktor inti: Performance Expectancy, Effort Expectancy, Social Influence, dan Facilitating Conditions, yang membentuk niat dan penggunaan nyata. Tahun 2012, UTAUT dikembangkan menjadi UTAUT2 untuk konteks konsumen dengan menambahkan Hedonic Motivation, Price Value, dan Habit. Singkatnya: UTAUT menjawab mengapa seseorang mau menggunakan teknologi, dan UTAUT2 memperluasnya dengan mempertimbangkan kesenangan, biaya, dan kebiasaan konsumen.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SCENE 16 (penutup).
Sebagai penutup, coba pikirkan: aplikasi apa yang kalian buka hari ini hanya karena kebiasaan? Coba analisis dengan tujuh faktor UTAUT2, lalu tulis jawabannya di kolom komentar. Terima kasih sudah menonton, sampai jumpa di video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LAMPIRAN – PENERAPAN DALAM PENELITIAN (opsional untuk video).
Kalau UTAUT atau UTAUT2 dipakai dalam penelitian, setiap konstruk diukur dengan beberapa pernyataan kuesioner. Responden menilai dengan skala Likert, misalnya 1 sangat tidak setuju sampai 7 sangat setuju. Ini contoh satu butir per konstruk; dalam penelitian sebenarnya setiap konstruk biasanya punya tiga sampai empat butir. Use Behavior biasanya diukur dari frekuensi penggunaan.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Daftar pustaka utama yang digunakan dalam materi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583680"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828800"/>
            <a:ext cx="1069848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383280"/>
            <a:ext cx="6035040" cy="10058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ernyataa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10698480" cy="36576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731520" y="1645920"/>
            <a:ext cx="7315200" cy="23774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4206240"/>
            <a:ext cx="694944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embatas Bagia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63040"/>
            <a:ext cx="3657600" cy="1280160"/>
          </a:xfrm>
          <a:prstGeom prst="rect">
            <a:avLst/>
          </a:prstGeom>
          <a:noFill/>
          <a:ln/>
        </p:spPr>
        <p:txBody>
          <a:bodyPr wrap="square" rtlCol="0"/>
          <a:lstStyle>
            <a:lvl1pPr indent="0" marL="0">
              <a:buNone/>
              <a:defRPr lang="en-US" sz="8000" b="1" dirty="0">
                <a:solidFill>
                  <a:schemeClr val="accent1"/>
                </a:solidFill>
                <a:latin typeface="Cambria" pitchFamily="34" charset="0"/>
                <a:ea typeface="Cambria" pitchFamily="34" charset="-122"/>
                <a:cs typeface="Cambria" pitchFamily="34" charset="-120"/>
              </a:defRPr>
            </a:lvl1pPr>
          </a:lstStyle>
          <a:p>
            <a:pPr indent="0" marL="0">
              <a:buNone/>
            </a:pPr>
            <a:endParaRPr lang="en-US" sz="8000" dirty="0"/>
          </a:p>
        </p:txBody>
      </p:sp>
      <p:sp>
        <p:nvSpPr>
          <p:cNvPr id="3" name="Text 0"/>
          <p:cNvSpPr/>
          <p:nvPr>
            <p:ph idx="101" type="title" hasCustomPrompt="1"/>
          </p:nvPr>
        </p:nvSpPr>
        <p:spPr>
          <a:xfrm>
            <a:off x="731520" y="2743200"/>
            <a:ext cx="77724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731520" y="3886200"/>
            <a:ext cx="777240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onten">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UTAUT &amp; UTAUT2 · Teori Penerimaan Teknologi</a:t>
            </a:r>
            <a:endParaRPr lang="en-US" sz="1000" dirty="0"/>
          </a:p>
        </p:txBody>
      </p:sp>
      <p:sp>
        <p:nvSpPr>
          <p:cNvPr id="3" name="Text 1"/>
          <p:cNvSpPr/>
          <p:nvPr>
            <p:ph idx="101" type="body" hasCustomPrompt="1"/>
          </p:nvPr>
        </p:nvSpPr>
        <p:spPr>
          <a:xfrm>
            <a:off x="548640" y="347472"/>
            <a:ext cx="1106424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4" name="Text 1"/>
          <p:cNvSpPr/>
          <p:nvPr>
            <p:ph idx="102" type="title" hasCustomPrompt="1"/>
          </p:nvPr>
        </p:nvSpPr>
        <p:spPr>
          <a:xfrm>
            <a:off x="548640" y="640080"/>
            <a:ext cx="1106424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Konstruk">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120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UTAUT &amp; UTAUT2 · Teori Penerimaan Teknologi</a:t>
            </a:r>
            <a:endParaRPr lang="en-US" sz="1000" dirty="0"/>
          </a:p>
        </p:txBody>
      </p:sp>
      <p:sp>
        <p:nvSpPr>
          <p:cNvPr id="3" name="Text 1"/>
          <p:cNvSpPr/>
          <p:nvPr>
            <p:ph idx="101" type="body" hasCustomPrompt="1"/>
          </p:nvPr>
        </p:nvSpPr>
        <p:spPr>
          <a:xfrm>
            <a:off x="5120640" y="685800"/>
            <a:ext cx="6492240" cy="292608"/>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4" name="Text 1"/>
          <p:cNvSpPr/>
          <p:nvPr>
            <p:ph idx="102" type="title" hasCustomPrompt="1"/>
          </p:nvPr>
        </p:nvSpPr>
        <p:spPr>
          <a:xfrm>
            <a:off x="5120640" y="1005840"/>
            <a:ext cx="64922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5.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5.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6.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6.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6.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5.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5.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5.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5.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6.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6.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6.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5.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5.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slideLayout" Target="../slideLayouts/slideLayout5.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5.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5.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583680" cy="365760"/>
          </a:xfrm>
          <a:prstGeom prst="rect">
            <a:avLst/>
          </a:prstGeom>
          <a:noFill/>
          <a:ln/>
        </p:spPr>
        <p:txBody>
          <a:bodyPr wrap="square" lIns="0" tIns="0" rIns="0" bIns="0" rtlCol="0"/>
          <a:lstStyle/>
          <a:p>
            <a:pPr indent="0" marL="0">
              <a:buNone/>
            </a:pPr>
            <a:r>
              <a:rPr lang="en-US" sz="1400" b="1" spc="200" kern="0" dirty="0">
                <a:solidFill>
                  <a:schemeClr val="accent1"/>
                </a:solidFill>
              </a:rPr>
              <a:t>MATERI VIDEO PEMBELAJARAN</a:t>
            </a:r>
            <a:endParaRPr lang="en-US" sz="1400" dirty="0"/>
          </a:p>
        </p:txBody>
      </p:sp>
      <p:sp>
        <p:nvSpPr>
          <p:cNvPr id="3" name="Text 0"/>
          <p:cNvSpPr/>
          <p:nvPr>
            <p:ph idx="101" type="title" hasCustomPrompt="1"/>
          </p:nvPr>
        </p:nvSpPr>
        <p:spPr>
          <a:xfrm>
            <a:off x="731520" y="1828800"/>
            <a:ext cx="10698480" cy="1463040"/>
          </a:xfrm>
          <a:prstGeom prst="rect">
            <a:avLst/>
          </a:prstGeom>
          <a:noFill/>
          <a:ln/>
        </p:spPr>
        <p:txBody>
          <a:bodyPr wrap="square" lIns="0" tIns="0" rIns="0" bIns="0" rtlCol="0" anchor="ctr"/>
          <a:lstStyle/>
          <a:p>
            <a:pPr algn="l" indent="0" marL="0">
              <a:buNone/>
            </a:pPr>
            <a:r>
              <a:rPr lang="en-US" sz="6000" b="1" dirty="0">
                <a:solidFill>
                  <a:schemeClr val="bg1"/>
                </a:solidFill>
              </a:rPr>
              <a:t>UTAUT &amp; UTAUT2</a:t>
            </a:r>
            <a:endParaRPr lang="en-US" sz="6000" dirty="0"/>
          </a:p>
        </p:txBody>
      </p:sp>
      <p:sp>
        <p:nvSpPr>
          <p:cNvPr id="4" name="Text 0"/>
          <p:cNvSpPr/>
          <p:nvPr>
            <p:ph idx="102" type="body" hasCustomPrompt="1"/>
          </p:nvPr>
        </p:nvSpPr>
        <p:spPr>
          <a:xfrm>
            <a:off x="731520" y="3383280"/>
            <a:ext cx="6035040" cy="1005840"/>
          </a:xfrm>
          <a:prstGeom prst="rect">
            <a:avLst/>
          </a:prstGeom>
          <a:noFill/>
          <a:ln/>
        </p:spPr>
        <p:txBody>
          <a:bodyPr wrap="square" lIns="0" tIns="0" rIns="0" bIns="0" rtlCol="0" anchor="t"/>
          <a:lstStyle/>
          <a:p>
            <a:pPr indent="0" marL="0">
              <a:buNone/>
            </a:pPr>
            <a:r>
              <a:rPr lang="en-US" sz="2000" dirty="0">
                <a:solidFill>
                  <a:schemeClr val="bg2"/>
                </a:solidFill>
              </a:rPr>
              <a:t>Mengapa seseorang mau menerima, berniat, lalu benar-benar menggunakan sebuah teknologi?</a:t>
            </a:r>
            <a:endParaRPr lang="en-US" sz="2000" dirty="0"/>
          </a:p>
        </p:txBody>
      </p:sp>
      <p:sp>
        <p:nvSpPr>
          <p:cNvPr id="5" name="Text 3"/>
          <p:cNvSpPr txBox="1"/>
          <p:nvPr/>
        </p:nvSpPr>
        <p:spPr>
          <a:xfrm>
            <a:off x="731520" y="5760720"/>
            <a:ext cx="6858000" cy="320040"/>
          </a:xfrm>
          <a:prstGeom prst="rect">
            <a:avLst/>
          </a:prstGeom>
          <a:noFill/>
          <a:ln/>
        </p:spPr>
        <p:txBody>
          <a:bodyPr wrap="square" lIns="0" tIns="0" rIns="0" bIns="0" rtlCol="0" anchor="t"/>
          <a:lstStyle/>
          <a:p>
            <a:pPr indent="0" marL="0">
              <a:buNone/>
            </a:pPr>
            <a:r>
              <a:rPr lang="en-US" sz="1200" dirty="0">
                <a:solidFill>
                  <a:schemeClr val="accent6"/>
                </a:solidFill>
              </a:rPr>
              <a:t>Venkatesh, Morris, Davis &amp; Davis (2003)  ·  Venkatesh, Thong &amp; Xu (2012)</a:t>
            </a:r>
            <a:endParaRPr lang="en-US" sz="1200" dirty="0"/>
          </a:p>
        </p:txBody>
      </p:sp>
      <p:sp>
        <p:nvSpPr>
          <p:cNvPr id="6" name="Konstruk pe lingkaran"/>
          <p:cNvSpPr/>
          <p:nvPr/>
        </p:nvSpPr>
        <p:spPr>
          <a:xfrm>
            <a:off x="7543800" y="3977640"/>
            <a:ext cx="868680" cy="868680"/>
          </a:xfrm>
          <a:prstGeom prst="ellipse">
            <a:avLst/>
          </a:prstGeom>
          <a:solidFill>
            <a:schemeClr val="accent1"/>
          </a:solidFill>
          <a:ln/>
        </p:spPr>
      </p:sp>
      <p:pic>
        <p:nvPicPr>
          <p:cNvPr id="7" name="Konstruk pe ikon" descr="preencoded.png">    </p:cNvPr>
          <p:cNvPicPr>
            <a:picLocks noChangeAspect="1"/>
          </p:cNvPicPr>
          <p:nvPr/>
        </p:nvPicPr>
        <p:blipFill>
          <a:blip r:embed="rId1"/>
          <a:stretch>
            <a:fillRect/>
          </a:stretch>
        </p:blipFill>
        <p:spPr>
          <a:xfrm>
            <a:off x="7752283" y="4186123"/>
            <a:ext cx="451714" cy="451714"/>
          </a:xfrm>
          <a:prstGeom prst="rect">
            <a:avLst/>
          </a:prstGeom>
        </p:spPr>
      </p:pic>
      <p:sp>
        <p:nvSpPr>
          <p:cNvPr id="8" name="Konstruk ee lingkaran"/>
          <p:cNvSpPr/>
          <p:nvPr/>
        </p:nvSpPr>
        <p:spPr>
          <a:xfrm>
            <a:off x="8595360" y="3977640"/>
            <a:ext cx="868680" cy="868680"/>
          </a:xfrm>
          <a:prstGeom prst="ellipse">
            <a:avLst/>
          </a:prstGeom>
          <a:solidFill>
            <a:schemeClr val="accent1"/>
          </a:solidFill>
          <a:ln/>
        </p:spPr>
      </p:sp>
      <p:pic>
        <p:nvPicPr>
          <p:cNvPr id="9" name="Konstruk ee ikon" descr="preencoded.png">    </p:cNvPr>
          <p:cNvPicPr>
            <a:picLocks noChangeAspect="1"/>
          </p:cNvPicPr>
          <p:nvPr/>
        </p:nvPicPr>
        <p:blipFill>
          <a:blip r:embed="rId2"/>
          <a:stretch>
            <a:fillRect/>
          </a:stretch>
        </p:blipFill>
        <p:spPr>
          <a:xfrm>
            <a:off x="8803843" y="4186123"/>
            <a:ext cx="451714" cy="451714"/>
          </a:xfrm>
          <a:prstGeom prst="rect">
            <a:avLst/>
          </a:prstGeom>
        </p:spPr>
      </p:pic>
      <p:sp>
        <p:nvSpPr>
          <p:cNvPr id="10" name="Konstruk si lingkaran"/>
          <p:cNvSpPr/>
          <p:nvPr/>
        </p:nvSpPr>
        <p:spPr>
          <a:xfrm>
            <a:off x="9646920" y="3977640"/>
            <a:ext cx="868680" cy="868680"/>
          </a:xfrm>
          <a:prstGeom prst="ellipse">
            <a:avLst/>
          </a:prstGeom>
          <a:solidFill>
            <a:schemeClr val="accent1"/>
          </a:solidFill>
          <a:ln/>
        </p:spPr>
      </p:sp>
      <p:pic>
        <p:nvPicPr>
          <p:cNvPr id="11" name="Konstruk si ikon" descr="preencoded.png">    </p:cNvPr>
          <p:cNvPicPr>
            <a:picLocks noChangeAspect="1"/>
          </p:cNvPicPr>
          <p:nvPr/>
        </p:nvPicPr>
        <p:blipFill>
          <a:blip r:embed="rId3"/>
          <a:stretch>
            <a:fillRect/>
          </a:stretch>
        </p:blipFill>
        <p:spPr>
          <a:xfrm>
            <a:off x="9855403" y="4186123"/>
            <a:ext cx="451714" cy="451714"/>
          </a:xfrm>
          <a:prstGeom prst="rect">
            <a:avLst/>
          </a:prstGeom>
        </p:spPr>
      </p:pic>
      <p:sp>
        <p:nvSpPr>
          <p:cNvPr id="12" name="Konstruk fc lingkaran"/>
          <p:cNvSpPr/>
          <p:nvPr/>
        </p:nvSpPr>
        <p:spPr>
          <a:xfrm>
            <a:off x="10698480" y="3977640"/>
            <a:ext cx="868680" cy="868680"/>
          </a:xfrm>
          <a:prstGeom prst="ellipse">
            <a:avLst/>
          </a:prstGeom>
          <a:solidFill>
            <a:schemeClr val="accent1"/>
          </a:solidFill>
          <a:ln/>
        </p:spPr>
      </p:sp>
      <p:pic>
        <p:nvPicPr>
          <p:cNvPr id="13" name="Konstruk fc ikon" descr="preencoded.png">    </p:cNvPr>
          <p:cNvPicPr>
            <a:picLocks noChangeAspect="1"/>
          </p:cNvPicPr>
          <p:nvPr/>
        </p:nvPicPr>
        <p:blipFill>
          <a:blip r:embed="rId4"/>
          <a:stretch>
            <a:fillRect/>
          </a:stretch>
        </p:blipFill>
        <p:spPr>
          <a:xfrm>
            <a:off x="10906963" y="4186123"/>
            <a:ext cx="451714" cy="451714"/>
          </a:xfrm>
          <a:prstGeom prst="rect">
            <a:avLst/>
          </a:prstGeom>
        </p:spPr>
      </p:pic>
      <p:sp>
        <p:nvSpPr>
          <p:cNvPr id="14" name="Konstruk hm lingkaran"/>
          <p:cNvSpPr/>
          <p:nvPr/>
        </p:nvSpPr>
        <p:spPr>
          <a:xfrm>
            <a:off x="8069580" y="5029200"/>
            <a:ext cx="868680" cy="868680"/>
          </a:xfrm>
          <a:prstGeom prst="ellipse">
            <a:avLst/>
          </a:prstGeom>
          <a:solidFill>
            <a:schemeClr val="accent2"/>
          </a:solidFill>
          <a:ln/>
        </p:spPr>
      </p:sp>
      <p:pic>
        <p:nvPicPr>
          <p:cNvPr id="15" name="Konstruk hm ikon" descr="preencoded.png">    </p:cNvPr>
          <p:cNvPicPr>
            <a:picLocks noChangeAspect="1"/>
          </p:cNvPicPr>
          <p:nvPr/>
        </p:nvPicPr>
        <p:blipFill>
          <a:blip r:embed="rId5"/>
          <a:stretch>
            <a:fillRect/>
          </a:stretch>
        </p:blipFill>
        <p:spPr>
          <a:xfrm>
            <a:off x="8278063" y="5237683"/>
            <a:ext cx="451714" cy="451714"/>
          </a:xfrm>
          <a:prstGeom prst="rect">
            <a:avLst/>
          </a:prstGeom>
        </p:spPr>
      </p:pic>
      <p:sp>
        <p:nvSpPr>
          <p:cNvPr id="16" name="Konstruk pv lingkaran"/>
          <p:cNvSpPr/>
          <p:nvPr/>
        </p:nvSpPr>
        <p:spPr>
          <a:xfrm>
            <a:off x="9121140" y="5029200"/>
            <a:ext cx="868680" cy="868680"/>
          </a:xfrm>
          <a:prstGeom prst="ellipse">
            <a:avLst/>
          </a:prstGeom>
          <a:solidFill>
            <a:schemeClr val="accent2"/>
          </a:solidFill>
          <a:ln/>
        </p:spPr>
      </p:sp>
      <p:pic>
        <p:nvPicPr>
          <p:cNvPr id="17" name="Konstruk pv ikon" descr="preencoded.png">    </p:cNvPr>
          <p:cNvPicPr>
            <a:picLocks noChangeAspect="1"/>
          </p:cNvPicPr>
          <p:nvPr/>
        </p:nvPicPr>
        <p:blipFill>
          <a:blip r:embed="rId6"/>
          <a:stretch>
            <a:fillRect/>
          </a:stretch>
        </p:blipFill>
        <p:spPr>
          <a:xfrm>
            <a:off x="9329623" y="5237683"/>
            <a:ext cx="451714" cy="451714"/>
          </a:xfrm>
          <a:prstGeom prst="rect">
            <a:avLst/>
          </a:prstGeom>
        </p:spPr>
      </p:pic>
      <p:sp>
        <p:nvSpPr>
          <p:cNvPr id="18" name="Konstruk ht lingkaran"/>
          <p:cNvSpPr/>
          <p:nvPr/>
        </p:nvSpPr>
        <p:spPr>
          <a:xfrm>
            <a:off x="10172700" y="5029200"/>
            <a:ext cx="868680" cy="868680"/>
          </a:xfrm>
          <a:prstGeom prst="ellipse">
            <a:avLst/>
          </a:prstGeom>
          <a:solidFill>
            <a:schemeClr val="accent2"/>
          </a:solidFill>
          <a:ln/>
        </p:spPr>
      </p:sp>
      <p:pic>
        <p:nvPicPr>
          <p:cNvPr id="19" name="Konstruk ht ikon" descr="preencoded.png">    </p:cNvPr>
          <p:cNvPicPr>
            <a:picLocks noChangeAspect="1"/>
          </p:cNvPicPr>
          <p:nvPr/>
        </p:nvPicPr>
        <p:blipFill>
          <a:blip r:embed="rId7"/>
          <a:stretch>
            <a:fillRect/>
          </a:stretch>
        </p:blipFill>
        <p:spPr>
          <a:xfrm>
            <a:off x="10381183" y="5237683"/>
            <a:ext cx="451714" cy="451714"/>
          </a:xfrm>
          <a:prstGeom prst="rect">
            <a:avLst/>
          </a:prstGeom>
        </p:spPr>
      </p:pic>
      <p:sp>
        <p:nvSpPr>
          <p:cNvPr id="20" name="Text 11"/>
          <p:cNvSpPr txBox="1"/>
          <p:nvPr/>
        </p:nvSpPr>
        <p:spPr>
          <a:xfrm>
            <a:off x="7543800" y="3566160"/>
            <a:ext cx="4023360" cy="274320"/>
          </a:xfrm>
          <a:prstGeom prst="rect">
            <a:avLst/>
          </a:prstGeom>
          <a:noFill/>
          <a:ln/>
        </p:spPr>
        <p:txBody>
          <a:bodyPr wrap="square" lIns="0" tIns="0" rIns="0" bIns="0" rtlCol="0" anchor="t"/>
          <a:lstStyle/>
          <a:p>
            <a:pPr indent="0" marL="0">
              <a:buNone/>
            </a:pPr>
            <a:r>
              <a:rPr lang="en-US" sz="1200" b="1" dirty="0">
                <a:solidFill>
                  <a:schemeClr val="bg2"/>
                </a:solidFill>
              </a:rPr>
              <a:t>4 konstruk UTAUT  ·  +3 konstruk UTAUT2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10698480" cy="365760"/>
          </a:xfrm>
          <a:prstGeom prst="rect">
            <a:avLst/>
          </a:prstGeom>
          <a:noFill/>
          <a:ln/>
        </p:spPr>
        <p:txBody>
          <a:bodyPr wrap="square" lIns="0" tIns="0" rIns="0" bIns="0" rtlCol="0"/>
          <a:lstStyle/>
          <a:p>
            <a:pPr indent="0" marL="0">
              <a:buNone/>
            </a:pPr>
            <a:r>
              <a:rPr lang="en-US" sz="1400" b="1" spc="200" kern="0" dirty="0">
                <a:solidFill>
                  <a:schemeClr val="accent2"/>
                </a:solidFill>
              </a:rPr>
              <a:t>COBA INGAT-INGAT</a:t>
            </a:r>
            <a:endParaRPr lang="en-US" sz="1400" dirty="0"/>
          </a:p>
        </p:txBody>
      </p:sp>
      <p:sp>
        <p:nvSpPr>
          <p:cNvPr id="3" name="Text 0"/>
          <p:cNvSpPr/>
          <p:nvPr>
            <p:ph idx="101" type="title" hasCustomPrompt="1"/>
          </p:nvPr>
        </p:nvSpPr>
        <p:spPr>
          <a:xfrm>
            <a:off x="731520" y="1645920"/>
            <a:ext cx="7315200" cy="2377440"/>
          </a:xfrm>
          <a:prstGeom prst="rect">
            <a:avLst/>
          </a:prstGeom>
          <a:noFill/>
          <a:ln/>
        </p:spPr>
        <p:txBody>
          <a:bodyPr wrap="square" lIns="0" tIns="0" rIns="0" bIns="0" rtlCol="0" anchor="t"/>
          <a:lstStyle/>
          <a:p>
            <a:pPr algn="l" indent="0" marL="0">
              <a:buNone/>
            </a:pPr>
            <a:r>
              <a:rPr lang="en-US" sz="4400" b="1" dirty="0">
                <a:solidFill>
                  <a:schemeClr val="bg1"/>
                </a:solidFill>
              </a:rPr>
              <a:t>Pernah install aplikasi, lalu tidak pernah membukanya lagi?</a:t>
            </a:r>
            <a:endParaRPr lang="en-US" sz="4400" dirty="0"/>
          </a:p>
        </p:txBody>
      </p:sp>
      <p:sp>
        <p:nvSpPr>
          <p:cNvPr id="4" name="Text 0"/>
          <p:cNvSpPr/>
          <p:nvPr>
            <p:ph idx="102" type="body" hasCustomPrompt="1"/>
          </p:nvPr>
        </p:nvSpPr>
        <p:spPr>
          <a:xfrm>
            <a:off x="731520" y="4206240"/>
            <a:ext cx="6949440" cy="1097280"/>
          </a:xfrm>
          <a:prstGeom prst="rect">
            <a:avLst/>
          </a:prstGeom>
          <a:noFill/>
          <a:ln/>
        </p:spPr>
        <p:txBody>
          <a:bodyPr wrap="square" lIns="0" tIns="0" rIns="0" bIns="0" rtlCol="0" anchor="t"/>
          <a:lstStyle/>
          <a:p>
            <a:pPr indent="0" marL="0">
              <a:buNone/>
            </a:pPr>
            <a:r>
              <a:rPr lang="en-US" sz="2200" dirty="0">
                <a:solidFill>
                  <a:schemeClr val="bg2"/>
                </a:solidFill>
              </a:rPr>
              <a:t>Atau sebaliknya: ada aplikasi yang kamu buka setiap hari tanpa berpikir panjang.</a:t>
            </a:r>
            <a:endParaRPr lang="en-US" sz="2200" dirty="0"/>
          </a:p>
        </p:txBody>
      </p:sp>
      <p:sp>
        <p:nvSpPr>
          <p:cNvPr id="5" name="Tanda tanya lingkaran"/>
          <p:cNvSpPr/>
          <p:nvPr/>
        </p:nvSpPr>
        <p:spPr>
          <a:xfrm>
            <a:off x="8595360" y="1737360"/>
            <a:ext cx="2560320" cy="2560320"/>
          </a:xfrm>
          <a:prstGeom prst="ellipse">
            <a:avLst/>
          </a:prstGeom>
          <a:solidFill>
            <a:schemeClr val="accent2"/>
          </a:solidFill>
          <a:ln/>
        </p:spPr>
      </p:sp>
      <p:pic>
        <p:nvPicPr>
          <p:cNvPr id="6" name="Tanda tanya ikon" descr="preencoded.png">    </p:cNvPr>
          <p:cNvPicPr>
            <a:picLocks noChangeAspect="1"/>
          </p:cNvPicPr>
          <p:nvPr/>
        </p:nvPicPr>
        <p:blipFill>
          <a:blip r:embed="rId1"/>
          <a:stretch>
            <a:fillRect/>
          </a:stretch>
        </p:blipFill>
        <p:spPr>
          <a:xfrm>
            <a:off x="9209837" y="2351837"/>
            <a:ext cx="1331366" cy="1331366"/>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ALUR MATERI</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Apa yang akan kita pelajari</a:t>
            </a:r>
            <a:endParaRPr lang="en-US" sz="3400" dirty="0"/>
          </a:p>
        </p:txBody>
      </p:sp>
      <p:sp>
        <p:nvSpPr>
          <p:cNvPr id="4" name="Langkah 01"/>
          <p:cNvSpPr/>
          <p:nvPr/>
        </p:nvSpPr>
        <p:spPr>
          <a:xfrm>
            <a:off x="548640" y="1600200"/>
            <a:ext cx="3520440" cy="2148840"/>
          </a:xfrm>
          <a:prstGeom prst="roundRect">
            <a:avLst>
              <a:gd name="adj" fmla="val 5106"/>
            </a:avLst>
          </a:prstGeom>
          <a:solidFill>
            <a:schemeClr val="bg2"/>
          </a:solidFill>
          <a:ln/>
        </p:spPr>
      </p:sp>
      <p:sp>
        <p:nvSpPr>
          <p:cNvPr id="5" name="Text 3"/>
          <p:cNvSpPr txBox="1"/>
          <p:nvPr/>
        </p:nvSpPr>
        <p:spPr>
          <a:xfrm>
            <a:off x="868680" y="1874520"/>
            <a:ext cx="13716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01</a:t>
            </a:r>
            <a:endParaRPr lang="en-US" sz="3600" dirty="0"/>
          </a:p>
        </p:txBody>
      </p:sp>
      <p:sp>
        <p:nvSpPr>
          <p:cNvPr id="6" name="Text 4"/>
          <p:cNvSpPr txBox="1"/>
          <p:nvPr/>
        </p:nvSpPr>
        <p:spPr>
          <a:xfrm>
            <a:off x="868680" y="2560320"/>
            <a:ext cx="2880360" cy="411480"/>
          </a:xfrm>
          <a:prstGeom prst="rect">
            <a:avLst/>
          </a:prstGeom>
          <a:noFill/>
          <a:ln/>
        </p:spPr>
        <p:txBody>
          <a:bodyPr wrap="square" lIns="0" tIns="0" rIns="0" bIns="0" rtlCol="0" anchor="t"/>
          <a:lstStyle/>
          <a:p>
            <a:pPr indent="0" marL="0">
              <a:buNone/>
            </a:pPr>
            <a:r>
              <a:rPr lang="en-US" sz="2200" b="1" dirty="0">
                <a:solidFill>
                  <a:schemeClr val="tx1"/>
                </a:solidFill>
              </a:rPr>
              <a:t>Pengantar</a:t>
            </a:r>
            <a:endParaRPr lang="en-US" sz="2200" dirty="0"/>
          </a:p>
        </p:txBody>
      </p:sp>
      <p:sp>
        <p:nvSpPr>
          <p:cNvPr id="7" name="Text 5"/>
          <p:cNvSpPr txBox="1"/>
          <p:nvPr/>
        </p:nvSpPr>
        <p:spPr>
          <a:xfrm>
            <a:off x="868680" y="3017520"/>
            <a:ext cx="2880360" cy="548640"/>
          </a:xfrm>
          <a:prstGeom prst="rect">
            <a:avLst/>
          </a:prstGeom>
          <a:noFill/>
          <a:ln/>
        </p:spPr>
        <p:txBody>
          <a:bodyPr wrap="square" lIns="0" tIns="0" rIns="0" bIns="0" rtlCol="0" anchor="t"/>
          <a:lstStyle/>
          <a:p>
            <a:pPr indent="0" marL="0">
              <a:buNone/>
            </a:pPr>
            <a:r>
              <a:rPr lang="en-US" sz="1600" dirty="0">
                <a:solidFill>
                  <a:schemeClr val="tx2"/>
                </a:solidFill>
              </a:rPr>
              <a:t>Teknologi bagus belum tentu dipakai</a:t>
            </a:r>
            <a:endParaRPr lang="en-US" sz="1600" dirty="0"/>
          </a:p>
        </p:txBody>
      </p:sp>
      <p:sp>
        <p:nvSpPr>
          <p:cNvPr id="8" name="Langkah 02"/>
          <p:cNvSpPr/>
          <p:nvPr/>
        </p:nvSpPr>
        <p:spPr>
          <a:xfrm>
            <a:off x="4320540" y="1600200"/>
            <a:ext cx="3520440" cy="2148840"/>
          </a:xfrm>
          <a:prstGeom prst="roundRect">
            <a:avLst>
              <a:gd name="adj" fmla="val 5106"/>
            </a:avLst>
          </a:prstGeom>
          <a:solidFill>
            <a:schemeClr val="bg2"/>
          </a:solidFill>
          <a:ln/>
        </p:spPr>
      </p:sp>
      <p:sp>
        <p:nvSpPr>
          <p:cNvPr id="9" name="Text 7"/>
          <p:cNvSpPr txBox="1"/>
          <p:nvPr/>
        </p:nvSpPr>
        <p:spPr>
          <a:xfrm>
            <a:off x="4640580" y="1874520"/>
            <a:ext cx="13716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02</a:t>
            </a:r>
            <a:endParaRPr lang="en-US" sz="3600" dirty="0"/>
          </a:p>
        </p:txBody>
      </p:sp>
      <p:sp>
        <p:nvSpPr>
          <p:cNvPr id="10" name="Text 8"/>
          <p:cNvSpPr txBox="1"/>
          <p:nvPr/>
        </p:nvSpPr>
        <p:spPr>
          <a:xfrm>
            <a:off x="4640580" y="2560320"/>
            <a:ext cx="2880360" cy="411480"/>
          </a:xfrm>
          <a:prstGeom prst="rect">
            <a:avLst/>
          </a:prstGeom>
          <a:noFill/>
          <a:ln/>
        </p:spPr>
        <p:txBody>
          <a:bodyPr wrap="square" lIns="0" tIns="0" rIns="0" bIns="0" rtlCol="0" anchor="t"/>
          <a:lstStyle/>
          <a:p>
            <a:pPr indent="0" marL="0">
              <a:buNone/>
            </a:pPr>
            <a:r>
              <a:rPr lang="en-US" sz="2200" b="1" dirty="0">
                <a:solidFill>
                  <a:schemeClr val="tx1"/>
                </a:solidFill>
              </a:rPr>
              <a:t>UTAUT</a:t>
            </a:r>
            <a:endParaRPr lang="en-US" sz="2200" dirty="0"/>
          </a:p>
        </p:txBody>
      </p:sp>
      <p:sp>
        <p:nvSpPr>
          <p:cNvPr id="11" name="Text 9"/>
          <p:cNvSpPr txBox="1"/>
          <p:nvPr/>
        </p:nvSpPr>
        <p:spPr>
          <a:xfrm>
            <a:off x="4640580" y="3017520"/>
            <a:ext cx="2880360" cy="548640"/>
          </a:xfrm>
          <a:prstGeom prst="rect">
            <a:avLst/>
          </a:prstGeom>
          <a:noFill/>
          <a:ln/>
        </p:spPr>
        <p:txBody>
          <a:bodyPr wrap="square" lIns="0" tIns="0" rIns="0" bIns="0" rtlCol="0" anchor="t"/>
          <a:lstStyle/>
          <a:p>
            <a:pPr indent="0" marL="0">
              <a:buNone/>
            </a:pPr>
            <a:r>
              <a:rPr lang="en-US" sz="1600" dirty="0">
                <a:solidFill>
                  <a:schemeClr val="tx2"/>
                </a:solidFill>
              </a:rPr>
              <a:t>Asal-usul dan model dasarnya</a:t>
            </a:r>
            <a:endParaRPr lang="en-US" sz="1600" dirty="0"/>
          </a:p>
        </p:txBody>
      </p:sp>
      <p:sp>
        <p:nvSpPr>
          <p:cNvPr id="12" name="Langkah 03"/>
          <p:cNvSpPr/>
          <p:nvPr/>
        </p:nvSpPr>
        <p:spPr>
          <a:xfrm>
            <a:off x="8092440" y="1600200"/>
            <a:ext cx="3520440" cy="2148840"/>
          </a:xfrm>
          <a:prstGeom prst="roundRect">
            <a:avLst>
              <a:gd name="adj" fmla="val 5106"/>
            </a:avLst>
          </a:prstGeom>
          <a:solidFill>
            <a:schemeClr val="bg2"/>
          </a:solidFill>
          <a:ln/>
        </p:spPr>
      </p:sp>
      <p:sp>
        <p:nvSpPr>
          <p:cNvPr id="13" name="Text 11"/>
          <p:cNvSpPr txBox="1"/>
          <p:nvPr/>
        </p:nvSpPr>
        <p:spPr>
          <a:xfrm>
            <a:off x="8412480" y="1874520"/>
            <a:ext cx="13716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03</a:t>
            </a:r>
            <a:endParaRPr lang="en-US" sz="3600" dirty="0"/>
          </a:p>
        </p:txBody>
      </p:sp>
      <p:sp>
        <p:nvSpPr>
          <p:cNvPr id="14" name="Text 12"/>
          <p:cNvSpPr txBox="1"/>
          <p:nvPr/>
        </p:nvSpPr>
        <p:spPr>
          <a:xfrm>
            <a:off x="8412480" y="2560320"/>
            <a:ext cx="2880360" cy="411480"/>
          </a:xfrm>
          <a:prstGeom prst="rect">
            <a:avLst/>
          </a:prstGeom>
          <a:noFill/>
          <a:ln/>
        </p:spPr>
        <p:txBody>
          <a:bodyPr wrap="square" lIns="0" tIns="0" rIns="0" bIns="0" rtlCol="0" anchor="t"/>
          <a:lstStyle/>
          <a:p>
            <a:pPr indent="0" marL="0">
              <a:buNone/>
            </a:pPr>
            <a:r>
              <a:rPr lang="en-US" sz="2200" b="1" dirty="0">
                <a:solidFill>
                  <a:schemeClr val="tx1"/>
                </a:solidFill>
              </a:rPr>
              <a:t>4 faktor inti</a:t>
            </a:r>
            <a:endParaRPr lang="en-US" sz="2200" dirty="0"/>
          </a:p>
        </p:txBody>
      </p:sp>
      <p:sp>
        <p:nvSpPr>
          <p:cNvPr id="15" name="Text 13"/>
          <p:cNvSpPr txBox="1"/>
          <p:nvPr/>
        </p:nvSpPr>
        <p:spPr>
          <a:xfrm>
            <a:off x="8412480" y="3017520"/>
            <a:ext cx="2880360" cy="548640"/>
          </a:xfrm>
          <a:prstGeom prst="rect">
            <a:avLst/>
          </a:prstGeom>
          <a:noFill/>
          <a:ln/>
        </p:spPr>
        <p:txBody>
          <a:bodyPr wrap="square" lIns="0" tIns="0" rIns="0" bIns="0" rtlCol="0" anchor="t"/>
          <a:lstStyle/>
          <a:p>
            <a:pPr indent="0" marL="0">
              <a:buNone/>
            </a:pPr>
            <a:r>
              <a:rPr lang="en-US" sz="1600" dirty="0">
                <a:solidFill>
                  <a:schemeClr val="tx2"/>
                </a:solidFill>
              </a:rPr>
              <a:t>Plus niat, perilaku, dan moderator</a:t>
            </a:r>
            <a:endParaRPr lang="en-US" sz="1600" dirty="0"/>
          </a:p>
        </p:txBody>
      </p:sp>
      <p:sp>
        <p:nvSpPr>
          <p:cNvPr id="16" name="Langkah 04"/>
          <p:cNvSpPr/>
          <p:nvPr/>
        </p:nvSpPr>
        <p:spPr>
          <a:xfrm>
            <a:off x="548640" y="4069080"/>
            <a:ext cx="3520440" cy="2148840"/>
          </a:xfrm>
          <a:prstGeom prst="roundRect">
            <a:avLst>
              <a:gd name="adj" fmla="val 5106"/>
            </a:avLst>
          </a:prstGeom>
          <a:solidFill>
            <a:schemeClr val="bg2"/>
          </a:solidFill>
          <a:ln/>
        </p:spPr>
      </p:sp>
      <p:sp>
        <p:nvSpPr>
          <p:cNvPr id="17" name="Text 15"/>
          <p:cNvSpPr txBox="1"/>
          <p:nvPr/>
        </p:nvSpPr>
        <p:spPr>
          <a:xfrm>
            <a:off x="868680" y="4343400"/>
            <a:ext cx="1371600" cy="64008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04</a:t>
            </a:r>
            <a:endParaRPr lang="en-US" sz="3600" dirty="0"/>
          </a:p>
        </p:txBody>
      </p:sp>
      <p:sp>
        <p:nvSpPr>
          <p:cNvPr id="18" name="Text 16"/>
          <p:cNvSpPr txBox="1"/>
          <p:nvPr/>
        </p:nvSpPr>
        <p:spPr>
          <a:xfrm>
            <a:off x="868680" y="5029200"/>
            <a:ext cx="2880360" cy="411480"/>
          </a:xfrm>
          <a:prstGeom prst="rect">
            <a:avLst/>
          </a:prstGeom>
          <a:noFill/>
          <a:ln/>
        </p:spPr>
        <p:txBody>
          <a:bodyPr wrap="square" lIns="0" tIns="0" rIns="0" bIns="0" rtlCol="0" anchor="t"/>
          <a:lstStyle/>
          <a:p>
            <a:pPr indent="0" marL="0">
              <a:buNone/>
            </a:pPr>
            <a:r>
              <a:rPr lang="en-US" sz="2200" b="1" dirty="0">
                <a:solidFill>
                  <a:schemeClr val="tx1"/>
                </a:solidFill>
              </a:rPr>
              <a:t>UTAUT2</a:t>
            </a:r>
            <a:endParaRPr lang="en-US" sz="2200" dirty="0"/>
          </a:p>
        </p:txBody>
      </p:sp>
      <p:sp>
        <p:nvSpPr>
          <p:cNvPr id="19" name="Text 17"/>
          <p:cNvSpPr txBox="1"/>
          <p:nvPr/>
        </p:nvSpPr>
        <p:spPr>
          <a:xfrm>
            <a:off x="868680" y="5486400"/>
            <a:ext cx="2880360" cy="548640"/>
          </a:xfrm>
          <a:prstGeom prst="rect">
            <a:avLst/>
          </a:prstGeom>
          <a:noFill/>
          <a:ln/>
        </p:spPr>
        <p:txBody>
          <a:bodyPr wrap="square" lIns="0" tIns="0" rIns="0" bIns="0" rtlCol="0" anchor="t"/>
          <a:lstStyle/>
          <a:p>
            <a:pPr indent="0" marL="0">
              <a:buNone/>
            </a:pPr>
            <a:r>
              <a:rPr lang="en-US" sz="1600" dirty="0">
                <a:solidFill>
                  <a:schemeClr val="tx2"/>
                </a:solidFill>
              </a:rPr>
              <a:t>Kesenangan, harga, kebiasaan</a:t>
            </a:r>
            <a:endParaRPr lang="en-US" sz="1600" dirty="0"/>
          </a:p>
        </p:txBody>
      </p:sp>
      <p:sp>
        <p:nvSpPr>
          <p:cNvPr id="20" name="Langkah 05"/>
          <p:cNvSpPr/>
          <p:nvPr/>
        </p:nvSpPr>
        <p:spPr>
          <a:xfrm>
            <a:off x="4320540" y="4069080"/>
            <a:ext cx="3520440" cy="2148840"/>
          </a:xfrm>
          <a:prstGeom prst="roundRect">
            <a:avLst>
              <a:gd name="adj" fmla="val 5106"/>
            </a:avLst>
          </a:prstGeom>
          <a:solidFill>
            <a:schemeClr val="bg2"/>
          </a:solidFill>
          <a:ln/>
        </p:spPr>
      </p:sp>
      <p:sp>
        <p:nvSpPr>
          <p:cNvPr id="21" name="Text 19"/>
          <p:cNvSpPr txBox="1"/>
          <p:nvPr/>
        </p:nvSpPr>
        <p:spPr>
          <a:xfrm>
            <a:off x="4640580" y="4343400"/>
            <a:ext cx="13716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05</a:t>
            </a:r>
            <a:endParaRPr lang="en-US" sz="3600" dirty="0"/>
          </a:p>
        </p:txBody>
      </p:sp>
      <p:sp>
        <p:nvSpPr>
          <p:cNvPr id="22" name="Text 20"/>
          <p:cNvSpPr txBox="1"/>
          <p:nvPr/>
        </p:nvSpPr>
        <p:spPr>
          <a:xfrm>
            <a:off x="4640580" y="5029200"/>
            <a:ext cx="2880360" cy="411480"/>
          </a:xfrm>
          <a:prstGeom prst="rect">
            <a:avLst/>
          </a:prstGeom>
          <a:noFill/>
          <a:ln/>
        </p:spPr>
        <p:txBody>
          <a:bodyPr wrap="square" lIns="0" tIns="0" rIns="0" bIns="0" rtlCol="0" anchor="t"/>
          <a:lstStyle/>
          <a:p>
            <a:pPr indent="0" marL="0">
              <a:buNone/>
            </a:pPr>
            <a:r>
              <a:rPr lang="en-US" sz="2200" b="1" dirty="0">
                <a:solidFill>
                  <a:schemeClr val="tx1"/>
                </a:solidFill>
              </a:rPr>
              <a:t>Perbandingan</a:t>
            </a:r>
            <a:endParaRPr lang="en-US" sz="2200" dirty="0"/>
          </a:p>
        </p:txBody>
      </p:sp>
      <p:sp>
        <p:nvSpPr>
          <p:cNvPr id="23" name="Text 21"/>
          <p:cNvSpPr txBox="1"/>
          <p:nvPr/>
        </p:nvSpPr>
        <p:spPr>
          <a:xfrm>
            <a:off x="4640580" y="5486400"/>
            <a:ext cx="2880360" cy="548640"/>
          </a:xfrm>
          <a:prstGeom prst="rect">
            <a:avLst/>
          </a:prstGeom>
          <a:noFill/>
          <a:ln/>
        </p:spPr>
        <p:txBody>
          <a:bodyPr wrap="square" lIns="0" tIns="0" rIns="0" bIns="0" rtlCol="0" anchor="t"/>
          <a:lstStyle/>
          <a:p>
            <a:pPr indent="0" marL="0">
              <a:buNone/>
            </a:pPr>
            <a:r>
              <a:rPr lang="en-US" sz="1600" dirty="0">
                <a:solidFill>
                  <a:schemeClr val="tx2"/>
                </a:solidFill>
              </a:rPr>
              <a:t>UTAUT vs UTAUT2 vs TAM</a:t>
            </a:r>
            <a:endParaRPr lang="en-US" sz="1600" dirty="0"/>
          </a:p>
        </p:txBody>
      </p:sp>
      <p:sp>
        <p:nvSpPr>
          <p:cNvPr id="24" name="Langkah 06"/>
          <p:cNvSpPr/>
          <p:nvPr/>
        </p:nvSpPr>
        <p:spPr>
          <a:xfrm>
            <a:off x="8092440" y="4069080"/>
            <a:ext cx="3520440" cy="2148840"/>
          </a:xfrm>
          <a:prstGeom prst="roundRect">
            <a:avLst>
              <a:gd name="adj" fmla="val 5106"/>
            </a:avLst>
          </a:prstGeom>
          <a:solidFill>
            <a:schemeClr val="bg2"/>
          </a:solidFill>
          <a:ln/>
        </p:spPr>
      </p:sp>
      <p:sp>
        <p:nvSpPr>
          <p:cNvPr id="25" name="Text 23"/>
          <p:cNvSpPr txBox="1"/>
          <p:nvPr/>
        </p:nvSpPr>
        <p:spPr>
          <a:xfrm>
            <a:off x="8412480" y="4343400"/>
            <a:ext cx="13716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06</a:t>
            </a:r>
            <a:endParaRPr lang="en-US" sz="3600" dirty="0"/>
          </a:p>
        </p:txBody>
      </p:sp>
      <p:sp>
        <p:nvSpPr>
          <p:cNvPr id="26" name="Text 24"/>
          <p:cNvSpPr txBox="1"/>
          <p:nvPr/>
        </p:nvSpPr>
        <p:spPr>
          <a:xfrm>
            <a:off x="8412480" y="5029200"/>
            <a:ext cx="2880360" cy="411480"/>
          </a:xfrm>
          <a:prstGeom prst="rect">
            <a:avLst/>
          </a:prstGeom>
          <a:noFill/>
          <a:ln/>
        </p:spPr>
        <p:txBody>
          <a:bodyPr wrap="square" lIns="0" tIns="0" rIns="0" bIns="0" rtlCol="0" anchor="t"/>
          <a:lstStyle/>
          <a:p>
            <a:pPr indent="0" marL="0">
              <a:buNone/>
            </a:pPr>
            <a:r>
              <a:rPr lang="en-US" sz="2200" b="1" dirty="0">
                <a:solidFill>
                  <a:schemeClr val="tx1"/>
                </a:solidFill>
              </a:rPr>
              <a:t>Ringkasan</a:t>
            </a:r>
            <a:endParaRPr lang="en-US" sz="2200" dirty="0"/>
          </a:p>
        </p:txBody>
      </p:sp>
      <p:sp>
        <p:nvSpPr>
          <p:cNvPr id="27" name="Text 25"/>
          <p:cNvSpPr txBox="1"/>
          <p:nvPr/>
        </p:nvSpPr>
        <p:spPr>
          <a:xfrm>
            <a:off x="8412480" y="5486400"/>
            <a:ext cx="2880360" cy="548640"/>
          </a:xfrm>
          <a:prstGeom prst="rect">
            <a:avLst/>
          </a:prstGeom>
          <a:noFill/>
          <a:ln/>
        </p:spPr>
        <p:txBody>
          <a:bodyPr wrap="square" lIns="0" tIns="0" rIns="0" bIns="0" rtlCol="0" anchor="t"/>
          <a:lstStyle/>
          <a:p>
            <a:pPr indent="0" marL="0">
              <a:buNone/>
            </a:pPr>
            <a:r>
              <a:rPr lang="en-US" sz="1600" dirty="0">
                <a:solidFill>
                  <a:schemeClr val="tx2"/>
                </a:solidFill>
              </a:rPr>
              <a:t>Cara mudah mengingat</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PENGANTAR</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Teknologi bagus belum tentu digunakan</a:t>
            </a:r>
            <a:endParaRPr lang="en-US" sz="3400" dirty="0"/>
          </a:p>
        </p:txBody>
      </p:sp>
      <p:sp>
        <p:nvSpPr>
          <p:cNvPr id="4" name="Kartu skenario"/>
          <p:cNvSpPr/>
          <p:nvPr/>
        </p:nvSpPr>
        <p:spPr>
          <a:xfrm>
            <a:off x="548640" y="1600200"/>
            <a:ext cx="4206240" cy="4480560"/>
          </a:xfrm>
          <a:prstGeom prst="roundRect">
            <a:avLst>
              <a:gd name="adj" fmla="val 2609"/>
            </a:avLst>
          </a:prstGeom>
          <a:solidFill>
            <a:schemeClr val="tx2"/>
          </a:solidFill>
          <a:ln/>
        </p:spPr>
      </p:sp>
      <p:pic>
        <p:nvPicPr>
          <p:cNvPr id="5" name="Ikon dompet" descr="preencoded.png">    </p:cNvPr>
          <p:cNvPicPr>
            <a:picLocks noChangeAspect="1"/>
          </p:cNvPicPr>
          <p:nvPr/>
        </p:nvPicPr>
        <p:blipFill>
          <a:blip r:embed="rId1"/>
          <a:stretch>
            <a:fillRect/>
          </a:stretch>
        </p:blipFill>
        <p:spPr>
          <a:xfrm>
            <a:off x="868680" y="1920240"/>
            <a:ext cx="640080" cy="640080"/>
          </a:xfrm>
          <a:prstGeom prst="rect">
            <a:avLst/>
          </a:prstGeom>
        </p:spPr>
      </p:pic>
      <p:sp>
        <p:nvSpPr>
          <p:cNvPr id="6" name="Text 3"/>
          <p:cNvSpPr txBox="1"/>
          <p:nvPr/>
        </p:nvSpPr>
        <p:spPr>
          <a:xfrm>
            <a:off x="868680" y="2788920"/>
            <a:ext cx="356616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SKENARIO</a:t>
            </a:r>
            <a:endParaRPr lang="en-US" sz="1400" dirty="0"/>
          </a:p>
        </p:txBody>
      </p:sp>
      <p:sp>
        <p:nvSpPr>
          <p:cNvPr id="7" name="Text 4"/>
          <p:cNvSpPr txBox="1"/>
          <p:nvPr/>
        </p:nvSpPr>
        <p:spPr>
          <a:xfrm>
            <a:off x="868680" y="3154680"/>
            <a:ext cx="3566160" cy="118872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Kampus meluncurkan aplikasi pembayaran digital.</a:t>
            </a:r>
            <a:endParaRPr lang="en-US" sz="2600" dirty="0"/>
          </a:p>
        </p:txBody>
      </p:sp>
      <p:sp>
        <p:nvSpPr>
          <p:cNvPr id="8" name="Text 5"/>
          <p:cNvSpPr txBox="1"/>
          <p:nvPr/>
        </p:nvSpPr>
        <p:spPr>
          <a:xfrm>
            <a:off x="868680" y="4846320"/>
            <a:ext cx="3566160" cy="822960"/>
          </a:xfrm>
          <a:prstGeom prst="rect">
            <a:avLst/>
          </a:prstGeom>
          <a:noFill/>
          <a:ln/>
        </p:spPr>
        <p:txBody>
          <a:bodyPr wrap="square" lIns="0" tIns="0" rIns="0" bIns="0" rtlCol="0" anchor="t"/>
          <a:lstStyle/>
          <a:p>
            <a:pPr indent="0" marL="0">
              <a:buNone/>
            </a:pPr>
            <a:r>
              <a:rPr lang="en-US" sz="2000" b="1" i="1" dirty="0">
                <a:solidFill>
                  <a:schemeClr val="accent2"/>
                </a:solidFill>
              </a:rPr>
              <a:t>Akankah mahasiswa memakainya?</a:t>
            </a:r>
            <a:endParaRPr lang="en-US" sz="2000" dirty="0"/>
          </a:p>
        </p:txBody>
      </p:sp>
      <p:sp>
        <p:nvSpPr>
          <p:cNvPr id="9" name="Performance Expectancy lingkaran"/>
          <p:cNvSpPr/>
          <p:nvPr/>
        </p:nvSpPr>
        <p:spPr>
          <a:xfrm>
            <a:off x="5120640" y="1618488"/>
            <a:ext cx="512064" cy="512064"/>
          </a:xfrm>
          <a:prstGeom prst="ellipse">
            <a:avLst/>
          </a:prstGeom>
          <a:solidFill>
            <a:schemeClr val="accent1"/>
          </a:solidFill>
          <a:ln/>
        </p:spPr>
      </p:sp>
      <p:pic>
        <p:nvPicPr>
          <p:cNvPr id="10" name="Performance Expectancy ikon" descr="preencoded.png">    </p:cNvPr>
          <p:cNvPicPr>
            <a:picLocks noChangeAspect="1"/>
          </p:cNvPicPr>
          <p:nvPr/>
        </p:nvPicPr>
        <p:blipFill>
          <a:blip r:embed="rId2"/>
          <a:stretch>
            <a:fillRect/>
          </a:stretch>
        </p:blipFill>
        <p:spPr>
          <a:xfrm>
            <a:off x="5243535" y="1741383"/>
            <a:ext cx="266273" cy="266273"/>
          </a:xfrm>
          <a:prstGeom prst="rect">
            <a:avLst/>
          </a:prstGeom>
        </p:spPr>
      </p:pic>
      <p:sp>
        <p:nvSpPr>
          <p:cNvPr id="11" name="Text 7"/>
          <p:cNvSpPr txBox="1"/>
          <p:nvPr/>
        </p:nvSpPr>
        <p:spPr>
          <a:xfrm>
            <a:off x="5806440" y="160020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Bermanfaat?</a:t>
            </a:r>
            <a:endParaRPr lang="en-US" sz="2000" dirty="0"/>
          </a:p>
        </p:txBody>
      </p:sp>
      <p:sp>
        <p:nvSpPr>
          <p:cNvPr id="12" name="Label Performance Expectancy"/>
          <p:cNvSpPr/>
          <p:nvPr/>
        </p:nvSpPr>
        <p:spPr>
          <a:xfrm>
            <a:off x="9144000" y="1673352"/>
            <a:ext cx="2496312" cy="402336"/>
          </a:xfrm>
          <a:prstGeom prst="roundRect">
            <a:avLst>
              <a:gd name="adj" fmla="val 50000"/>
            </a:avLst>
          </a:prstGeom>
          <a:solidFill>
            <a:srgbClr val="D9F1EF"/>
          </a:solidFill>
          <a:ln/>
        </p:spPr>
      </p:sp>
      <p:sp>
        <p:nvSpPr>
          <p:cNvPr id="13" name="Label Performance Expectancy teks"/>
          <p:cNvSpPr txBox="1"/>
          <p:nvPr/>
        </p:nvSpPr>
        <p:spPr>
          <a:xfrm>
            <a:off x="9144000" y="1673352"/>
            <a:ext cx="2496312" cy="402336"/>
          </a:xfrm>
          <a:prstGeom prst="rect">
            <a:avLst/>
          </a:prstGeom>
          <a:noFill/>
          <a:ln/>
        </p:spPr>
        <p:txBody>
          <a:bodyPr wrap="square" lIns="0" tIns="0" rIns="0" bIns="0" rtlCol="0" anchor="ctr"/>
          <a:lstStyle/>
          <a:p>
            <a:pPr algn="ctr" indent="0" marL="0">
              <a:buNone/>
            </a:pPr>
            <a:r>
              <a:rPr lang="en-US" sz="1300" b="1" dirty="0">
                <a:solidFill>
                  <a:schemeClr val="accent1"/>
                </a:solidFill>
              </a:rPr>
              <a:t>Performance Expectancy</a:t>
            </a:r>
            <a:endParaRPr lang="en-US" sz="1300" dirty="0"/>
          </a:p>
        </p:txBody>
      </p:sp>
      <p:sp>
        <p:nvSpPr>
          <p:cNvPr id="14" name="Effort Expectancy lingkaran"/>
          <p:cNvSpPr/>
          <p:nvPr/>
        </p:nvSpPr>
        <p:spPr>
          <a:xfrm>
            <a:off x="5120640" y="2258568"/>
            <a:ext cx="512064" cy="512064"/>
          </a:xfrm>
          <a:prstGeom prst="ellipse">
            <a:avLst/>
          </a:prstGeom>
          <a:solidFill>
            <a:schemeClr val="accent1"/>
          </a:solidFill>
          <a:ln/>
        </p:spPr>
      </p:sp>
      <p:pic>
        <p:nvPicPr>
          <p:cNvPr id="15" name="Effort Expectancy ikon" descr="preencoded.png">    </p:cNvPr>
          <p:cNvPicPr>
            <a:picLocks noChangeAspect="1"/>
          </p:cNvPicPr>
          <p:nvPr/>
        </p:nvPicPr>
        <p:blipFill>
          <a:blip r:embed="rId3"/>
          <a:stretch>
            <a:fillRect/>
          </a:stretch>
        </p:blipFill>
        <p:spPr>
          <a:xfrm>
            <a:off x="5243535" y="2381463"/>
            <a:ext cx="266273" cy="266273"/>
          </a:xfrm>
          <a:prstGeom prst="rect">
            <a:avLst/>
          </a:prstGeom>
        </p:spPr>
      </p:pic>
      <p:sp>
        <p:nvSpPr>
          <p:cNvPr id="16" name="Text 11"/>
          <p:cNvSpPr txBox="1"/>
          <p:nvPr/>
        </p:nvSpPr>
        <p:spPr>
          <a:xfrm>
            <a:off x="5806440" y="224028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Mudah digunakan?</a:t>
            </a:r>
            <a:endParaRPr lang="en-US" sz="2000" dirty="0"/>
          </a:p>
        </p:txBody>
      </p:sp>
      <p:sp>
        <p:nvSpPr>
          <p:cNvPr id="17" name="Label Effort Expectancy"/>
          <p:cNvSpPr/>
          <p:nvPr/>
        </p:nvSpPr>
        <p:spPr>
          <a:xfrm>
            <a:off x="9144000" y="2313432"/>
            <a:ext cx="2496312" cy="402336"/>
          </a:xfrm>
          <a:prstGeom prst="roundRect">
            <a:avLst>
              <a:gd name="adj" fmla="val 50000"/>
            </a:avLst>
          </a:prstGeom>
          <a:solidFill>
            <a:srgbClr val="D9F1EF"/>
          </a:solidFill>
          <a:ln/>
        </p:spPr>
      </p:sp>
      <p:sp>
        <p:nvSpPr>
          <p:cNvPr id="18" name="Label Effort Expectancy teks"/>
          <p:cNvSpPr txBox="1"/>
          <p:nvPr/>
        </p:nvSpPr>
        <p:spPr>
          <a:xfrm>
            <a:off x="9144000" y="2313432"/>
            <a:ext cx="2496312" cy="402336"/>
          </a:xfrm>
          <a:prstGeom prst="rect">
            <a:avLst/>
          </a:prstGeom>
          <a:noFill/>
          <a:ln/>
        </p:spPr>
        <p:txBody>
          <a:bodyPr wrap="square" lIns="0" tIns="0" rIns="0" bIns="0" rtlCol="0" anchor="ctr"/>
          <a:lstStyle/>
          <a:p>
            <a:pPr algn="ctr" indent="0" marL="0">
              <a:buNone/>
            </a:pPr>
            <a:r>
              <a:rPr lang="en-US" sz="1300" b="1" dirty="0">
                <a:solidFill>
                  <a:schemeClr val="accent1"/>
                </a:solidFill>
              </a:rPr>
              <a:t>Effort Expectancy</a:t>
            </a:r>
            <a:endParaRPr lang="en-US" sz="1300" dirty="0"/>
          </a:p>
        </p:txBody>
      </p:sp>
      <p:sp>
        <p:nvSpPr>
          <p:cNvPr id="19" name="Social Influence lingkaran"/>
          <p:cNvSpPr/>
          <p:nvPr/>
        </p:nvSpPr>
        <p:spPr>
          <a:xfrm>
            <a:off x="5120640" y="2898648"/>
            <a:ext cx="512064" cy="512064"/>
          </a:xfrm>
          <a:prstGeom prst="ellipse">
            <a:avLst/>
          </a:prstGeom>
          <a:solidFill>
            <a:schemeClr val="accent1"/>
          </a:solidFill>
          <a:ln/>
        </p:spPr>
      </p:sp>
      <p:pic>
        <p:nvPicPr>
          <p:cNvPr id="20" name="Social Influence ikon" descr="preencoded.png">    </p:cNvPr>
          <p:cNvPicPr>
            <a:picLocks noChangeAspect="1"/>
          </p:cNvPicPr>
          <p:nvPr/>
        </p:nvPicPr>
        <p:blipFill>
          <a:blip r:embed="rId4"/>
          <a:stretch>
            <a:fillRect/>
          </a:stretch>
        </p:blipFill>
        <p:spPr>
          <a:xfrm>
            <a:off x="5243535" y="3021543"/>
            <a:ext cx="266273" cy="266273"/>
          </a:xfrm>
          <a:prstGeom prst="rect">
            <a:avLst/>
          </a:prstGeom>
        </p:spPr>
      </p:pic>
      <p:sp>
        <p:nvSpPr>
          <p:cNvPr id="21" name="Text 15"/>
          <p:cNvSpPr txBox="1"/>
          <p:nvPr/>
        </p:nvSpPr>
        <p:spPr>
          <a:xfrm>
            <a:off x="5806440" y="288036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Didorong teman?</a:t>
            </a:r>
            <a:endParaRPr lang="en-US" sz="2000" dirty="0"/>
          </a:p>
        </p:txBody>
      </p:sp>
      <p:sp>
        <p:nvSpPr>
          <p:cNvPr id="22" name="Label Social Influence"/>
          <p:cNvSpPr/>
          <p:nvPr/>
        </p:nvSpPr>
        <p:spPr>
          <a:xfrm>
            <a:off x="9144000" y="2953512"/>
            <a:ext cx="2496312" cy="402336"/>
          </a:xfrm>
          <a:prstGeom prst="roundRect">
            <a:avLst>
              <a:gd name="adj" fmla="val 50000"/>
            </a:avLst>
          </a:prstGeom>
          <a:solidFill>
            <a:srgbClr val="D9F1EF"/>
          </a:solidFill>
          <a:ln/>
        </p:spPr>
      </p:sp>
      <p:sp>
        <p:nvSpPr>
          <p:cNvPr id="23" name="Label Social Influence teks"/>
          <p:cNvSpPr txBox="1"/>
          <p:nvPr/>
        </p:nvSpPr>
        <p:spPr>
          <a:xfrm>
            <a:off x="9144000" y="2953512"/>
            <a:ext cx="2496312" cy="402336"/>
          </a:xfrm>
          <a:prstGeom prst="rect">
            <a:avLst/>
          </a:prstGeom>
          <a:noFill/>
          <a:ln/>
        </p:spPr>
        <p:txBody>
          <a:bodyPr wrap="square" lIns="0" tIns="0" rIns="0" bIns="0" rtlCol="0" anchor="ctr"/>
          <a:lstStyle/>
          <a:p>
            <a:pPr algn="ctr" indent="0" marL="0">
              <a:buNone/>
            </a:pPr>
            <a:r>
              <a:rPr lang="en-US" sz="1300" b="1" dirty="0">
                <a:solidFill>
                  <a:schemeClr val="accent1"/>
                </a:solidFill>
              </a:rPr>
              <a:t>Social Influence</a:t>
            </a:r>
            <a:endParaRPr lang="en-US" sz="1300" dirty="0"/>
          </a:p>
        </p:txBody>
      </p:sp>
      <p:sp>
        <p:nvSpPr>
          <p:cNvPr id="24" name="Facilitating Conditions lingkaran"/>
          <p:cNvSpPr/>
          <p:nvPr/>
        </p:nvSpPr>
        <p:spPr>
          <a:xfrm>
            <a:off x="5120640" y="3538728"/>
            <a:ext cx="512064" cy="512064"/>
          </a:xfrm>
          <a:prstGeom prst="ellipse">
            <a:avLst/>
          </a:prstGeom>
          <a:solidFill>
            <a:schemeClr val="accent1"/>
          </a:solidFill>
          <a:ln/>
        </p:spPr>
      </p:sp>
      <p:pic>
        <p:nvPicPr>
          <p:cNvPr id="25" name="Facilitating Conditions ikon" descr="preencoded.png">    </p:cNvPr>
          <p:cNvPicPr>
            <a:picLocks noChangeAspect="1"/>
          </p:cNvPicPr>
          <p:nvPr/>
        </p:nvPicPr>
        <p:blipFill>
          <a:blip r:embed="rId5"/>
          <a:stretch>
            <a:fillRect/>
          </a:stretch>
        </p:blipFill>
        <p:spPr>
          <a:xfrm>
            <a:off x="5243535" y="3661623"/>
            <a:ext cx="266273" cy="266273"/>
          </a:xfrm>
          <a:prstGeom prst="rect">
            <a:avLst/>
          </a:prstGeom>
        </p:spPr>
      </p:pic>
      <p:sp>
        <p:nvSpPr>
          <p:cNvPr id="26" name="Text 19"/>
          <p:cNvSpPr txBox="1"/>
          <p:nvPr/>
        </p:nvSpPr>
        <p:spPr>
          <a:xfrm>
            <a:off x="5806440" y="352044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Fasilitasnya ada?</a:t>
            </a:r>
            <a:endParaRPr lang="en-US" sz="2000" dirty="0"/>
          </a:p>
        </p:txBody>
      </p:sp>
      <p:sp>
        <p:nvSpPr>
          <p:cNvPr id="27" name="Label Facilitating Conditions"/>
          <p:cNvSpPr/>
          <p:nvPr/>
        </p:nvSpPr>
        <p:spPr>
          <a:xfrm>
            <a:off x="9144000" y="3593592"/>
            <a:ext cx="2496312" cy="402336"/>
          </a:xfrm>
          <a:prstGeom prst="roundRect">
            <a:avLst>
              <a:gd name="adj" fmla="val 50000"/>
            </a:avLst>
          </a:prstGeom>
          <a:solidFill>
            <a:srgbClr val="D9F1EF"/>
          </a:solidFill>
          <a:ln/>
        </p:spPr>
      </p:sp>
      <p:sp>
        <p:nvSpPr>
          <p:cNvPr id="28" name="Label Facilitating Conditions teks"/>
          <p:cNvSpPr txBox="1"/>
          <p:nvPr/>
        </p:nvSpPr>
        <p:spPr>
          <a:xfrm>
            <a:off x="9144000" y="3593592"/>
            <a:ext cx="2496312" cy="402336"/>
          </a:xfrm>
          <a:prstGeom prst="rect">
            <a:avLst/>
          </a:prstGeom>
          <a:noFill/>
          <a:ln/>
        </p:spPr>
        <p:txBody>
          <a:bodyPr wrap="square" lIns="0" tIns="0" rIns="0" bIns="0" rtlCol="0" anchor="ctr"/>
          <a:lstStyle/>
          <a:p>
            <a:pPr algn="ctr" indent="0" marL="0">
              <a:buNone/>
            </a:pPr>
            <a:r>
              <a:rPr lang="en-US" sz="1300" b="1" dirty="0">
                <a:solidFill>
                  <a:schemeClr val="accent1"/>
                </a:solidFill>
              </a:rPr>
              <a:t>Facilitating Conditions</a:t>
            </a:r>
            <a:endParaRPr lang="en-US" sz="1300" dirty="0"/>
          </a:p>
        </p:txBody>
      </p:sp>
      <p:sp>
        <p:nvSpPr>
          <p:cNvPr id="29" name="Hedonic Motivation lingkaran"/>
          <p:cNvSpPr/>
          <p:nvPr/>
        </p:nvSpPr>
        <p:spPr>
          <a:xfrm>
            <a:off x="5120640" y="4178808"/>
            <a:ext cx="512064" cy="512064"/>
          </a:xfrm>
          <a:prstGeom prst="ellipse">
            <a:avLst/>
          </a:prstGeom>
          <a:solidFill>
            <a:schemeClr val="accent2"/>
          </a:solidFill>
          <a:ln/>
        </p:spPr>
      </p:sp>
      <p:pic>
        <p:nvPicPr>
          <p:cNvPr id="30" name="Hedonic Motivation ikon" descr="preencoded.png">    </p:cNvPr>
          <p:cNvPicPr>
            <a:picLocks noChangeAspect="1"/>
          </p:cNvPicPr>
          <p:nvPr/>
        </p:nvPicPr>
        <p:blipFill>
          <a:blip r:embed="rId6"/>
          <a:stretch>
            <a:fillRect/>
          </a:stretch>
        </p:blipFill>
        <p:spPr>
          <a:xfrm>
            <a:off x="5243535" y="4301703"/>
            <a:ext cx="266273" cy="266273"/>
          </a:xfrm>
          <a:prstGeom prst="rect">
            <a:avLst/>
          </a:prstGeom>
        </p:spPr>
      </p:pic>
      <p:sp>
        <p:nvSpPr>
          <p:cNvPr id="31" name="Text 23"/>
          <p:cNvSpPr txBox="1"/>
          <p:nvPr/>
        </p:nvSpPr>
        <p:spPr>
          <a:xfrm>
            <a:off x="5806440" y="416052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Menyenangkan?</a:t>
            </a:r>
            <a:endParaRPr lang="en-US" sz="2000" dirty="0"/>
          </a:p>
        </p:txBody>
      </p:sp>
      <p:sp>
        <p:nvSpPr>
          <p:cNvPr id="32" name="Label Hedonic Motivation"/>
          <p:cNvSpPr/>
          <p:nvPr/>
        </p:nvSpPr>
        <p:spPr>
          <a:xfrm>
            <a:off x="9144000" y="4233672"/>
            <a:ext cx="2496312" cy="402336"/>
          </a:xfrm>
          <a:prstGeom prst="roundRect">
            <a:avLst>
              <a:gd name="adj" fmla="val 50000"/>
            </a:avLst>
          </a:prstGeom>
          <a:solidFill>
            <a:srgbClr val="FCEBD3"/>
          </a:solidFill>
          <a:ln/>
        </p:spPr>
      </p:sp>
      <p:sp>
        <p:nvSpPr>
          <p:cNvPr id="33" name="Label Hedonic Motivation teks"/>
          <p:cNvSpPr txBox="1"/>
          <p:nvPr/>
        </p:nvSpPr>
        <p:spPr>
          <a:xfrm>
            <a:off x="9144000" y="4233672"/>
            <a:ext cx="2496312" cy="402336"/>
          </a:xfrm>
          <a:prstGeom prst="rect">
            <a:avLst/>
          </a:prstGeom>
          <a:noFill/>
          <a:ln/>
        </p:spPr>
        <p:txBody>
          <a:bodyPr wrap="square" lIns="0" tIns="0" rIns="0" bIns="0" rtlCol="0" anchor="ctr"/>
          <a:lstStyle/>
          <a:p>
            <a:pPr algn="ctr" indent="0" marL="0">
              <a:buNone/>
            </a:pPr>
            <a:r>
              <a:rPr lang="en-US" sz="1300" b="1" dirty="0">
                <a:solidFill>
                  <a:schemeClr val="accent2"/>
                </a:solidFill>
              </a:rPr>
              <a:t>Hedonic Motivation</a:t>
            </a:r>
            <a:endParaRPr lang="en-US" sz="1300" dirty="0"/>
          </a:p>
        </p:txBody>
      </p:sp>
      <p:sp>
        <p:nvSpPr>
          <p:cNvPr id="34" name="Price Value lingkaran"/>
          <p:cNvSpPr/>
          <p:nvPr/>
        </p:nvSpPr>
        <p:spPr>
          <a:xfrm>
            <a:off x="5120640" y="4818888"/>
            <a:ext cx="512064" cy="512064"/>
          </a:xfrm>
          <a:prstGeom prst="ellipse">
            <a:avLst/>
          </a:prstGeom>
          <a:solidFill>
            <a:schemeClr val="accent2"/>
          </a:solidFill>
          <a:ln/>
        </p:spPr>
      </p:sp>
      <p:pic>
        <p:nvPicPr>
          <p:cNvPr id="35" name="Price Value ikon" descr="preencoded.png">    </p:cNvPr>
          <p:cNvPicPr>
            <a:picLocks noChangeAspect="1"/>
          </p:cNvPicPr>
          <p:nvPr/>
        </p:nvPicPr>
        <p:blipFill>
          <a:blip r:embed="rId7"/>
          <a:stretch>
            <a:fillRect/>
          </a:stretch>
        </p:blipFill>
        <p:spPr>
          <a:xfrm>
            <a:off x="5243535" y="4941783"/>
            <a:ext cx="266273" cy="266273"/>
          </a:xfrm>
          <a:prstGeom prst="rect">
            <a:avLst/>
          </a:prstGeom>
        </p:spPr>
      </p:pic>
      <p:sp>
        <p:nvSpPr>
          <p:cNvPr id="36" name="Text 27"/>
          <p:cNvSpPr txBox="1"/>
          <p:nvPr/>
        </p:nvSpPr>
        <p:spPr>
          <a:xfrm>
            <a:off x="5806440" y="480060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Harganya sepadan?</a:t>
            </a:r>
            <a:endParaRPr lang="en-US" sz="2000" dirty="0"/>
          </a:p>
        </p:txBody>
      </p:sp>
      <p:sp>
        <p:nvSpPr>
          <p:cNvPr id="37" name="Label Price Value"/>
          <p:cNvSpPr/>
          <p:nvPr/>
        </p:nvSpPr>
        <p:spPr>
          <a:xfrm>
            <a:off x="9144000" y="4873752"/>
            <a:ext cx="2496312" cy="402336"/>
          </a:xfrm>
          <a:prstGeom prst="roundRect">
            <a:avLst>
              <a:gd name="adj" fmla="val 50000"/>
            </a:avLst>
          </a:prstGeom>
          <a:solidFill>
            <a:srgbClr val="FCEBD3"/>
          </a:solidFill>
          <a:ln/>
        </p:spPr>
      </p:sp>
      <p:sp>
        <p:nvSpPr>
          <p:cNvPr id="38" name="Label Price Value teks"/>
          <p:cNvSpPr txBox="1"/>
          <p:nvPr/>
        </p:nvSpPr>
        <p:spPr>
          <a:xfrm>
            <a:off x="9144000" y="4873752"/>
            <a:ext cx="2496312" cy="402336"/>
          </a:xfrm>
          <a:prstGeom prst="rect">
            <a:avLst/>
          </a:prstGeom>
          <a:noFill/>
          <a:ln/>
        </p:spPr>
        <p:txBody>
          <a:bodyPr wrap="square" lIns="0" tIns="0" rIns="0" bIns="0" rtlCol="0" anchor="ctr"/>
          <a:lstStyle/>
          <a:p>
            <a:pPr algn="ctr" indent="0" marL="0">
              <a:buNone/>
            </a:pPr>
            <a:r>
              <a:rPr lang="en-US" sz="1300" b="1" dirty="0">
                <a:solidFill>
                  <a:schemeClr val="accent2"/>
                </a:solidFill>
              </a:rPr>
              <a:t>Price Value</a:t>
            </a:r>
            <a:endParaRPr lang="en-US" sz="1300" dirty="0"/>
          </a:p>
        </p:txBody>
      </p:sp>
      <p:sp>
        <p:nvSpPr>
          <p:cNvPr id="39" name="Habit lingkaran"/>
          <p:cNvSpPr/>
          <p:nvPr/>
        </p:nvSpPr>
        <p:spPr>
          <a:xfrm>
            <a:off x="5120640" y="5458968"/>
            <a:ext cx="512064" cy="512064"/>
          </a:xfrm>
          <a:prstGeom prst="ellipse">
            <a:avLst/>
          </a:prstGeom>
          <a:solidFill>
            <a:schemeClr val="accent2"/>
          </a:solidFill>
          <a:ln/>
        </p:spPr>
      </p:sp>
      <p:pic>
        <p:nvPicPr>
          <p:cNvPr id="40" name="Habit ikon" descr="preencoded.png">    </p:cNvPr>
          <p:cNvPicPr>
            <a:picLocks noChangeAspect="1"/>
          </p:cNvPicPr>
          <p:nvPr/>
        </p:nvPicPr>
        <p:blipFill>
          <a:blip r:embed="rId8"/>
          <a:stretch>
            <a:fillRect/>
          </a:stretch>
        </p:blipFill>
        <p:spPr>
          <a:xfrm>
            <a:off x="5243535" y="5581863"/>
            <a:ext cx="266273" cy="266273"/>
          </a:xfrm>
          <a:prstGeom prst="rect">
            <a:avLst/>
          </a:prstGeom>
        </p:spPr>
      </p:pic>
      <p:sp>
        <p:nvSpPr>
          <p:cNvPr id="41" name="Text 31"/>
          <p:cNvSpPr txBox="1"/>
          <p:nvPr/>
        </p:nvSpPr>
        <p:spPr>
          <a:xfrm>
            <a:off x="5806440" y="5440680"/>
            <a:ext cx="3291840" cy="548640"/>
          </a:xfrm>
          <a:prstGeom prst="rect">
            <a:avLst/>
          </a:prstGeom>
          <a:noFill/>
          <a:ln/>
        </p:spPr>
        <p:txBody>
          <a:bodyPr wrap="square" lIns="0" tIns="0" rIns="0" bIns="0" rtlCol="0" anchor="ctr"/>
          <a:lstStyle/>
          <a:p>
            <a:pPr indent="0" marL="0">
              <a:buNone/>
            </a:pPr>
            <a:r>
              <a:rPr lang="en-US" sz="2000" b="1" dirty="0">
                <a:solidFill>
                  <a:schemeClr val="tx1"/>
                </a:solidFill>
              </a:rPr>
              <a:t>Sudah jadi kebiasaan?</a:t>
            </a:r>
            <a:endParaRPr lang="en-US" sz="2000" dirty="0"/>
          </a:p>
        </p:txBody>
      </p:sp>
      <p:sp>
        <p:nvSpPr>
          <p:cNvPr id="42" name="Label Habit"/>
          <p:cNvSpPr/>
          <p:nvPr/>
        </p:nvSpPr>
        <p:spPr>
          <a:xfrm>
            <a:off x="9144000" y="5513832"/>
            <a:ext cx="2496312" cy="402336"/>
          </a:xfrm>
          <a:prstGeom prst="roundRect">
            <a:avLst>
              <a:gd name="adj" fmla="val 50000"/>
            </a:avLst>
          </a:prstGeom>
          <a:solidFill>
            <a:srgbClr val="FCEBD3"/>
          </a:solidFill>
          <a:ln/>
        </p:spPr>
      </p:sp>
      <p:sp>
        <p:nvSpPr>
          <p:cNvPr id="43" name="Label Habit teks"/>
          <p:cNvSpPr txBox="1"/>
          <p:nvPr/>
        </p:nvSpPr>
        <p:spPr>
          <a:xfrm>
            <a:off x="9144000" y="5513832"/>
            <a:ext cx="2496312" cy="402336"/>
          </a:xfrm>
          <a:prstGeom prst="rect">
            <a:avLst/>
          </a:prstGeom>
          <a:noFill/>
          <a:ln/>
        </p:spPr>
        <p:txBody>
          <a:bodyPr wrap="square" lIns="0" tIns="0" rIns="0" bIns="0" rtlCol="0" anchor="ctr"/>
          <a:lstStyle/>
          <a:p>
            <a:pPr algn="ctr" indent="0" marL="0">
              <a:buNone/>
            </a:pPr>
            <a:r>
              <a:rPr lang="en-US" sz="1300" b="1" dirty="0">
                <a:solidFill>
                  <a:schemeClr val="accent2"/>
                </a:solidFill>
              </a:rPr>
              <a:t>Habit</a:t>
            </a:r>
            <a:endParaRPr lang="en-US" sz="13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1463040"/>
            <a:ext cx="3657600" cy="1280160"/>
          </a:xfrm>
          <a:prstGeom prst="rect">
            <a:avLst/>
          </a:prstGeom>
          <a:noFill/>
          <a:ln/>
        </p:spPr>
        <p:txBody>
          <a:bodyPr wrap="square" lIns="0" tIns="0" rIns="0" bIns="0" rtlCol="0"/>
          <a:lstStyle/>
          <a:p>
            <a:pPr indent="0" marL="0">
              <a:buNone/>
            </a:pPr>
            <a:r>
              <a:rPr lang="en-US" sz="8000" b="1" dirty="0">
                <a:solidFill>
                  <a:schemeClr val="accent1"/>
                </a:solidFill>
                <a:latin typeface="Cambria" pitchFamily="34" charset="0"/>
                <a:ea typeface="Cambria" pitchFamily="34" charset="-122"/>
                <a:cs typeface="Cambria" pitchFamily="34" charset="-120"/>
              </a:rPr>
              <a:t>01</a:t>
            </a:r>
            <a:endParaRPr lang="en-US" sz="8000" dirty="0"/>
          </a:p>
        </p:txBody>
      </p:sp>
      <p:sp>
        <p:nvSpPr>
          <p:cNvPr id="3" name="Text 0"/>
          <p:cNvSpPr/>
          <p:nvPr>
            <p:ph idx="101" type="title" hasCustomPrompt="1"/>
          </p:nvPr>
        </p:nvSpPr>
        <p:spPr>
          <a:xfrm>
            <a:off x="731520" y="2743200"/>
            <a:ext cx="7772400" cy="1097280"/>
          </a:xfrm>
          <a:prstGeom prst="rect">
            <a:avLst/>
          </a:prstGeom>
          <a:noFill/>
          <a:ln/>
        </p:spPr>
        <p:txBody>
          <a:bodyPr wrap="square" lIns="0" tIns="0" rIns="0" bIns="0" rtlCol="0"/>
          <a:lstStyle/>
          <a:p>
            <a:pPr algn="l" indent="0" marL="0">
              <a:buNone/>
            </a:pPr>
            <a:r>
              <a:rPr lang="en-US" sz="5400" b="1" dirty="0">
                <a:solidFill>
                  <a:schemeClr val="bg1"/>
                </a:solidFill>
              </a:rPr>
              <a:t>UTAUT</a:t>
            </a:r>
            <a:endParaRPr lang="en-US" sz="5400" dirty="0"/>
          </a:p>
        </p:txBody>
      </p:sp>
      <p:sp>
        <p:nvSpPr>
          <p:cNvPr id="4" name="Text 0"/>
          <p:cNvSpPr/>
          <p:nvPr>
            <p:ph idx="102" type="body" hasCustomPrompt="1"/>
          </p:nvPr>
        </p:nvSpPr>
        <p:spPr>
          <a:xfrm>
            <a:off x="731520" y="3886200"/>
            <a:ext cx="7772400" cy="914400"/>
          </a:xfrm>
          <a:prstGeom prst="rect">
            <a:avLst/>
          </a:prstGeom>
          <a:noFill/>
          <a:ln/>
        </p:spPr>
        <p:txBody>
          <a:bodyPr wrap="square" lIns="0" tIns="0" rIns="0" bIns="0" rtlCol="0" anchor="t"/>
          <a:lstStyle/>
          <a:p>
            <a:pPr indent="0" marL="0">
              <a:buNone/>
            </a:pPr>
            <a:r>
              <a:rPr lang="en-US" sz="2000" dirty="0">
                <a:solidFill>
                  <a:schemeClr val="bg2"/>
                </a:solidFill>
              </a:rPr>
              <a:t>Unified Theory of Acceptance and Use of Technology</a:t>
            </a:r>
            <a:endParaRPr lang="en-US" sz="2000" dirty="0"/>
          </a:p>
          <a:p>
            <a:pPr indent="0" marL="0">
              <a:buNone/>
            </a:pPr>
            <a:r>
              <a:rPr lang="en-US" sz="2000" dirty="0">
                <a:solidFill>
                  <a:schemeClr val="bg2"/>
                </a:solidFill>
              </a:rPr>
              <a:t>Venkatesh, Morris, Davis &amp; Davis (2003)</a:t>
            </a:r>
            <a:endParaRPr lang="en-US" sz="2000" dirty="0"/>
          </a:p>
        </p:txBody>
      </p:sp>
      <p:sp>
        <p:nvSpPr>
          <p:cNvPr id="5" name="Konstruk UTAUT pe lingkaran"/>
          <p:cNvSpPr/>
          <p:nvPr/>
        </p:nvSpPr>
        <p:spPr>
          <a:xfrm>
            <a:off x="9052560" y="2011680"/>
            <a:ext cx="1097280" cy="1097280"/>
          </a:xfrm>
          <a:prstGeom prst="ellipse">
            <a:avLst/>
          </a:prstGeom>
          <a:solidFill>
            <a:schemeClr val="accent1"/>
          </a:solidFill>
          <a:ln/>
        </p:spPr>
      </p:sp>
      <p:pic>
        <p:nvPicPr>
          <p:cNvPr id="6" name="Konstruk UTAUT pe ikon" descr="preencoded.png">    </p:cNvPr>
          <p:cNvPicPr>
            <a:picLocks noChangeAspect="1"/>
          </p:cNvPicPr>
          <p:nvPr/>
        </p:nvPicPr>
        <p:blipFill>
          <a:blip r:embed="rId1"/>
          <a:stretch>
            <a:fillRect/>
          </a:stretch>
        </p:blipFill>
        <p:spPr>
          <a:xfrm>
            <a:off x="9315907" y="2275027"/>
            <a:ext cx="570586" cy="570586"/>
          </a:xfrm>
          <a:prstGeom prst="rect">
            <a:avLst/>
          </a:prstGeom>
        </p:spPr>
      </p:pic>
      <p:sp>
        <p:nvSpPr>
          <p:cNvPr id="7" name="Konstruk UTAUT ee lingkaran"/>
          <p:cNvSpPr/>
          <p:nvPr/>
        </p:nvSpPr>
        <p:spPr>
          <a:xfrm>
            <a:off x="10424160" y="2011680"/>
            <a:ext cx="1097280" cy="1097280"/>
          </a:xfrm>
          <a:prstGeom prst="ellipse">
            <a:avLst/>
          </a:prstGeom>
          <a:solidFill>
            <a:schemeClr val="accent1"/>
          </a:solidFill>
          <a:ln/>
        </p:spPr>
      </p:sp>
      <p:pic>
        <p:nvPicPr>
          <p:cNvPr id="8" name="Konstruk UTAUT ee ikon" descr="preencoded.png">    </p:cNvPr>
          <p:cNvPicPr>
            <a:picLocks noChangeAspect="1"/>
          </p:cNvPicPr>
          <p:nvPr/>
        </p:nvPicPr>
        <p:blipFill>
          <a:blip r:embed="rId2"/>
          <a:stretch>
            <a:fillRect/>
          </a:stretch>
        </p:blipFill>
        <p:spPr>
          <a:xfrm>
            <a:off x="10687507" y="2275027"/>
            <a:ext cx="570586" cy="570586"/>
          </a:xfrm>
          <a:prstGeom prst="rect">
            <a:avLst/>
          </a:prstGeom>
        </p:spPr>
      </p:pic>
      <p:sp>
        <p:nvSpPr>
          <p:cNvPr id="9" name="Konstruk UTAUT si lingkaran"/>
          <p:cNvSpPr/>
          <p:nvPr/>
        </p:nvSpPr>
        <p:spPr>
          <a:xfrm>
            <a:off x="9052560" y="3383280"/>
            <a:ext cx="1097280" cy="1097280"/>
          </a:xfrm>
          <a:prstGeom prst="ellipse">
            <a:avLst/>
          </a:prstGeom>
          <a:solidFill>
            <a:schemeClr val="accent1"/>
          </a:solidFill>
          <a:ln/>
        </p:spPr>
      </p:sp>
      <p:pic>
        <p:nvPicPr>
          <p:cNvPr id="10" name="Konstruk UTAUT si ikon" descr="preencoded.png">    </p:cNvPr>
          <p:cNvPicPr>
            <a:picLocks noChangeAspect="1"/>
          </p:cNvPicPr>
          <p:nvPr/>
        </p:nvPicPr>
        <p:blipFill>
          <a:blip r:embed="rId3"/>
          <a:stretch>
            <a:fillRect/>
          </a:stretch>
        </p:blipFill>
        <p:spPr>
          <a:xfrm>
            <a:off x="9315907" y="3646627"/>
            <a:ext cx="570586" cy="570586"/>
          </a:xfrm>
          <a:prstGeom prst="rect">
            <a:avLst/>
          </a:prstGeom>
        </p:spPr>
      </p:pic>
      <p:sp>
        <p:nvSpPr>
          <p:cNvPr id="11" name="Konstruk UTAUT fc lingkaran"/>
          <p:cNvSpPr/>
          <p:nvPr/>
        </p:nvSpPr>
        <p:spPr>
          <a:xfrm>
            <a:off x="10424160" y="3383280"/>
            <a:ext cx="1097280" cy="1097280"/>
          </a:xfrm>
          <a:prstGeom prst="ellipse">
            <a:avLst/>
          </a:prstGeom>
          <a:solidFill>
            <a:schemeClr val="accent1"/>
          </a:solidFill>
          <a:ln/>
        </p:spPr>
      </p:sp>
      <p:pic>
        <p:nvPicPr>
          <p:cNvPr id="12" name="Konstruk UTAUT fc ikon" descr="preencoded.png">    </p:cNvPr>
          <p:cNvPicPr>
            <a:picLocks noChangeAspect="1"/>
          </p:cNvPicPr>
          <p:nvPr/>
        </p:nvPicPr>
        <p:blipFill>
          <a:blip r:embed="rId4"/>
          <a:stretch>
            <a:fillRect/>
          </a:stretch>
        </p:blipFill>
        <p:spPr>
          <a:xfrm>
            <a:off x="10687507" y="3646627"/>
            <a:ext cx="570586" cy="570586"/>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PENGERTIAN UTAUT</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Apa itu UTAUT?</a:t>
            </a:r>
            <a:endParaRPr lang="en-US" sz="3400" dirty="0"/>
          </a:p>
        </p:txBody>
      </p:sp>
      <p:sp>
        <p:nvSpPr>
          <p:cNvPr id="4" name="Text 2"/>
          <p:cNvSpPr txBox="1"/>
          <p:nvPr/>
        </p:nvSpPr>
        <p:spPr>
          <a:xfrm>
            <a:off x="548640" y="1600200"/>
            <a:ext cx="11064240" cy="13716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Model yang menjelaskan </a:t>
            </a:r>
            <a:pPr indent="0" marL="0">
              <a:buNone/>
            </a:pPr>
            <a:r>
              <a:rPr lang="en-US" sz="3000" b="1" dirty="0">
                <a:solidFill>
                  <a:schemeClr val="accent1"/>
                </a:solidFill>
                <a:latin typeface="Cambria" pitchFamily="34" charset="0"/>
                <a:ea typeface="Cambria" pitchFamily="34" charset="-122"/>
                <a:cs typeface="Cambria" pitchFamily="34" charset="-120"/>
              </a:rPr>
              <a:t>mengapa seseorang berniat</a:t>
            </a:r>
            <a:pPr indent="0" marL="0">
              <a:buNone/>
            </a:pPr>
            <a:r>
              <a:rPr lang="en-US" sz="3000" dirty="0">
                <a:solidFill>
                  <a:schemeClr val="tx1"/>
                </a:solidFill>
                <a:latin typeface="Cambria" pitchFamily="34" charset="0"/>
                <a:ea typeface="Cambria" pitchFamily="34" charset="-122"/>
                <a:cs typeface="Cambria" pitchFamily="34" charset="-120"/>
              </a:rPr>
              <a:t> menggunakan teknologi, lalu </a:t>
            </a:r>
            <a:pPr indent="0" marL="0">
              <a:buNone/>
            </a:pPr>
            <a:r>
              <a:rPr lang="en-US" sz="3000" b="1" dirty="0">
                <a:solidFill>
                  <a:schemeClr val="accent1"/>
                </a:solidFill>
                <a:latin typeface="Cambria" pitchFamily="34" charset="0"/>
                <a:ea typeface="Cambria" pitchFamily="34" charset="-122"/>
                <a:cs typeface="Cambria" pitchFamily="34" charset="-120"/>
              </a:rPr>
              <a:t>benar-benar menggunakannya.</a:t>
            </a:r>
            <a:endParaRPr lang="en-US" sz="3000" dirty="0"/>
          </a:p>
        </p:txBody>
      </p:sp>
      <p:sp>
        <p:nvSpPr>
          <p:cNvPr id="5" name="Tile 2003"/>
          <p:cNvSpPr/>
          <p:nvPr/>
        </p:nvSpPr>
        <p:spPr>
          <a:xfrm>
            <a:off x="548640" y="3291840"/>
            <a:ext cx="3547872" cy="2743200"/>
          </a:xfrm>
          <a:prstGeom prst="roundRect">
            <a:avLst>
              <a:gd name="adj" fmla="val 4000"/>
            </a:avLst>
          </a:prstGeom>
          <a:solidFill>
            <a:schemeClr val="tx1"/>
          </a:solidFill>
          <a:ln/>
        </p:spPr>
      </p:sp>
      <p:sp>
        <p:nvSpPr>
          <p:cNvPr id="6" name="Text 4"/>
          <p:cNvSpPr txBox="1"/>
          <p:nvPr/>
        </p:nvSpPr>
        <p:spPr>
          <a:xfrm>
            <a:off x="868680" y="3566160"/>
            <a:ext cx="2907792"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2003</a:t>
            </a:r>
            <a:endParaRPr lang="en-US" sz="5400" dirty="0"/>
          </a:p>
        </p:txBody>
      </p:sp>
      <p:sp>
        <p:nvSpPr>
          <p:cNvPr id="7" name="Text 5"/>
          <p:cNvSpPr txBox="1"/>
          <p:nvPr/>
        </p:nvSpPr>
        <p:spPr>
          <a:xfrm>
            <a:off x="868680" y="4663440"/>
            <a:ext cx="2907792" cy="1188720"/>
          </a:xfrm>
          <a:prstGeom prst="rect">
            <a:avLst/>
          </a:prstGeom>
          <a:noFill/>
          <a:ln/>
        </p:spPr>
        <p:txBody>
          <a:bodyPr wrap="square" lIns="0" tIns="0" rIns="0" bIns="0" rtlCol="0" anchor="t"/>
          <a:lstStyle/>
          <a:p>
            <a:pPr indent="0" marL="0">
              <a:buNone/>
            </a:pPr>
            <a:r>
              <a:rPr lang="en-US" sz="1700" dirty="0">
                <a:solidFill>
                  <a:schemeClr val="bg2"/>
                </a:solidFill>
              </a:rPr>
              <a:t>Diperkenalkan Venkatesh, Morris, Davis &amp; Davis di MIS Quarterly</a:t>
            </a:r>
            <a:endParaRPr lang="en-US" sz="1700" dirty="0"/>
          </a:p>
        </p:txBody>
      </p:sp>
      <p:sp>
        <p:nvSpPr>
          <p:cNvPr id="8" name="Tile 8 → 1"/>
          <p:cNvSpPr/>
          <p:nvPr/>
        </p:nvSpPr>
        <p:spPr>
          <a:xfrm>
            <a:off x="4320540" y="3291840"/>
            <a:ext cx="3547872" cy="2743200"/>
          </a:xfrm>
          <a:prstGeom prst="roundRect">
            <a:avLst>
              <a:gd name="adj" fmla="val 4000"/>
            </a:avLst>
          </a:prstGeom>
          <a:solidFill>
            <a:schemeClr val="tx1"/>
          </a:solidFill>
          <a:ln/>
        </p:spPr>
      </p:sp>
      <p:sp>
        <p:nvSpPr>
          <p:cNvPr id="9" name="Text 7"/>
          <p:cNvSpPr txBox="1"/>
          <p:nvPr/>
        </p:nvSpPr>
        <p:spPr>
          <a:xfrm>
            <a:off x="4640580" y="3566160"/>
            <a:ext cx="2907792"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8 → 1</a:t>
            </a:r>
            <a:endParaRPr lang="en-US" sz="5400" dirty="0"/>
          </a:p>
        </p:txBody>
      </p:sp>
      <p:sp>
        <p:nvSpPr>
          <p:cNvPr id="10" name="Text 8"/>
          <p:cNvSpPr txBox="1"/>
          <p:nvPr/>
        </p:nvSpPr>
        <p:spPr>
          <a:xfrm>
            <a:off x="4640580" y="4663440"/>
            <a:ext cx="2907792" cy="1188720"/>
          </a:xfrm>
          <a:prstGeom prst="rect">
            <a:avLst/>
          </a:prstGeom>
          <a:noFill/>
          <a:ln/>
        </p:spPr>
        <p:txBody>
          <a:bodyPr wrap="square" lIns="0" tIns="0" rIns="0" bIns="0" rtlCol="0" anchor="t"/>
          <a:lstStyle/>
          <a:p>
            <a:pPr indent="0" marL="0">
              <a:buNone/>
            </a:pPr>
            <a:r>
              <a:rPr lang="en-US" sz="1700" dirty="0">
                <a:solidFill>
                  <a:schemeClr val="bg2"/>
                </a:solidFill>
              </a:rPr>
              <a:t>Delapan teori penerimaan teknologi disatukan menjadi satu model</a:t>
            </a:r>
            <a:endParaRPr lang="en-US" sz="1700" dirty="0"/>
          </a:p>
        </p:txBody>
      </p:sp>
      <p:sp>
        <p:nvSpPr>
          <p:cNvPr id="11" name="Tile ±70%"/>
          <p:cNvSpPr/>
          <p:nvPr/>
        </p:nvSpPr>
        <p:spPr>
          <a:xfrm>
            <a:off x="8092440" y="3291840"/>
            <a:ext cx="3547872" cy="2743200"/>
          </a:xfrm>
          <a:prstGeom prst="roundRect">
            <a:avLst>
              <a:gd name="adj" fmla="val 4000"/>
            </a:avLst>
          </a:prstGeom>
          <a:solidFill>
            <a:schemeClr val="tx1"/>
          </a:solidFill>
          <a:ln/>
        </p:spPr>
      </p:sp>
      <p:sp>
        <p:nvSpPr>
          <p:cNvPr id="12" name="Text 10"/>
          <p:cNvSpPr txBox="1"/>
          <p:nvPr/>
        </p:nvSpPr>
        <p:spPr>
          <a:xfrm>
            <a:off x="8412480" y="3566160"/>
            <a:ext cx="2907792"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±70%</a:t>
            </a:r>
            <a:endParaRPr lang="en-US" sz="5400" dirty="0"/>
          </a:p>
        </p:txBody>
      </p:sp>
      <p:sp>
        <p:nvSpPr>
          <p:cNvPr id="13" name="Text 11"/>
          <p:cNvSpPr txBox="1"/>
          <p:nvPr/>
        </p:nvSpPr>
        <p:spPr>
          <a:xfrm>
            <a:off x="8412480" y="4663440"/>
            <a:ext cx="2907792" cy="1188720"/>
          </a:xfrm>
          <a:prstGeom prst="rect">
            <a:avLst/>
          </a:prstGeom>
          <a:noFill/>
          <a:ln/>
        </p:spPr>
        <p:txBody>
          <a:bodyPr wrap="square" lIns="0" tIns="0" rIns="0" bIns="0" rtlCol="0" anchor="t"/>
          <a:lstStyle/>
          <a:p>
            <a:pPr indent="0" marL="0">
              <a:buNone/>
            </a:pPr>
            <a:r>
              <a:rPr lang="en-US" sz="1700" dirty="0">
                <a:solidFill>
                  <a:schemeClr val="bg2"/>
                </a:solidFill>
              </a:rPr>
              <a:t>Variasi niat menggunakan dapat dijelaskan (model lama: 17–53%)</a:t>
            </a:r>
            <a:endParaRPr lang="en-US" sz="17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MENGAPA DISEBUT “UNIFIED”</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Delapan teori, satu model</a:t>
            </a:r>
            <a:endParaRPr lang="en-US" sz="3400" dirty="0"/>
          </a:p>
        </p:txBody>
      </p:sp>
      <p:sp>
        <p:nvSpPr>
          <p:cNvPr id="4" name="Teori TRA"/>
          <p:cNvSpPr/>
          <p:nvPr/>
        </p:nvSpPr>
        <p:spPr>
          <a:xfrm>
            <a:off x="548640" y="1600200"/>
            <a:ext cx="4206240" cy="457200"/>
          </a:xfrm>
          <a:prstGeom prst="roundRect">
            <a:avLst>
              <a:gd name="adj" fmla="val 24000"/>
            </a:avLst>
          </a:prstGeom>
          <a:solidFill>
            <a:schemeClr val="bg2"/>
          </a:solidFill>
          <a:ln/>
        </p:spPr>
      </p:sp>
      <p:sp>
        <p:nvSpPr>
          <p:cNvPr id="5" name="Text 3"/>
          <p:cNvSpPr txBox="1"/>
          <p:nvPr/>
        </p:nvSpPr>
        <p:spPr>
          <a:xfrm>
            <a:off x="777240" y="1600200"/>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TRA</a:t>
            </a:r>
            <a:pPr indent="0" marL="0">
              <a:buNone/>
            </a:pPr>
            <a:r>
              <a:rPr lang="en-US" sz="1700" dirty="0">
                <a:solidFill>
                  <a:schemeClr val="accent6"/>
                </a:solidFill>
              </a:rPr>
              <a:t>   sikap &amp; norma</a:t>
            </a:r>
            <a:endParaRPr lang="en-US" sz="1700" dirty="0"/>
          </a:p>
        </p:txBody>
      </p:sp>
      <p:sp>
        <p:nvSpPr>
          <p:cNvPr id="6" name="Garis teori TRA"/>
          <p:cNvSpPr/>
          <p:nvPr/>
        </p:nvSpPr>
        <p:spPr>
          <a:xfrm>
            <a:off x="4754880" y="1828800"/>
            <a:ext cx="2743200" cy="2011680"/>
          </a:xfrm>
          <a:prstGeom prst="line">
            <a:avLst/>
          </a:prstGeom>
          <a:noFill/>
          <a:ln w="15875">
            <a:solidFill>
              <a:srgbClr val="C9C6E0"/>
            </a:solidFill>
            <a:prstDash val="solid"/>
          </a:ln>
        </p:spPr>
      </p:sp>
      <p:sp>
        <p:nvSpPr>
          <p:cNvPr id="7" name="Teori TAM"/>
          <p:cNvSpPr/>
          <p:nvPr/>
        </p:nvSpPr>
        <p:spPr>
          <a:xfrm>
            <a:off x="548640" y="2167128"/>
            <a:ext cx="4206240" cy="457200"/>
          </a:xfrm>
          <a:prstGeom prst="roundRect">
            <a:avLst>
              <a:gd name="adj" fmla="val 24000"/>
            </a:avLst>
          </a:prstGeom>
          <a:solidFill>
            <a:schemeClr val="bg2"/>
          </a:solidFill>
          <a:ln/>
        </p:spPr>
      </p:sp>
      <p:sp>
        <p:nvSpPr>
          <p:cNvPr id="8" name="Text 6"/>
          <p:cNvSpPr txBox="1"/>
          <p:nvPr/>
        </p:nvSpPr>
        <p:spPr>
          <a:xfrm>
            <a:off x="777240" y="2167128"/>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TAM</a:t>
            </a:r>
            <a:pPr indent="0" marL="0">
              <a:buNone/>
            </a:pPr>
            <a:r>
              <a:rPr lang="en-US" sz="1700" dirty="0">
                <a:solidFill>
                  <a:schemeClr val="accent6"/>
                </a:solidFill>
              </a:rPr>
              <a:t>   manfaat &amp; kemudahan</a:t>
            </a:r>
            <a:endParaRPr lang="en-US" sz="1700" dirty="0"/>
          </a:p>
        </p:txBody>
      </p:sp>
      <p:sp>
        <p:nvSpPr>
          <p:cNvPr id="9" name="Garis teori TAM"/>
          <p:cNvSpPr/>
          <p:nvPr/>
        </p:nvSpPr>
        <p:spPr>
          <a:xfrm>
            <a:off x="4754880" y="2395728"/>
            <a:ext cx="2743200" cy="1444752"/>
          </a:xfrm>
          <a:prstGeom prst="line">
            <a:avLst/>
          </a:prstGeom>
          <a:noFill/>
          <a:ln w="15875">
            <a:solidFill>
              <a:srgbClr val="C9C6E0"/>
            </a:solidFill>
            <a:prstDash val="solid"/>
          </a:ln>
        </p:spPr>
      </p:sp>
      <p:sp>
        <p:nvSpPr>
          <p:cNvPr id="10" name="Teori MM"/>
          <p:cNvSpPr/>
          <p:nvPr/>
        </p:nvSpPr>
        <p:spPr>
          <a:xfrm>
            <a:off x="548640" y="2734056"/>
            <a:ext cx="4206240" cy="457200"/>
          </a:xfrm>
          <a:prstGeom prst="roundRect">
            <a:avLst>
              <a:gd name="adj" fmla="val 24000"/>
            </a:avLst>
          </a:prstGeom>
          <a:solidFill>
            <a:schemeClr val="bg2"/>
          </a:solidFill>
          <a:ln/>
        </p:spPr>
      </p:sp>
      <p:sp>
        <p:nvSpPr>
          <p:cNvPr id="11" name="Text 9"/>
          <p:cNvSpPr txBox="1"/>
          <p:nvPr/>
        </p:nvSpPr>
        <p:spPr>
          <a:xfrm>
            <a:off x="777240" y="2734056"/>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MM</a:t>
            </a:r>
            <a:pPr indent="0" marL="0">
              <a:buNone/>
            </a:pPr>
            <a:r>
              <a:rPr lang="en-US" sz="1700" dirty="0">
                <a:solidFill>
                  <a:schemeClr val="accent6"/>
                </a:solidFill>
              </a:rPr>
              <a:t>   motivasi</a:t>
            </a:r>
            <a:endParaRPr lang="en-US" sz="1700" dirty="0"/>
          </a:p>
        </p:txBody>
      </p:sp>
      <p:sp>
        <p:nvSpPr>
          <p:cNvPr id="12" name="Garis teori MM"/>
          <p:cNvSpPr/>
          <p:nvPr/>
        </p:nvSpPr>
        <p:spPr>
          <a:xfrm>
            <a:off x="4754880" y="2962656"/>
            <a:ext cx="2743200" cy="877824"/>
          </a:xfrm>
          <a:prstGeom prst="line">
            <a:avLst/>
          </a:prstGeom>
          <a:noFill/>
          <a:ln w="15875">
            <a:solidFill>
              <a:srgbClr val="C9C6E0"/>
            </a:solidFill>
            <a:prstDash val="solid"/>
          </a:ln>
        </p:spPr>
      </p:sp>
      <p:sp>
        <p:nvSpPr>
          <p:cNvPr id="13" name="Teori TPB"/>
          <p:cNvSpPr/>
          <p:nvPr/>
        </p:nvSpPr>
        <p:spPr>
          <a:xfrm>
            <a:off x="548640" y="3300984"/>
            <a:ext cx="4206240" cy="457200"/>
          </a:xfrm>
          <a:prstGeom prst="roundRect">
            <a:avLst>
              <a:gd name="adj" fmla="val 24000"/>
            </a:avLst>
          </a:prstGeom>
          <a:solidFill>
            <a:schemeClr val="bg2"/>
          </a:solidFill>
          <a:ln/>
        </p:spPr>
      </p:sp>
      <p:sp>
        <p:nvSpPr>
          <p:cNvPr id="14" name="Text 12"/>
          <p:cNvSpPr txBox="1"/>
          <p:nvPr/>
        </p:nvSpPr>
        <p:spPr>
          <a:xfrm>
            <a:off x="777240" y="3300984"/>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TPB</a:t>
            </a:r>
            <a:pPr indent="0" marL="0">
              <a:buNone/>
            </a:pPr>
            <a:r>
              <a:rPr lang="en-US" sz="1700" dirty="0">
                <a:solidFill>
                  <a:schemeClr val="accent6"/>
                </a:solidFill>
              </a:rPr>
              <a:t>   kontrol perilaku</a:t>
            </a:r>
            <a:endParaRPr lang="en-US" sz="1700" dirty="0"/>
          </a:p>
        </p:txBody>
      </p:sp>
      <p:sp>
        <p:nvSpPr>
          <p:cNvPr id="15" name="Garis teori TPB"/>
          <p:cNvSpPr/>
          <p:nvPr/>
        </p:nvSpPr>
        <p:spPr>
          <a:xfrm>
            <a:off x="4754880" y="3529584"/>
            <a:ext cx="2743200" cy="310896"/>
          </a:xfrm>
          <a:prstGeom prst="line">
            <a:avLst/>
          </a:prstGeom>
          <a:noFill/>
          <a:ln w="15875">
            <a:solidFill>
              <a:srgbClr val="C9C6E0"/>
            </a:solidFill>
            <a:prstDash val="solid"/>
          </a:ln>
        </p:spPr>
      </p:sp>
      <p:sp>
        <p:nvSpPr>
          <p:cNvPr id="16" name="Teori C-TAM-TPB"/>
          <p:cNvSpPr/>
          <p:nvPr/>
        </p:nvSpPr>
        <p:spPr>
          <a:xfrm>
            <a:off x="548640" y="3867912"/>
            <a:ext cx="4206240" cy="457200"/>
          </a:xfrm>
          <a:prstGeom prst="roundRect">
            <a:avLst>
              <a:gd name="adj" fmla="val 24000"/>
            </a:avLst>
          </a:prstGeom>
          <a:solidFill>
            <a:schemeClr val="bg2"/>
          </a:solidFill>
          <a:ln/>
        </p:spPr>
      </p:sp>
      <p:sp>
        <p:nvSpPr>
          <p:cNvPr id="17" name="Text 15"/>
          <p:cNvSpPr txBox="1"/>
          <p:nvPr/>
        </p:nvSpPr>
        <p:spPr>
          <a:xfrm>
            <a:off x="777240" y="3867912"/>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C-TAM-TPB</a:t>
            </a:r>
            <a:pPr indent="0" marL="0">
              <a:buNone/>
            </a:pPr>
            <a:r>
              <a:rPr lang="en-US" sz="1700" dirty="0">
                <a:solidFill>
                  <a:schemeClr val="accent6"/>
                </a:solidFill>
              </a:rPr>
              <a:t>   gabungan TAM + TPB</a:t>
            </a:r>
            <a:endParaRPr lang="en-US" sz="1700" dirty="0"/>
          </a:p>
        </p:txBody>
      </p:sp>
      <p:sp>
        <p:nvSpPr>
          <p:cNvPr id="18" name="Garis teori C-TAM-TPB"/>
          <p:cNvSpPr/>
          <p:nvPr/>
        </p:nvSpPr>
        <p:spPr>
          <a:xfrm flipV="1">
            <a:off x="4754880" y="3840480"/>
            <a:ext cx="2743200" cy="256032"/>
          </a:xfrm>
          <a:prstGeom prst="line">
            <a:avLst/>
          </a:prstGeom>
          <a:noFill/>
          <a:ln w="15875">
            <a:solidFill>
              <a:srgbClr val="C9C6E0"/>
            </a:solidFill>
            <a:prstDash val="solid"/>
          </a:ln>
        </p:spPr>
      </p:sp>
      <p:sp>
        <p:nvSpPr>
          <p:cNvPr id="19" name="Teori MPCU"/>
          <p:cNvSpPr/>
          <p:nvPr/>
        </p:nvSpPr>
        <p:spPr>
          <a:xfrm>
            <a:off x="548640" y="4434840"/>
            <a:ext cx="4206240" cy="457200"/>
          </a:xfrm>
          <a:prstGeom prst="roundRect">
            <a:avLst>
              <a:gd name="adj" fmla="val 24000"/>
            </a:avLst>
          </a:prstGeom>
          <a:solidFill>
            <a:schemeClr val="bg2"/>
          </a:solidFill>
          <a:ln/>
        </p:spPr>
      </p:sp>
      <p:sp>
        <p:nvSpPr>
          <p:cNvPr id="20" name="Text 18"/>
          <p:cNvSpPr txBox="1"/>
          <p:nvPr/>
        </p:nvSpPr>
        <p:spPr>
          <a:xfrm>
            <a:off x="777240" y="4434840"/>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MPCU</a:t>
            </a:r>
            <a:pPr indent="0" marL="0">
              <a:buNone/>
            </a:pPr>
            <a:r>
              <a:rPr lang="en-US" sz="1700" dirty="0">
                <a:solidFill>
                  <a:schemeClr val="accent6"/>
                </a:solidFill>
              </a:rPr>
              <a:t>   penggunaan PC</a:t>
            </a:r>
            <a:endParaRPr lang="en-US" sz="1700" dirty="0"/>
          </a:p>
        </p:txBody>
      </p:sp>
      <p:sp>
        <p:nvSpPr>
          <p:cNvPr id="21" name="Garis teori MPCU"/>
          <p:cNvSpPr/>
          <p:nvPr/>
        </p:nvSpPr>
        <p:spPr>
          <a:xfrm flipV="1">
            <a:off x="4754880" y="3840480"/>
            <a:ext cx="2743200" cy="822960"/>
          </a:xfrm>
          <a:prstGeom prst="line">
            <a:avLst/>
          </a:prstGeom>
          <a:noFill/>
          <a:ln w="15875">
            <a:solidFill>
              <a:srgbClr val="C9C6E0"/>
            </a:solidFill>
            <a:prstDash val="solid"/>
          </a:ln>
        </p:spPr>
      </p:sp>
      <p:sp>
        <p:nvSpPr>
          <p:cNvPr id="22" name="Teori IDT"/>
          <p:cNvSpPr/>
          <p:nvPr/>
        </p:nvSpPr>
        <p:spPr>
          <a:xfrm>
            <a:off x="548640" y="5001768"/>
            <a:ext cx="4206240" cy="457200"/>
          </a:xfrm>
          <a:prstGeom prst="roundRect">
            <a:avLst>
              <a:gd name="adj" fmla="val 24000"/>
            </a:avLst>
          </a:prstGeom>
          <a:solidFill>
            <a:schemeClr val="bg2"/>
          </a:solidFill>
          <a:ln/>
        </p:spPr>
      </p:sp>
      <p:sp>
        <p:nvSpPr>
          <p:cNvPr id="23" name="Text 21"/>
          <p:cNvSpPr txBox="1"/>
          <p:nvPr/>
        </p:nvSpPr>
        <p:spPr>
          <a:xfrm>
            <a:off x="777240" y="5001768"/>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IDT</a:t>
            </a:r>
            <a:pPr indent="0" marL="0">
              <a:buNone/>
            </a:pPr>
            <a:r>
              <a:rPr lang="en-US" sz="1700" dirty="0">
                <a:solidFill>
                  <a:schemeClr val="accent6"/>
                </a:solidFill>
              </a:rPr>
              <a:t>   difusi inovasi</a:t>
            </a:r>
            <a:endParaRPr lang="en-US" sz="1700" dirty="0"/>
          </a:p>
        </p:txBody>
      </p:sp>
      <p:sp>
        <p:nvSpPr>
          <p:cNvPr id="24" name="Garis teori IDT"/>
          <p:cNvSpPr/>
          <p:nvPr/>
        </p:nvSpPr>
        <p:spPr>
          <a:xfrm flipV="1">
            <a:off x="4754880" y="3840480"/>
            <a:ext cx="2743200" cy="1389888"/>
          </a:xfrm>
          <a:prstGeom prst="line">
            <a:avLst/>
          </a:prstGeom>
          <a:noFill/>
          <a:ln w="15875">
            <a:solidFill>
              <a:srgbClr val="C9C6E0"/>
            </a:solidFill>
            <a:prstDash val="solid"/>
          </a:ln>
        </p:spPr>
      </p:sp>
      <p:sp>
        <p:nvSpPr>
          <p:cNvPr id="25" name="Teori SCT"/>
          <p:cNvSpPr/>
          <p:nvPr/>
        </p:nvSpPr>
        <p:spPr>
          <a:xfrm>
            <a:off x="548640" y="5568696"/>
            <a:ext cx="4206240" cy="457200"/>
          </a:xfrm>
          <a:prstGeom prst="roundRect">
            <a:avLst>
              <a:gd name="adj" fmla="val 24000"/>
            </a:avLst>
          </a:prstGeom>
          <a:solidFill>
            <a:schemeClr val="bg2"/>
          </a:solidFill>
          <a:ln/>
        </p:spPr>
      </p:sp>
      <p:sp>
        <p:nvSpPr>
          <p:cNvPr id="26" name="Text 24"/>
          <p:cNvSpPr txBox="1"/>
          <p:nvPr/>
        </p:nvSpPr>
        <p:spPr>
          <a:xfrm>
            <a:off x="777240" y="5568696"/>
            <a:ext cx="3840480" cy="457200"/>
          </a:xfrm>
          <a:prstGeom prst="rect">
            <a:avLst/>
          </a:prstGeom>
          <a:noFill/>
          <a:ln/>
        </p:spPr>
        <p:txBody>
          <a:bodyPr wrap="square" lIns="0" tIns="0" rIns="0" bIns="0" rtlCol="0" anchor="ctr"/>
          <a:lstStyle/>
          <a:p>
            <a:pPr indent="0" marL="0">
              <a:buNone/>
            </a:pPr>
            <a:r>
              <a:rPr lang="en-US" sz="1700" b="1" dirty="0">
                <a:solidFill>
                  <a:schemeClr val="tx2"/>
                </a:solidFill>
              </a:rPr>
              <a:t>SCT</a:t>
            </a:r>
            <a:pPr indent="0" marL="0">
              <a:buNone/>
            </a:pPr>
            <a:r>
              <a:rPr lang="en-US" sz="1700" dirty="0">
                <a:solidFill>
                  <a:schemeClr val="accent6"/>
                </a:solidFill>
              </a:rPr>
              <a:t>   self-efficacy</a:t>
            </a:r>
            <a:endParaRPr lang="en-US" sz="1700" dirty="0"/>
          </a:p>
        </p:txBody>
      </p:sp>
      <p:sp>
        <p:nvSpPr>
          <p:cNvPr id="27" name="Garis teori SCT"/>
          <p:cNvSpPr/>
          <p:nvPr/>
        </p:nvSpPr>
        <p:spPr>
          <a:xfrm flipV="1">
            <a:off x="4754880" y="3840480"/>
            <a:ext cx="2743200" cy="1956816"/>
          </a:xfrm>
          <a:prstGeom prst="line">
            <a:avLst/>
          </a:prstGeom>
          <a:noFill/>
          <a:ln w="15875">
            <a:solidFill>
              <a:srgbClr val="C9C6E0"/>
            </a:solidFill>
            <a:prstDash val="solid"/>
          </a:ln>
        </p:spPr>
      </p:sp>
      <p:sp>
        <p:nvSpPr>
          <p:cNvPr id="28" name="Kotak UTAUT"/>
          <p:cNvSpPr/>
          <p:nvPr/>
        </p:nvSpPr>
        <p:spPr>
          <a:xfrm>
            <a:off x="7498080" y="2606040"/>
            <a:ext cx="4142232" cy="2468880"/>
          </a:xfrm>
          <a:prstGeom prst="roundRect">
            <a:avLst>
              <a:gd name="adj" fmla="val 4444"/>
            </a:avLst>
          </a:prstGeom>
          <a:solidFill>
            <a:schemeClr val="accent1"/>
          </a:solidFill>
          <a:ln/>
          <a:effectLst>
            <a:outerShdw sx="100000" sy="100000" kx="0" ky="0" algn="bl" rotWithShape="0" blurRad="101600" dist="25400" dir="5400000">
              <a:srgbClr val="1C1A33">
                <a:alpha val="14000"/>
              </a:srgbClr>
            </a:outerShdw>
          </a:effectLst>
        </p:spPr>
      </p:sp>
      <p:sp>
        <p:nvSpPr>
          <p:cNvPr id="29" name="Text 27"/>
          <p:cNvSpPr txBox="1"/>
          <p:nvPr/>
        </p:nvSpPr>
        <p:spPr>
          <a:xfrm>
            <a:off x="7772400" y="2788920"/>
            <a:ext cx="3566160" cy="82296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UTAUT</a:t>
            </a:r>
            <a:endParaRPr lang="en-US" sz="4400" dirty="0"/>
          </a:p>
        </p:txBody>
      </p:sp>
      <p:sp>
        <p:nvSpPr>
          <p:cNvPr id="30" name="Text 28"/>
          <p:cNvSpPr txBox="1"/>
          <p:nvPr/>
        </p:nvSpPr>
        <p:spPr>
          <a:xfrm>
            <a:off x="7772400" y="3657600"/>
            <a:ext cx="3566160" cy="1188720"/>
          </a:xfrm>
          <a:prstGeom prst="rect">
            <a:avLst/>
          </a:prstGeom>
          <a:noFill/>
          <a:ln/>
        </p:spPr>
        <p:txBody>
          <a:bodyPr wrap="square" lIns="0" tIns="0" rIns="0" bIns="0" rtlCol="0" anchor="t"/>
          <a:lstStyle/>
          <a:p>
            <a:pPr indent="0" marL="0">
              <a:buNone/>
            </a:pPr>
            <a:r>
              <a:rPr lang="en-US" sz="2400" b="1" dirty="0">
                <a:solidFill>
                  <a:schemeClr val="bg1"/>
                </a:solidFill>
              </a:rPr>
              <a:t>4 konstruk inti</a:t>
            </a:r>
            <a:endParaRPr lang="en-US" sz="2400" dirty="0"/>
          </a:p>
          <a:p>
            <a:pPr indent="0" marL="0">
              <a:buNone/>
            </a:pPr>
            <a:r>
              <a:rPr lang="en-US" sz="2400" b="1" dirty="0">
                <a:solidFill>
                  <a:schemeClr val="bg1"/>
                </a:solidFill>
              </a:rPr>
              <a:t>+ 4 moderator</a:t>
            </a:r>
            <a:endParaRPr lang="en-US" sz="2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STRUKTUR DASAR</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Model UTAUT</a:t>
            </a:r>
            <a:endParaRPr lang="en-US" sz="3400" dirty="0"/>
          </a:p>
        </p:txBody>
      </p:sp>
      <p:sp>
        <p:nvSpPr>
          <p:cNvPr id="4" name="Performance Expectancy"/>
          <p:cNvSpPr/>
          <p:nvPr/>
        </p:nvSpPr>
        <p:spPr>
          <a:xfrm>
            <a:off x="548640" y="1600200"/>
            <a:ext cx="3291840" cy="731520"/>
          </a:xfrm>
          <a:prstGeom prst="roundRect">
            <a:avLst>
              <a:gd name="adj" fmla="val 15000"/>
            </a:avLst>
          </a:prstGeom>
          <a:solidFill>
            <a:schemeClr val="accent1"/>
          </a:solidFill>
          <a:ln/>
          <a:effectLst>
            <a:outerShdw sx="100000" sy="100000" kx="0" ky="0" algn="bl" rotWithShape="0" blurRad="101600" dist="25400" dir="5400000">
              <a:srgbClr val="1C1A33">
                <a:alpha val="14000"/>
              </a:srgbClr>
            </a:outerShdw>
          </a:effectLst>
        </p:spPr>
      </p:sp>
      <p:pic>
        <p:nvPicPr>
          <p:cNvPr id="5" name="Performance Expectancy ikon" descr="preencoded.png">    </p:cNvPr>
          <p:cNvPicPr>
            <a:picLocks noChangeAspect="1"/>
          </p:cNvPicPr>
          <p:nvPr/>
        </p:nvPicPr>
        <p:blipFill>
          <a:blip r:embed="rId1"/>
          <a:stretch>
            <a:fillRect/>
          </a:stretch>
        </p:blipFill>
        <p:spPr>
          <a:xfrm>
            <a:off x="777240" y="1783080"/>
            <a:ext cx="365760" cy="365760"/>
          </a:xfrm>
          <a:prstGeom prst="rect">
            <a:avLst/>
          </a:prstGeom>
        </p:spPr>
      </p:pic>
      <p:sp>
        <p:nvSpPr>
          <p:cNvPr id="6" name="Text 3"/>
          <p:cNvSpPr txBox="1"/>
          <p:nvPr/>
        </p:nvSpPr>
        <p:spPr>
          <a:xfrm>
            <a:off x="1325880" y="1600200"/>
            <a:ext cx="2377440" cy="731520"/>
          </a:xfrm>
          <a:prstGeom prst="rect">
            <a:avLst/>
          </a:prstGeom>
          <a:noFill/>
          <a:ln/>
        </p:spPr>
        <p:txBody>
          <a:bodyPr wrap="square" lIns="0" tIns="0" rIns="0" bIns="0" rtlCol="0" anchor="ctr"/>
          <a:lstStyle/>
          <a:p>
            <a:pPr indent="0" marL="0">
              <a:buNone/>
            </a:pPr>
            <a:r>
              <a:rPr lang="en-US" sz="1600" b="1" dirty="0">
                <a:solidFill>
                  <a:schemeClr val="bg1"/>
                </a:solidFill>
              </a:rPr>
              <a:t>Performance Expectancy</a:t>
            </a:r>
            <a:endParaRPr lang="en-US" sz="1600" dirty="0"/>
          </a:p>
        </p:txBody>
      </p:sp>
      <p:sp>
        <p:nvSpPr>
          <p:cNvPr id="7" name="Effort Expectancy"/>
          <p:cNvSpPr/>
          <p:nvPr/>
        </p:nvSpPr>
        <p:spPr>
          <a:xfrm>
            <a:off x="548640" y="2606040"/>
            <a:ext cx="3291840" cy="731520"/>
          </a:xfrm>
          <a:prstGeom prst="roundRect">
            <a:avLst>
              <a:gd name="adj" fmla="val 15000"/>
            </a:avLst>
          </a:prstGeom>
          <a:solidFill>
            <a:schemeClr val="accent1"/>
          </a:solidFill>
          <a:ln/>
          <a:effectLst>
            <a:outerShdw sx="100000" sy="100000" kx="0" ky="0" algn="bl" rotWithShape="0" blurRad="101600" dist="25400" dir="5400000">
              <a:srgbClr val="1C1A33">
                <a:alpha val="14000"/>
              </a:srgbClr>
            </a:outerShdw>
          </a:effectLst>
        </p:spPr>
      </p:sp>
      <p:pic>
        <p:nvPicPr>
          <p:cNvPr id="8" name="Effort Expectancy ikon" descr="preencoded.png">    </p:cNvPr>
          <p:cNvPicPr>
            <a:picLocks noChangeAspect="1"/>
          </p:cNvPicPr>
          <p:nvPr/>
        </p:nvPicPr>
        <p:blipFill>
          <a:blip r:embed="rId2"/>
          <a:stretch>
            <a:fillRect/>
          </a:stretch>
        </p:blipFill>
        <p:spPr>
          <a:xfrm>
            <a:off x="777240" y="2788920"/>
            <a:ext cx="365760" cy="365760"/>
          </a:xfrm>
          <a:prstGeom prst="rect">
            <a:avLst/>
          </a:prstGeom>
        </p:spPr>
      </p:pic>
      <p:sp>
        <p:nvSpPr>
          <p:cNvPr id="9" name="Text 5"/>
          <p:cNvSpPr txBox="1"/>
          <p:nvPr/>
        </p:nvSpPr>
        <p:spPr>
          <a:xfrm>
            <a:off x="1325880" y="2606040"/>
            <a:ext cx="2377440" cy="731520"/>
          </a:xfrm>
          <a:prstGeom prst="rect">
            <a:avLst/>
          </a:prstGeom>
          <a:noFill/>
          <a:ln/>
        </p:spPr>
        <p:txBody>
          <a:bodyPr wrap="square" lIns="0" tIns="0" rIns="0" bIns="0" rtlCol="0" anchor="ctr"/>
          <a:lstStyle/>
          <a:p>
            <a:pPr indent="0" marL="0">
              <a:buNone/>
            </a:pPr>
            <a:r>
              <a:rPr lang="en-US" sz="1600" b="1" dirty="0">
                <a:solidFill>
                  <a:schemeClr val="bg1"/>
                </a:solidFill>
              </a:rPr>
              <a:t>Effort Expectancy</a:t>
            </a:r>
            <a:endParaRPr lang="en-US" sz="1600" dirty="0"/>
          </a:p>
        </p:txBody>
      </p:sp>
      <p:sp>
        <p:nvSpPr>
          <p:cNvPr id="10" name="Social Influence"/>
          <p:cNvSpPr/>
          <p:nvPr/>
        </p:nvSpPr>
        <p:spPr>
          <a:xfrm>
            <a:off x="548640" y="3611880"/>
            <a:ext cx="3291840" cy="731520"/>
          </a:xfrm>
          <a:prstGeom prst="roundRect">
            <a:avLst>
              <a:gd name="adj" fmla="val 15000"/>
            </a:avLst>
          </a:prstGeom>
          <a:solidFill>
            <a:schemeClr val="accent1"/>
          </a:solidFill>
          <a:ln/>
          <a:effectLst>
            <a:outerShdw sx="100000" sy="100000" kx="0" ky="0" algn="bl" rotWithShape="0" blurRad="101600" dist="25400" dir="5400000">
              <a:srgbClr val="1C1A33">
                <a:alpha val="14000"/>
              </a:srgbClr>
            </a:outerShdw>
          </a:effectLst>
        </p:spPr>
      </p:sp>
      <p:pic>
        <p:nvPicPr>
          <p:cNvPr id="11" name="Social Influence ikon" descr="preencoded.png">    </p:cNvPr>
          <p:cNvPicPr>
            <a:picLocks noChangeAspect="1"/>
          </p:cNvPicPr>
          <p:nvPr/>
        </p:nvPicPr>
        <p:blipFill>
          <a:blip r:embed="rId3"/>
          <a:stretch>
            <a:fillRect/>
          </a:stretch>
        </p:blipFill>
        <p:spPr>
          <a:xfrm>
            <a:off x="777240" y="3794760"/>
            <a:ext cx="365760" cy="365760"/>
          </a:xfrm>
          <a:prstGeom prst="rect">
            <a:avLst/>
          </a:prstGeom>
        </p:spPr>
      </p:pic>
      <p:sp>
        <p:nvSpPr>
          <p:cNvPr id="12" name="Text 7"/>
          <p:cNvSpPr txBox="1"/>
          <p:nvPr/>
        </p:nvSpPr>
        <p:spPr>
          <a:xfrm>
            <a:off x="1325880" y="3611880"/>
            <a:ext cx="2377440" cy="731520"/>
          </a:xfrm>
          <a:prstGeom prst="rect">
            <a:avLst/>
          </a:prstGeom>
          <a:noFill/>
          <a:ln/>
        </p:spPr>
        <p:txBody>
          <a:bodyPr wrap="square" lIns="0" tIns="0" rIns="0" bIns="0" rtlCol="0" anchor="ctr"/>
          <a:lstStyle/>
          <a:p>
            <a:pPr indent="0" marL="0">
              <a:buNone/>
            </a:pPr>
            <a:r>
              <a:rPr lang="en-US" sz="1600" b="1" dirty="0">
                <a:solidFill>
                  <a:schemeClr val="bg1"/>
                </a:solidFill>
              </a:rPr>
              <a:t>Social Influence</a:t>
            </a:r>
            <a:endParaRPr lang="en-US" sz="1600" dirty="0"/>
          </a:p>
        </p:txBody>
      </p:sp>
      <p:sp>
        <p:nvSpPr>
          <p:cNvPr id="13" name="Facilitating Conditions"/>
          <p:cNvSpPr/>
          <p:nvPr/>
        </p:nvSpPr>
        <p:spPr>
          <a:xfrm>
            <a:off x="548640" y="4617720"/>
            <a:ext cx="3291840" cy="731520"/>
          </a:xfrm>
          <a:prstGeom prst="roundRect">
            <a:avLst>
              <a:gd name="adj" fmla="val 15000"/>
            </a:avLst>
          </a:prstGeom>
          <a:solidFill>
            <a:schemeClr val="accent1"/>
          </a:solidFill>
          <a:ln/>
          <a:effectLst>
            <a:outerShdw sx="100000" sy="100000" kx="0" ky="0" algn="bl" rotWithShape="0" blurRad="101600" dist="25400" dir="5400000">
              <a:srgbClr val="1C1A33">
                <a:alpha val="14000"/>
              </a:srgbClr>
            </a:outerShdw>
          </a:effectLst>
        </p:spPr>
      </p:sp>
      <p:pic>
        <p:nvPicPr>
          <p:cNvPr id="14" name="Facilitating Conditions ikon" descr="preencoded.png">    </p:cNvPr>
          <p:cNvPicPr>
            <a:picLocks noChangeAspect="1"/>
          </p:cNvPicPr>
          <p:nvPr/>
        </p:nvPicPr>
        <p:blipFill>
          <a:blip r:embed="rId4"/>
          <a:stretch>
            <a:fillRect/>
          </a:stretch>
        </p:blipFill>
        <p:spPr>
          <a:xfrm>
            <a:off x="777240" y="4800600"/>
            <a:ext cx="365760" cy="365760"/>
          </a:xfrm>
          <a:prstGeom prst="rect">
            <a:avLst/>
          </a:prstGeom>
        </p:spPr>
      </p:pic>
      <p:sp>
        <p:nvSpPr>
          <p:cNvPr id="15" name="Text 9"/>
          <p:cNvSpPr txBox="1"/>
          <p:nvPr/>
        </p:nvSpPr>
        <p:spPr>
          <a:xfrm>
            <a:off x="1325880" y="4617720"/>
            <a:ext cx="2377440" cy="731520"/>
          </a:xfrm>
          <a:prstGeom prst="rect">
            <a:avLst/>
          </a:prstGeom>
          <a:noFill/>
          <a:ln/>
        </p:spPr>
        <p:txBody>
          <a:bodyPr wrap="square" lIns="0" tIns="0" rIns="0" bIns="0" rtlCol="0" anchor="ctr"/>
          <a:lstStyle/>
          <a:p>
            <a:pPr indent="0" marL="0">
              <a:buNone/>
            </a:pPr>
            <a:r>
              <a:rPr lang="en-US" sz="1600" b="1" dirty="0">
                <a:solidFill>
                  <a:schemeClr val="bg1"/>
                </a:solidFill>
              </a:rPr>
              <a:t>Facilitating Conditions</a:t>
            </a:r>
            <a:endParaRPr lang="en-US" sz="1600" dirty="0"/>
          </a:p>
        </p:txBody>
      </p:sp>
      <p:sp>
        <p:nvSpPr>
          <p:cNvPr id="16" name="Behavioral Intention"/>
          <p:cNvSpPr/>
          <p:nvPr/>
        </p:nvSpPr>
        <p:spPr>
          <a:xfrm>
            <a:off x="5394960" y="2743200"/>
            <a:ext cx="2560320" cy="1005840"/>
          </a:xfrm>
          <a:prstGeom prst="roundRect">
            <a:avLst>
              <a:gd name="adj" fmla="val 10909"/>
            </a:avLst>
          </a:prstGeom>
          <a:solidFill>
            <a:schemeClr val="tx2"/>
          </a:solidFill>
          <a:ln/>
          <a:effectLst>
            <a:outerShdw sx="100000" sy="100000" kx="0" ky="0" algn="bl" rotWithShape="0" blurRad="101600" dist="25400" dir="5400000">
              <a:srgbClr val="1C1A33">
                <a:alpha val="14000"/>
              </a:srgbClr>
            </a:outerShdw>
          </a:effectLst>
        </p:spPr>
      </p:sp>
      <p:sp>
        <p:nvSpPr>
          <p:cNvPr id="17" name="Text 11"/>
          <p:cNvSpPr txBox="1"/>
          <p:nvPr/>
        </p:nvSpPr>
        <p:spPr>
          <a:xfrm>
            <a:off x="5577840" y="2880360"/>
            <a:ext cx="2194560" cy="411480"/>
          </a:xfrm>
          <a:prstGeom prst="rect">
            <a:avLst/>
          </a:prstGeom>
          <a:noFill/>
          <a:ln/>
        </p:spPr>
        <p:txBody>
          <a:bodyPr wrap="square" lIns="0" tIns="0" rIns="0" bIns="0" rtlCol="0" anchor="t"/>
          <a:lstStyle/>
          <a:p>
            <a:pPr algn="ctr" indent="0" marL="0">
              <a:buNone/>
            </a:pPr>
            <a:r>
              <a:rPr lang="en-US" sz="1700" b="1" dirty="0">
                <a:solidFill>
                  <a:schemeClr val="bg1"/>
                </a:solidFill>
              </a:rPr>
              <a:t>Behavioral Intention</a:t>
            </a:r>
            <a:endParaRPr lang="en-US" sz="1700" dirty="0"/>
          </a:p>
        </p:txBody>
      </p:sp>
      <p:sp>
        <p:nvSpPr>
          <p:cNvPr id="18" name="Text 12"/>
          <p:cNvSpPr txBox="1"/>
          <p:nvPr/>
        </p:nvSpPr>
        <p:spPr>
          <a:xfrm>
            <a:off x="5577840" y="3291840"/>
            <a:ext cx="2194560" cy="320040"/>
          </a:xfrm>
          <a:prstGeom prst="rect">
            <a:avLst/>
          </a:prstGeom>
          <a:noFill/>
          <a:ln/>
        </p:spPr>
        <p:txBody>
          <a:bodyPr wrap="square" lIns="0" tIns="0" rIns="0" bIns="0" rtlCol="0" anchor="t"/>
          <a:lstStyle/>
          <a:p>
            <a:pPr algn="ctr" indent="0" marL="0">
              <a:buNone/>
            </a:pPr>
            <a:r>
              <a:rPr lang="en-US" sz="1400" dirty="0">
                <a:solidFill>
                  <a:schemeClr val="bg2"/>
                </a:solidFill>
              </a:rPr>
              <a:t>Niat menggunakan</a:t>
            </a:r>
            <a:endParaRPr lang="en-US" sz="1400" dirty="0"/>
          </a:p>
        </p:txBody>
      </p:sp>
      <p:sp>
        <p:nvSpPr>
          <p:cNvPr id="19" name="Use Behavior"/>
          <p:cNvSpPr/>
          <p:nvPr/>
        </p:nvSpPr>
        <p:spPr>
          <a:xfrm>
            <a:off x="9052560" y="2743200"/>
            <a:ext cx="2560320" cy="1005840"/>
          </a:xfrm>
          <a:prstGeom prst="roundRect">
            <a:avLst>
              <a:gd name="adj" fmla="val 10909"/>
            </a:avLst>
          </a:prstGeom>
          <a:solidFill>
            <a:schemeClr val="tx2"/>
          </a:solidFill>
          <a:ln/>
          <a:effectLst>
            <a:outerShdw sx="100000" sy="100000" kx="0" ky="0" algn="bl" rotWithShape="0" blurRad="101600" dist="25400" dir="5400000">
              <a:srgbClr val="1C1A33">
                <a:alpha val="14000"/>
              </a:srgbClr>
            </a:outerShdw>
          </a:effectLst>
        </p:spPr>
      </p:sp>
      <p:sp>
        <p:nvSpPr>
          <p:cNvPr id="20" name="Text 14"/>
          <p:cNvSpPr txBox="1"/>
          <p:nvPr/>
        </p:nvSpPr>
        <p:spPr>
          <a:xfrm>
            <a:off x="9235440" y="2880360"/>
            <a:ext cx="2194560" cy="411480"/>
          </a:xfrm>
          <a:prstGeom prst="rect">
            <a:avLst/>
          </a:prstGeom>
          <a:noFill/>
          <a:ln/>
        </p:spPr>
        <p:txBody>
          <a:bodyPr wrap="square" lIns="0" tIns="0" rIns="0" bIns="0" rtlCol="0" anchor="t"/>
          <a:lstStyle/>
          <a:p>
            <a:pPr algn="ctr" indent="0" marL="0">
              <a:buNone/>
            </a:pPr>
            <a:r>
              <a:rPr lang="en-US" sz="1700" b="1" dirty="0">
                <a:solidFill>
                  <a:schemeClr val="bg1"/>
                </a:solidFill>
              </a:rPr>
              <a:t>Use Behavior</a:t>
            </a:r>
            <a:endParaRPr lang="en-US" sz="1700" dirty="0"/>
          </a:p>
        </p:txBody>
      </p:sp>
      <p:sp>
        <p:nvSpPr>
          <p:cNvPr id="21" name="Text 15"/>
          <p:cNvSpPr txBox="1"/>
          <p:nvPr/>
        </p:nvSpPr>
        <p:spPr>
          <a:xfrm>
            <a:off x="9235440" y="3291840"/>
            <a:ext cx="2194560" cy="320040"/>
          </a:xfrm>
          <a:prstGeom prst="rect">
            <a:avLst/>
          </a:prstGeom>
          <a:noFill/>
          <a:ln/>
        </p:spPr>
        <p:txBody>
          <a:bodyPr wrap="square" lIns="0" tIns="0" rIns="0" bIns="0" rtlCol="0" anchor="t"/>
          <a:lstStyle/>
          <a:p>
            <a:pPr algn="ctr" indent="0" marL="0">
              <a:buNone/>
            </a:pPr>
            <a:r>
              <a:rPr lang="en-US" sz="1400" dirty="0">
                <a:solidFill>
                  <a:schemeClr val="bg2"/>
                </a:solidFill>
              </a:rPr>
              <a:t>Penggunaan nyata</a:t>
            </a:r>
            <a:endParaRPr lang="en-US" sz="1400" dirty="0"/>
          </a:p>
        </p:txBody>
      </p:sp>
      <p:sp>
        <p:nvSpPr>
          <p:cNvPr id="22" name="Panah ke BI 0"/>
          <p:cNvSpPr/>
          <p:nvPr/>
        </p:nvSpPr>
        <p:spPr>
          <a:xfrm>
            <a:off x="3840480" y="1965960"/>
            <a:ext cx="1554480" cy="1280160"/>
          </a:xfrm>
          <a:prstGeom prst="line">
            <a:avLst/>
          </a:prstGeom>
          <a:noFill/>
          <a:ln w="25400">
            <a:solidFill>
              <a:schemeClr val="tx2"/>
            </a:solidFill>
            <a:prstDash val="solid"/>
            <a:tailEnd type="triangle"/>
          </a:ln>
        </p:spPr>
      </p:sp>
      <p:sp>
        <p:nvSpPr>
          <p:cNvPr id="23" name="Panah ke BI 1"/>
          <p:cNvSpPr/>
          <p:nvPr/>
        </p:nvSpPr>
        <p:spPr>
          <a:xfrm>
            <a:off x="3840480" y="2971800"/>
            <a:ext cx="1554480" cy="274320"/>
          </a:xfrm>
          <a:prstGeom prst="line">
            <a:avLst/>
          </a:prstGeom>
          <a:noFill/>
          <a:ln w="25400">
            <a:solidFill>
              <a:schemeClr val="tx2"/>
            </a:solidFill>
            <a:prstDash val="solid"/>
            <a:tailEnd type="triangle"/>
          </a:ln>
        </p:spPr>
      </p:sp>
      <p:sp>
        <p:nvSpPr>
          <p:cNvPr id="24" name="Panah ke BI 2"/>
          <p:cNvSpPr/>
          <p:nvPr/>
        </p:nvSpPr>
        <p:spPr>
          <a:xfrm flipV="1">
            <a:off x="3840480" y="3246120"/>
            <a:ext cx="1554480" cy="731520"/>
          </a:xfrm>
          <a:prstGeom prst="line">
            <a:avLst/>
          </a:prstGeom>
          <a:noFill/>
          <a:ln w="25400">
            <a:solidFill>
              <a:schemeClr val="tx2"/>
            </a:solidFill>
            <a:prstDash val="solid"/>
            <a:tailEnd type="triangle"/>
          </a:ln>
        </p:spPr>
      </p:sp>
      <p:sp>
        <p:nvSpPr>
          <p:cNvPr id="25" name="Panah BI ke UB"/>
          <p:cNvSpPr/>
          <p:nvPr/>
        </p:nvSpPr>
        <p:spPr>
          <a:xfrm>
            <a:off x="7955280" y="3246120"/>
            <a:ext cx="1097280" cy="0"/>
          </a:xfrm>
          <a:prstGeom prst="line">
            <a:avLst/>
          </a:prstGeom>
          <a:noFill/>
          <a:ln w="25400">
            <a:solidFill>
              <a:schemeClr val="tx2"/>
            </a:solidFill>
            <a:prstDash val="solid"/>
            <a:tailEnd type="triangle"/>
          </a:ln>
        </p:spPr>
      </p:sp>
      <p:sp>
        <p:nvSpPr>
          <p:cNvPr id="26" name="FC ke UB horizontal"/>
          <p:cNvSpPr/>
          <p:nvPr/>
        </p:nvSpPr>
        <p:spPr>
          <a:xfrm>
            <a:off x="3840480" y="4983480"/>
            <a:ext cx="6492240" cy="0"/>
          </a:xfrm>
          <a:prstGeom prst="line">
            <a:avLst/>
          </a:prstGeom>
          <a:noFill/>
          <a:ln w="25400">
            <a:solidFill>
              <a:schemeClr val="accent4"/>
            </a:solidFill>
            <a:prstDash val="solid"/>
          </a:ln>
        </p:spPr>
      </p:sp>
      <p:sp>
        <p:nvSpPr>
          <p:cNvPr id="27" name="FC ke UB vertikal"/>
          <p:cNvSpPr/>
          <p:nvPr/>
        </p:nvSpPr>
        <p:spPr>
          <a:xfrm flipV="1">
            <a:off x="10332720" y="3749040"/>
            <a:ext cx="0" cy="1234440"/>
          </a:xfrm>
          <a:prstGeom prst="line">
            <a:avLst/>
          </a:prstGeom>
          <a:noFill/>
          <a:ln w="25400">
            <a:solidFill>
              <a:schemeClr val="accent4"/>
            </a:solidFill>
            <a:prstDash val="solid"/>
            <a:tailEnd type="triangle"/>
          </a:ln>
        </p:spPr>
      </p:sp>
      <p:sp>
        <p:nvSpPr>
          <p:cNvPr id="28" name="Text 22"/>
          <p:cNvSpPr txBox="1"/>
          <p:nvPr/>
        </p:nvSpPr>
        <p:spPr>
          <a:xfrm>
            <a:off x="5394960" y="5074920"/>
            <a:ext cx="4206240" cy="320040"/>
          </a:xfrm>
          <a:prstGeom prst="rect">
            <a:avLst/>
          </a:prstGeom>
          <a:noFill/>
          <a:ln/>
        </p:spPr>
        <p:txBody>
          <a:bodyPr wrap="square" lIns="0" tIns="0" rIns="0" bIns="0" rtlCol="0" anchor="t"/>
          <a:lstStyle/>
          <a:p>
            <a:pPr indent="0" marL="0">
              <a:buNone/>
            </a:pPr>
            <a:r>
              <a:rPr lang="en-US" sz="1400" i="1" dirty="0">
                <a:solidFill>
                  <a:schemeClr val="accent4"/>
                </a:solidFill>
              </a:rPr>
              <a:t>FC langsung ke penggunaan nyata</a:t>
            </a:r>
            <a:endParaRPr lang="en-US" sz="1400" dirty="0"/>
          </a:p>
        </p:txBody>
      </p:sp>
      <p:sp>
        <p:nvSpPr>
          <p:cNvPr id="29" name="Text 23"/>
          <p:cNvSpPr txBox="1"/>
          <p:nvPr/>
        </p:nvSpPr>
        <p:spPr>
          <a:xfrm>
            <a:off x="5394960" y="1554480"/>
            <a:ext cx="2743200" cy="274320"/>
          </a:xfrm>
          <a:prstGeom prst="rect">
            <a:avLst/>
          </a:prstGeom>
          <a:noFill/>
          <a:ln/>
        </p:spPr>
        <p:txBody>
          <a:bodyPr wrap="square" lIns="0" tIns="0" rIns="0" bIns="0" rtlCol="0" anchor="t"/>
          <a:lstStyle/>
          <a:p>
            <a:pPr indent="0" marL="0">
              <a:buNone/>
            </a:pPr>
            <a:r>
              <a:rPr lang="en-US" sz="1200" b="1" dirty="0">
                <a:solidFill>
                  <a:schemeClr val="accent6"/>
                </a:solidFill>
              </a:rPr>
              <a:t>MODERATOR</a:t>
            </a:r>
            <a:endParaRPr lang="en-US" sz="1200" dirty="0"/>
          </a:p>
        </p:txBody>
      </p:sp>
      <p:sp>
        <p:nvSpPr>
          <p:cNvPr id="30" name="Moderator Gender"/>
          <p:cNvSpPr/>
          <p:nvPr/>
        </p:nvSpPr>
        <p:spPr>
          <a:xfrm>
            <a:off x="5394960" y="1874520"/>
            <a:ext cx="1143000" cy="384048"/>
          </a:xfrm>
          <a:prstGeom prst="roundRect">
            <a:avLst>
              <a:gd name="adj" fmla="val 50000"/>
            </a:avLst>
          </a:prstGeom>
          <a:solidFill>
            <a:srgbClr val="E7E5F3"/>
          </a:solidFill>
          <a:ln/>
        </p:spPr>
      </p:sp>
      <p:sp>
        <p:nvSpPr>
          <p:cNvPr id="31" name="Moderator Gender teks"/>
          <p:cNvSpPr txBox="1"/>
          <p:nvPr/>
        </p:nvSpPr>
        <p:spPr>
          <a:xfrm>
            <a:off x="5394960" y="18745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Gender</a:t>
            </a:r>
            <a:endParaRPr lang="en-US" sz="1200" dirty="0"/>
          </a:p>
        </p:txBody>
      </p:sp>
      <p:sp>
        <p:nvSpPr>
          <p:cNvPr id="32" name="Moderator Age"/>
          <p:cNvSpPr/>
          <p:nvPr/>
        </p:nvSpPr>
        <p:spPr>
          <a:xfrm>
            <a:off x="6675120" y="1874520"/>
            <a:ext cx="868680" cy="384048"/>
          </a:xfrm>
          <a:prstGeom prst="roundRect">
            <a:avLst>
              <a:gd name="adj" fmla="val 50000"/>
            </a:avLst>
          </a:prstGeom>
          <a:solidFill>
            <a:srgbClr val="E7E5F3"/>
          </a:solidFill>
          <a:ln/>
        </p:spPr>
      </p:sp>
      <p:sp>
        <p:nvSpPr>
          <p:cNvPr id="33" name="Moderator Age teks"/>
          <p:cNvSpPr txBox="1"/>
          <p:nvPr/>
        </p:nvSpPr>
        <p:spPr>
          <a:xfrm>
            <a:off x="6675120" y="1874520"/>
            <a:ext cx="868680" cy="384048"/>
          </a:xfrm>
          <a:prstGeom prst="rect">
            <a:avLst/>
          </a:prstGeom>
          <a:noFill/>
          <a:ln/>
        </p:spPr>
        <p:txBody>
          <a:bodyPr wrap="square" lIns="0" tIns="0" rIns="0" bIns="0" rtlCol="0" anchor="ctr"/>
          <a:lstStyle/>
          <a:p>
            <a:pPr algn="ctr" indent="0" marL="0">
              <a:buNone/>
            </a:pPr>
            <a:r>
              <a:rPr lang="en-US" sz="1200" b="1" dirty="0">
                <a:solidFill>
                  <a:schemeClr val="tx2"/>
                </a:solidFill>
              </a:rPr>
              <a:t>Age</a:t>
            </a:r>
            <a:endParaRPr lang="en-US" sz="1200" dirty="0"/>
          </a:p>
        </p:txBody>
      </p:sp>
      <p:sp>
        <p:nvSpPr>
          <p:cNvPr id="34" name="Moderator Experience"/>
          <p:cNvSpPr/>
          <p:nvPr/>
        </p:nvSpPr>
        <p:spPr>
          <a:xfrm>
            <a:off x="7680960" y="1874520"/>
            <a:ext cx="1417320" cy="384048"/>
          </a:xfrm>
          <a:prstGeom prst="roundRect">
            <a:avLst>
              <a:gd name="adj" fmla="val 50000"/>
            </a:avLst>
          </a:prstGeom>
          <a:solidFill>
            <a:srgbClr val="E7E5F3"/>
          </a:solidFill>
          <a:ln/>
        </p:spPr>
      </p:sp>
      <p:sp>
        <p:nvSpPr>
          <p:cNvPr id="35" name="Moderator Experience teks"/>
          <p:cNvSpPr txBox="1"/>
          <p:nvPr/>
        </p:nvSpPr>
        <p:spPr>
          <a:xfrm>
            <a:off x="7680960" y="1874520"/>
            <a:ext cx="1417320" cy="384048"/>
          </a:xfrm>
          <a:prstGeom prst="rect">
            <a:avLst/>
          </a:prstGeom>
          <a:noFill/>
          <a:ln/>
        </p:spPr>
        <p:txBody>
          <a:bodyPr wrap="square" lIns="0" tIns="0" rIns="0" bIns="0" rtlCol="0" anchor="ctr"/>
          <a:lstStyle/>
          <a:p>
            <a:pPr algn="ctr" indent="0" marL="0">
              <a:buNone/>
            </a:pPr>
            <a:r>
              <a:rPr lang="en-US" sz="1200" b="1" dirty="0">
                <a:solidFill>
                  <a:schemeClr val="tx2"/>
                </a:solidFill>
              </a:rPr>
              <a:t>Experience</a:t>
            </a:r>
            <a:endParaRPr lang="en-US" sz="1200" dirty="0"/>
          </a:p>
        </p:txBody>
      </p:sp>
      <p:sp>
        <p:nvSpPr>
          <p:cNvPr id="36" name="Moderator Voluntariness of Use"/>
          <p:cNvSpPr/>
          <p:nvPr/>
        </p:nvSpPr>
        <p:spPr>
          <a:xfrm>
            <a:off x="9235440" y="1874520"/>
            <a:ext cx="2240280" cy="384048"/>
          </a:xfrm>
          <a:prstGeom prst="roundRect">
            <a:avLst>
              <a:gd name="adj" fmla="val 50000"/>
            </a:avLst>
          </a:prstGeom>
          <a:solidFill>
            <a:srgbClr val="E7E5F3"/>
          </a:solidFill>
          <a:ln/>
        </p:spPr>
      </p:sp>
      <p:sp>
        <p:nvSpPr>
          <p:cNvPr id="37" name="Moderator Voluntariness of Use teks"/>
          <p:cNvSpPr txBox="1"/>
          <p:nvPr/>
        </p:nvSpPr>
        <p:spPr>
          <a:xfrm>
            <a:off x="9235440" y="1874520"/>
            <a:ext cx="2240280" cy="384048"/>
          </a:xfrm>
          <a:prstGeom prst="rect">
            <a:avLst/>
          </a:prstGeom>
          <a:noFill/>
          <a:ln/>
        </p:spPr>
        <p:txBody>
          <a:bodyPr wrap="square" lIns="0" tIns="0" rIns="0" bIns="0" rtlCol="0" anchor="ctr"/>
          <a:lstStyle/>
          <a:p>
            <a:pPr algn="ctr" indent="0" marL="0">
              <a:buNone/>
            </a:pPr>
            <a:r>
              <a:rPr lang="en-US" sz="1200" b="1" dirty="0">
                <a:solidFill>
                  <a:schemeClr val="tx2"/>
                </a:solidFill>
              </a:rPr>
              <a:t>Voluntariness of Use</a:t>
            </a:r>
            <a:endParaRPr lang="en-US" sz="1200" dirty="0"/>
          </a:p>
        </p:txBody>
      </p:sp>
      <p:sp>
        <p:nvSpPr>
          <p:cNvPr id="38" name="Text 3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Faktor  →  Niat  →  Penggunaan</a:t>
            </a:r>
            <a:endParaRPr lang="en-US" sz="22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1"/>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Performance Expectancy"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PE</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inti UTAUT</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1 DARI 4</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Performance Expectancy</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1"/>
                </a:solidFill>
              </a:rPr>
              <a:t>Harapan Kinerja</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Sejauh mana seseorang yakin teknologi akan membantu meningkatkan kinerjanya.</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teknologi ini membuat saya lebih efektif?”</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D9F1EF"/>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AI membantu memahami materi</a:t>
            </a:r>
            <a:endParaRPr lang="en-US" sz="1500" dirty="0"/>
          </a:p>
        </p:txBody>
      </p:sp>
      <p:sp>
        <p:nvSpPr>
          <p:cNvPr id="17" name="Contoh 2"/>
          <p:cNvSpPr/>
          <p:nvPr/>
        </p:nvSpPr>
        <p:spPr>
          <a:xfrm>
            <a:off x="7374636" y="4937760"/>
            <a:ext cx="2011680" cy="1188720"/>
          </a:xfrm>
          <a:prstGeom prst="roundRect">
            <a:avLst>
              <a:gd name="adj" fmla="val 9231"/>
            </a:avLst>
          </a:prstGeom>
          <a:solidFill>
            <a:srgbClr val="D9F1EF"/>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Bayar tanpa uang tunai</a:t>
            </a:r>
            <a:endParaRPr lang="en-US" sz="1500" dirty="0"/>
          </a:p>
        </p:txBody>
      </p:sp>
      <p:sp>
        <p:nvSpPr>
          <p:cNvPr id="20" name="Contoh 3"/>
          <p:cNvSpPr/>
          <p:nvPr/>
        </p:nvSpPr>
        <p:spPr>
          <a:xfrm>
            <a:off x="9628632" y="4937760"/>
            <a:ext cx="2011680" cy="1188720"/>
          </a:xfrm>
          <a:prstGeom prst="roundRect">
            <a:avLst>
              <a:gd name="adj" fmla="val 9231"/>
            </a:avLst>
          </a:prstGeom>
          <a:solidFill>
            <a:srgbClr val="D9F1EF"/>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Tugas selesai lebih cepat</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1"/>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Effort Expectancy"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EE</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inti UTAUT</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2 DARI 4</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Effort Expectancy</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1"/>
                </a:solidFill>
              </a:rPr>
              <a:t>Harapan Usaha</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Tingkat kemudahan yang dirasakan saat menggunakan teknologi.</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teknologi ini mudah dipakai?”</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D9F1EF"/>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Menu jelas dan rapi</a:t>
            </a:r>
            <a:endParaRPr lang="en-US" sz="1500" dirty="0"/>
          </a:p>
        </p:txBody>
      </p:sp>
      <p:sp>
        <p:nvSpPr>
          <p:cNvPr id="17" name="Contoh 2"/>
          <p:cNvSpPr/>
          <p:nvPr/>
        </p:nvSpPr>
        <p:spPr>
          <a:xfrm>
            <a:off x="7374636" y="4937760"/>
            <a:ext cx="2011680" cy="1188720"/>
          </a:xfrm>
          <a:prstGeom prst="roundRect">
            <a:avLst>
              <a:gd name="adj" fmla="val 9231"/>
            </a:avLst>
          </a:prstGeom>
          <a:solidFill>
            <a:srgbClr val="D9F1EF"/>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Registrasi sederhana</a:t>
            </a:r>
            <a:endParaRPr lang="en-US" sz="1500" dirty="0"/>
          </a:p>
        </p:txBody>
      </p:sp>
      <p:sp>
        <p:nvSpPr>
          <p:cNvPr id="20" name="Contoh 3"/>
          <p:cNvSpPr/>
          <p:nvPr/>
        </p:nvSpPr>
        <p:spPr>
          <a:xfrm>
            <a:off x="9628632" y="4937760"/>
            <a:ext cx="2011680" cy="1188720"/>
          </a:xfrm>
          <a:prstGeom prst="roundRect">
            <a:avLst>
              <a:gd name="adj" fmla="val 9231"/>
            </a:avLst>
          </a:prstGeom>
          <a:solidFill>
            <a:srgbClr val="D9F1EF"/>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Sekali coba langsung paham</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1"/>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Social Influence"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SI</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inti UTAUT</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3 DARI 4</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Social Influence</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1"/>
                </a:solidFill>
              </a:rPr>
              <a:t>Pengaruh Sosial</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Sejauh mana orang-orang penting di sekitar kita dianggap mendorong penggunaan teknologi.</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orang di sekitar saya mendorong?”</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D9F1EF"/>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Teman: “Pakai ini aja!”</a:t>
            </a:r>
            <a:endParaRPr lang="en-US" sz="1500" dirty="0"/>
          </a:p>
        </p:txBody>
      </p:sp>
      <p:sp>
        <p:nvSpPr>
          <p:cNvPr id="17" name="Contoh 2"/>
          <p:cNvSpPr/>
          <p:nvPr/>
        </p:nvSpPr>
        <p:spPr>
          <a:xfrm>
            <a:off x="7374636" y="4937760"/>
            <a:ext cx="2011680" cy="1188720"/>
          </a:xfrm>
          <a:prstGeom prst="roundRect">
            <a:avLst>
              <a:gd name="adj" fmla="val 9231"/>
            </a:avLst>
          </a:prstGeom>
          <a:solidFill>
            <a:srgbClr val="D9F1EF"/>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Keluarga dan dosen</a:t>
            </a:r>
            <a:endParaRPr lang="en-US" sz="1500" dirty="0"/>
          </a:p>
        </p:txBody>
      </p:sp>
      <p:sp>
        <p:nvSpPr>
          <p:cNvPr id="20" name="Contoh 3"/>
          <p:cNvSpPr/>
          <p:nvPr/>
        </p:nvSpPr>
        <p:spPr>
          <a:xfrm>
            <a:off x="9628632" y="4937760"/>
            <a:ext cx="2011680" cy="1188720"/>
          </a:xfrm>
          <a:prstGeom prst="roundRect">
            <a:avLst>
              <a:gd name="adj" fmla="val 9231"/>
            </a:avLst>
          </a:prstGeom>
          <a:solidFill>
            <a:srgbClr val="D9F1EF"/>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Atasan mewajibkan sistem</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1"/>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Facilitating Conditions"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FC</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inti UTAUT</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4 DARI 4</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Facilitating Conditions</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1"/>
                </a:solidFill>
              </a:rPr>
              <a:t>Kondisi Pendukung</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Keyakinan bahwa perangkat, infrastruktur, dan bantuan untuk memakai teknologi tersedia.</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fasilitasnya mendukung?”</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D9F1EF"/>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Smartphone dan internet</a:t>
            </a:r>
            <a:endParaRPr lang="en-US" sz="1500" dirty="0"/>
          </a:p>
        </p:txBody>
      </p:sp>
      <p:sp>
        <p:nvSpPr>
          <p:cNvPr id="17" name="Contoh 2"/>
          <p:cNvSpPr/>
          <p:nvPr/>
        </p:nvSpPr>
        <p:spPr>
          <a:xfrm>
            <a:off x="7374636" y="4937760"/>
            <a:ext cx="2011680" cy="1188720"/>
          </a:xfrm>
          <a:prstGeom prst="roundRect">
            <a:avLst>
              <a:gd name="adj" fmla="val 9231"/>
            </a:avLst>
          </a:prstGeom>
          <a:solidFill>
            <a:srgbClr val="D9F1EF"/>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Panduan dan customer service</a:t>
            </a:r>
            <a:endParaRPr lang="en-US" sz="1500" dirty="0"/>
          </a:p>
        </p:txBody>
      </p:sp>
      <p:sp>
        <p:nvSpPr>
          <p:cNvPr id="20" name="Contoh 3"/>
          <p:cNvSpPr/>
          <p:nvPr/>
        </p:nvSpPr>
        <p:spPr>
          <a:xfrm>
            <a:off x="9628632" y="4937760"/>
            <a:ext cx="2011680" cy="1188720"/>
          </a:xfrm>
          <a:prstGeom prst="roundRect">
            <a:avLst>
              <a:gd name="adj" fmla="val 9231"/>
            </a:avLst>
          </a:prstGeom>
          <a:solidFill>
            <a:srgbClr val="D9F1EF"/>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Cocok dengan perangkat</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NIAT VS PERILAKU</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Niat belum tentu jadi tindakan</a:t>
            </a:r>
            <a:endParaRPr lang="en-US" sz="3400" dirty="0"/>
          </a:p>
        </p:txBody>
      </p:sp>
      <p:sp>
        <p:nvSpPr>
          <p:cNvPr id="4" name="Behavioral Intention"/>
          <p:cNvSpPr/>
          <p:nvPr/>
        </p:nvSpPr>
        <p:spPr>
          <a:xfrm>
            <a:off x="548640" y="1600200"/>
            <a:ext cx="5120640" cy="3291840"/>
          </a:xfrm>
          <a:prstGeom prst="roundRect">
            <a:avLst>
              <a:gd name="adj" fmla="val 3333"/>
            </a:avLst>
          </a:prstGeom>
          <a:solidFill>
            <a:schemeClr val="bg2"/>
          </a:solidFill>
          <a:ln/>
        </p:spPr>
      </p:sp>
      <p:sp>
        <p:nvSpPr>
          <p:cNvPr id="5" name="Behavioral Intention lingkaran"/>
          <p:cNvSpPr/>
          <p:nvPr/>
        </p:nvSpPr>
        <p:spPr>
          <a:xfrm>
            <a:off x="914400" y="1874520"/>
            <a:ext cx="914400" cy="914400"/>
          </a:xfrm>
          <a:prstGeom prst="ellipse">
            <a:avLst/>
          </a:prstGeom>
          <a:solidFill>
            <a:schemeClr val="tx2"/>
          </a:solidFill>
          <a:ln/>
        </p:spPr>
      </p:sp>
      <p:pic>
        <p:nvPicPr>
          <p:cNvPr id="6" name="Behavioral Intention ikon" descr="preencoded.png">    </p:cNvPr>
          <p:cNvPicPr>
            <a:picLocks noChangeAspect="1"/>
          </p:cNvPicPr>
          <p:nvPr/>
        </p:nvPicPr>
        <p:blipFill>
          <a:blip r:embed="rId1"/>
          <a:stretch>
            <a:fillRect/>
          </a:stretch>
        </p:blipFill>
        <p:spPr>
          <a:xfrm>
            <a:off x="1133856" y="2093976"/>
            <a:ext cx="475488" cy="475488"/>
          </a:xfrm>
          <a:prstGeom prst="rect">
            <a:avLst/>
          </a:prstGeom>
        </p:spPr>
      </p:pic>
      <p:sp>
        <p:nvSpPr>
          <p:cNvPr id="7" name="Text 4"/>
          <p:cNvSpPr txBox="1"/>
          <p:nvPr/>
        </p:nvSpPr>
        <p:spPr>
          <a:xfrm>
            <a:off x="2057400" y="1920240"/>
            <a:ext cx="347472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Behavioral Intention</a:t>
            </a:r>
            <a:endParaRPr lang="en-US" sz="2400" dirty="0"/>
          </a:p>
        </p:txBody>
      </p:sp>
      <p:sp>
        <p:nvSpPr>
          <p:cNvPr id="8" name="Text 5"/>
          <p:cNvSpPr txBox="1"/>
          <p:nvPr/>
        </p:nvSpPr>
        <p:spPr>
          <a:xfrm>
            <a:off x="2057400" y="2377440"/>
            <a:ext cx="3474720" cy="411480"/>
          </a:xfrm>
          <a:prstGeom prst="rect">
            <a:avLst/>
          </a:prstGeom>
          <a:noFill/>
          <a:ln/>
        </p:spPr>
        <p:txBody>
          <a:bodyPr wrap="square" lIns="0" tIns="0" rIns="0" bIns="0" rtlCol="0" anchor="t"/>
          <a:lstStyle/>
          <a:p>
            <a:pPr indent="0" marL="0">
              <a:buNone/>
            </a:pPr>
            <a:r>
              <a:rPr lang="en-US" sz="2000" b="1" dirty="0">
                <a:solidFill>
                  <a:schemeClr val="tx2"/>
                </a:solidFill>
              </a:rPr>
              <a:t>Niat menggunakan</a:t>
            </a:r>
            <a:endParaRPr lang="en-US" sz="2000" dirty="0"/>
          </a:p>
        </p:txBody>
      </p:sp>
      <p:sp>
        <p:nvSpPr>
          <p:cNvPr id="9" name="Text 6"/>
          <p:cNvSpPr txBox="1"/>
          <p:nvPr/>
        </p:nvSpPr>
        <p:spPr>
          <a:xfrm>
            <a:off x="914400" y="3200400"/>
            <a:ext cx="4389120" cy="1463040"/>
          </a:xfrm>
          <a:prstGeom prst="rect">
            <a:avLst/>
          </a:prstGeom>
          <a:noFill/>
          <a:ln/>
        </p:spPr>
        <p:txBody>
          <a:bodyPr wrap="square" lIns="0" tIns="0" rIns="0" bIns="0" rtlCol="0" anchor="t"/>
          <a:lstStyle/>
          <a:p>
            <a:pPr indent="0" marL="0">
              <a:buNone/>
            </a:pPr>
            <a:r>
              <a:rPr lang="en-US" sz="2200" i="1" dirty="0">
                <a:solidFill>
                  <a:schemeClr val="tx1"/>
                </a:solidFill>
              </a:rPr>
              <a:t>“Besok saya mau mulai pakai mobile banking.”</a:t>
            </a:r>
            <a:endParaRPr lang="en-US" sz="2200" dirty="0"/>
          </a:p>
        </p:txBody>
      </p:sp>
      <p:sp>
        <p:nvSpPr>
          <p:cNvPr id="10" name="Use Behavior"/>
          <p:cNvSpPr/>
          <p:nvPr/>
        </p:nvSpPr>
        <p:spPr>
          <a:xfrm>
            <a:off x="6519672" y="1600200"/>
            <a:ext cx="5120640" cy="3291840"/>
          </a:xfrm>
          <a:prstGeom prst="roundRect">
            <a:avLst>
              <a:gd name="adj" fmla="val 3333"/>
            </a:avLst>
          </a:prstGeom>
          <a:solidFill>
            <a:schemeClr val="bg2"/>
          </a:solidFill>
          <a:ln/>
        </p:spPr>
      </p:sp>
      <p:sp>
        <p:nvSpPr>
          <p:cNvPr id="11" name="Use Behavior lingkaran"/>
          <p:cNvSpPr/>
          <p:nvPr/>
        </p:nvSpPr>
        <p:spPr>
          <a:xfrm>
            <a:off x="6885432" y="1874520"/>
            <a:ext cx="914400" cy="914400"/>
          </a:xfrm>
          <a:prstGeom prst="ellipse">
            <a:avLst/>
          </a:prstGeom>
          <a:solidFill>
            <a:schemeClr val="accent1"/>
          </a:solidFill>
          <a:ln/>
        </p:spPr>
      </p:sp>
      <p:pic>
        <p:nvPicPr>
          <p:cNvPr id="12" name="Use Behavior ikon" descr="preencoded.png">    </p:cNvPr>
          <p:cNvPicPr>
            <a:picLocks noChangeAspect="1"/>
          </p:cNvPicPr>
          <p:nvPr/>
        </p:nvPicPr>
        <p:blipFill>
          <a:blip r:embed="rId2"/>
          <a:stretch>
            <a:fillRect/>
          </a:stretch>
        </p:blipFill>
        <p:spPr>
          <a:xfrm>
            <a:off x="7104888" y="2093976"/>
            <a:ext cx="475488" cy="475488"/>
          </a:xfrm>
          <a:prstGeom prst="rect">
            <a:avLst/>
          </a:prstGeom>
        </p:spPr>
      </p:pic>
      <p:sp>
        <p:nvSpPr>
          <p:cNvPr id="13" name="Text 9"/>
          <p:cNvSpPr txBox="1"/>
          <p:nvPr/>
        </p:nvSpPr>
        <p:spPr>
          <a:xfrm>
            <a:off x="8028432" y="1920240"/>
            <a:ext cx="347472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Use Behavior</a:t>
            </a:r>
            <a:endParaRPr lang="en-US" sz="2400" dirty="0"/>
          </a:p>
        </p:txBody>
      </p:sp>
      <p:sp>
        <p:nvSpPr>
          <p:cNvPr id="14" name="Text 10"/>
          <p:cNvSpPr txBox="1"/>
          <p:nvPr/>
        </p:nvSpPr>
        <p:spPr>
          <a:xfrm>
            <a:off x="8028432" y="2377440"/>
            <a:ext cx="3474720" cy="411480"/>
          </a:xfrm>
          <a:prstGeom prst="rect">
            <a:avLst/>
          </a:prstGeom>
          <a:noFill/>
          <a:ln/>
        </p:spPr>
        <p:txBody>
          <a:bodyPr wrap="square" lIns="0" tIns="0" rIns="0" bIns="0" rtlCol="0" anchor="t"/>
          <a:lstStyle/>
          <a:p>
            <a:pPr indent="0" marL="0">
              <a:buNone/>
            </a:pPr>
            <a:r>
              <a:rPr lang="en-US" sz="2000" b="1" dirty="0">
                <a:solidFill>
                  <a:schemeClr val="accent1"/>
                </a:solidFill>
              </a:rPr>
              <a:t>Penggunaan nyata</a:t>
            </a:r>
            <a:endParaRPr lang="en-US" sz="2000" dirty="0"/>
          </a:p>
        </p:txBody>
      </p:sp>
      <p:sp>
        <p:nvSpPr>
          <p:cNvPr id="15" name="Text 11"/>
          <p:cNvSpPr txBox="1"/>
          <p:nvPr/>
        </p:nvSpPr>
        <p:spPr>
          <a:xfrm>
            <a:off x="6885432" y="3200400"/>
            <a:ext cx="4389120" cy="1463040"/>
          </a:xfrm>
          <a:prstGeom prst="rect">
            <a:avLst/>
          </a:prstGeom>
          <a:noFill/>
          <a:ln/>
        </p:spPr>
        <p:txBody>
          <a:bodyPr wrap="square" lIns="0" tIns="0" rIns="0" bIns="0" rtlCol="0" anchor="t"/>
          <a:lstStyle/>
          <a:p>
            <a:pPr indent="0" marL="0">
              <a:buNone/>
            </a:pPr>
            <a:r>
              <a:rPr lang="en-US" sz="2200" i="1" dirty="0">
                <a:solidFill>
                  <a:schemeClr val="tx1"/>
                </a:solidFill>
              </a:rPr>
              <a:t>Membuka mobile banking tiap minggu untuk transfer dan bayar tagihan.</a:t>
            </a:r>
            <a:endParaRPr lang="en-US" sz="2200" dirty="0"/>
          </a:p>
        </p:txBody>
      </p:sp>
      <p:sp>
        <p:nvSpPr>
          <p:cNvPr id="16" name="Panah niat ke perilaku"/>
          <p:cNvSpPr/>
          <p:nvPr/>
        </p:nvSpPr>
        <p:spPr>
          <a:xfrm>
            <a:off x="5788152" y="2971800"/>
            <a:ext cx="621792" cy="548640"/>
          </a:xfrm>
          <a:prstGeom prst="rightArrow">
            <a:avLst/>
          </a:prstGeom>
          <a:solidFill>
            <a:schemeClr val="accent2"/>
          </a:solidFill>
          <a:ln/>
        </p:spPr>
      </p:sp>
      <p:sp>
        <p:nvSpPr>
          <p:cNvPr id="17" name="Catatan"/>
          <p:cNvSpPr/>
          <p:nvPr/>
        </p:nvSpPr>
        <p:spPr>
          <a:xfrm>
            <a:off x="548640" y="5166360"/>
            <a:ext cx="11091672" cy="868680"/>
          </a:xfrm>
          <a:prstGeom prst="roundRect">
            <a:avLst>
              <a:gd name="adj" fmla="val 12632"/>
            </a:avLst>
          </a:prstGeom>
          <a:solidFill>
            <a:schemeClr val="tx1"/>
          </a:solidFill>
          <a:ln/>
        </p:spPr>
      </p:sp>
      <p:sp>
        <p:nvSpPr>
          <p:cNvPr id="18" name="Text 14"/>
          <p:cNvSpPr txBox="1"/>
          <p:nvPr/>
        </p:nvSpPr>
        <p:spPr>
          <a:xfrm>
            <a:off x="868680" y="5166360"/>
            <a:ext cx="10515600" cy="868680"/>
          </a:xfrm>
          <a:prstGeom prst="rect">
            <a:avLst/>
          </a:prstGeom>
          <a:noFill/>
          <a:ln/>
        </p:spPr>
        <p:txBody>
          <a:bodyPr wrap="square" lIns="0" tIns="0" rIns="0" bIns="0" rtlCol="0" anchor="ctr"/>
          <a:lstStyle/>
          <a:p>
            <a:pPr indent="0" marL="0">
              <a:buNone/>
            </a:pPr>
            <a:r>
              <a:rPr lang="en-US" sz="2000" dirty="0">
                <a:solidFill>
                  <a:schemeClr val="bg1"/>
                </a:solidFill>
              </a:rPr>
              <a:t>Itulah sebabnya </a:t>
            </a:r>
            <a:pPr indent="0" marL="0">
              <a:buNone/>
            </a:pPr>
            <a:r>
              <a:rPr lang="en-US" sz="2000" b="1" dirty="0">
                <a:solidFill>
                  <a:schemeClr val="accent1"/>
                </a:solidFill>
              </a:rPr>
              <a:t>Facilitating Conditions</a:t>
            </a:r>
            <a:pPr indent="0" marL="0">
              <a:buNone/>
            </a:pPr>
            <a:r>
              <a:rPr lang="en-US" sz="2000" dirty="0">
                <a:solidFill>
                  <a:schemeClr val="bg1"/>
                </a:solidFill>
              </a:rPr>
              <a:t> berpengaruh langsung ke penggunaan nyata.</a:t>
            </a:r>
            <a:endParaRPr lang="en-US" sz="2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MODERATOR</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Faktor sama, kekuatannya berbeda</a:t>
            </a:r>
            <a:endParaRPr lang="en-US" sz="3400" dirty="0"/>
          </a:p>
        </p:txBody>
      </p:sp>
      <p:sp>
        <p:nvSpPr>
          <p:cNvPr id="4" name="Pengguna A"/>
          <p:cNvSpPr/>
          <p:nvPr/>
        </p:nvSpPr>
        <p:spPr>
          <a:xfrm>
            <a:off x="548640" y="1600200"/>
            <a:ext cx="5394960" cy="3017520"/>
          </a:xfrm>
          <a:prstGeom prst="roundRect">
            <a:avLst>
              <a:gd name="adj" fmla="val 3636"/>
            </a:avLst>
          </a:prstGeom>
          <a:solidFill>
            <a:schemeClr val="bg2"/>
          </a:solidFill>
          <a:ln/>
        </p:spPr>
      </p:sp>
      <p:sp>
        <p:nvSpPr>
          <p:cNvPr id="5" name="Pengguna A lingkaran"/>
          <p:cNvSpPr/>
          <p:nvPr/>
        </p:nvSpPr>
        <p:spPr>
          <a:xfrm>
            <a:off x="914400" y="1874520"/>
            <a:ext cx="914400" cy="914400"/>
          </a:xfrm>
          <a:prstGeom prst="ellipse">
            <a:avLst/>
          </a:prstGeom>
          <a:solidFill>
            <a:schemeClr val="tx2"/>
          </a:solidFill>
          <a:ln/>
        </p:spPr>
      </p:sp>
      <p:pic>
        <p:nvPicPr>
          <p:cNvPr id="6" name="Pengguna A ikon" descr="preencoded.png">    </p:cNvPr>
          <p:cNvPicPr>
            <a:picLocks noChangeAspect="1"/>
          </p:cNvPicPr>
          <p:nvPr/>
        </p:nvPicPr>
        <p:blipFill>
          <a:blip r:embed="rId1"/>
          <a:stretch>
            <a:fillRect/>
          </a:stretch>
        </p:blipFill>
        <p:spPr>
          <a:xfrm>
            <a:off x="1133856" y="2093976"/>
            <a:ext cx="475488" cy="475488"/>
          </a:xfrm>
          <a:prstGeom prst="rect">
            <a:avLst/>
          </a:prstGeom>
        </p:spPr>
      </p:pic>
      <p:sp>
        <p:nvSpPr>
          <p:cNvPr id="7" name="Text 4"/>
          <p:cNvSpPr txBox="1"/>
          <p:nvPr/>
        </p:nvSpPr>
        <p:spPr>
          <a:xfrm>
            <a:off x="2057400" y="1920240"/>
            <a:ext cx="365760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Pengguna A</a:t>
            </a:r>
            <a:endParaRPr lang="en-US" sz="2400" dirty="0"/>
          </a:p>
        </p:txBody>
      </p:sp>
      <p:sp>
        <p:nvSpPr>
          <p:cNvPr id="8" name="Text 5"/>
          <p:cNvSpPr txBox="1"/>
          <p:nvPr/>
        </p:nvSpPr>
        <p:spPr>
          <a:xfrm>
            <a:off x="2057400" y="2377440"/>
            <a:ext cx="3657600" cy="640080"/>
          </a:xfrm>
          <a:prstGeom prst="rect">
            <a:avLst/>
          </a:prstGeom>
          <a:noFill/>
          <a:ln/>
        </p:spPr>
        <p:txBody>
          <a:bodyPr wrap="square" lIns="0" tIns="0" rIns="0" bIns="0" rtlCol="0" anchor="t"/>
          <a:lstStyle/>
          <a:p>
            <a:pPr indent="0" marL="0">
              <a:buNone/>
            </a:pPr>
            <a:r>
              <a:rPr lang="en-US" sz="1700" dirty="0">
                <a:solidFill>
                  <a:schemeClr val="tx2"/>
                </a:solidFill>
              </a:rPr>
              <a:t>Sudah terbiasa dengan aplikasi digital</a:t>
            </a:r>
            <a:endParaRPr lang="en-US" sz="1700" dirty="0"/>
          </a:p>
        </p:txBody>
      </p:sp>
      <p:sp>
        <p:nvSpPr>
          <p:cNvPr id="9" name="Text 6"/>
          <p:cNvSpPr txBox="1"/>
          <p:nvPr/>
        </p:nvSpPr>
        <p:spPr>
          <a:xfrm>
            <a:off x="914400" y="3246120"/>
            <a:ext cx="4663440" cy="365760"/>
          </a:xfrm>
          <a:prstGeom prst="rect">
            <a:avLst/>
          </a:prstGeom>
          <a:noFill/>
          <a:ln/>
        </p:spPr>
        <p:txBody>
          <a:bodyPr wrap="square" lIns="0" tIns="0" rIns="0" bIns="0" rtlCol="0" anchor="t"/>
          <a:lstStyle/>
          <a:p>
            <a:pPr indent="0" marL="0">
              <a:buNone/>
            </a:pPr>
            <a:r>
              <a:rPr lang="en-US" sz="1600" b="1" dirty="0">
                <a:solidFill>
                  <a:schemeClr val="tx1"/>
                </a:solidFill>
              </a:rPr>
              <a:t>Seberapa penting “mudah dipakai?”</a:t>
            </a:r>
            <a:endParaRPr lang="en-US" sz="1600" dirty="0"/>
          </a:p>
        </p:txBody>
      </p:sp>
      <p:sp>
        <p:nvSpPr>
          <p:cNvPr id="10" name="Pengguna A level 1"/>
          <p:cNvSpPr/>
          <p:nvPr/>
        </p:nvSpPr>
        <p:spPr>
          <a:xfrm>
            <a:off x="914400" y="3749040"/>
            <a:ext cx="841248" cy="457200"/>
          </a:xfrm>
          <a:prstGeom prst="roundRect">
            <a:avLst>
              <a:gd name="adj" fmla="val 16000"/>
            </a:avLst>
          </a:prstGeom>
          <a:solidFill>
            <a:schemeClr val="accent1"/>
          </a:solidFill>
          <a:ln/>
        </p:spPr>
      </p:sp>
      <p:sp>
        <p:nvSpPr>
          <p:cNvPr id="11" name="Pengguna A level 2"/>
          <p:cNvSpPr/>
          <p:nvPr/>
        </p:nvSpPr>
        <p:spPr>
          <a:xfrm>
            <a:off x="1847088" y="3749040"/>
            <a:ext cx="841248" cy="457200"/>
          </a:xfrm>
          <a:prstGeom prst="roundRect">
            <a:avLst>
              <a:gd name="adj" fmla="val 16000"/>
            </a:avLst>
          </a:prstGeom>
          <a:solidFill>
            <a:schemeClr val="accent1"/>
          </a:solidFill>
          <a:ln/>
        </p:spPr>
      </p:sp>
      <p:sp>
        <p:nvSpPr>
          <p:cNvPr id="12" name="Pengguna A level 3"/>
          <p:cNvSpPr/>
          <p:nvPr/>
        </p:nvSpPr>
        <p:spPr>
          <a:xfrm>
            <a:off x="2779776" y="3749040"/>
            <a:ext cx="841248" cy="457200"/>
          </a:xfrm>
          <a:prstGeom prst="roundRect">
            <a:avLst>
              <a:gd name="adj" fmla="val 16000"/>
            </a:avLst>
          </a:prstGeom>
          <a:solidFill>
            <a:srgbClr val="D9D7E8"/>
          </a:solidFill>
          <a:ln/>
        </p:spPr>
      </p:sp>
      <p:sp>
        <p:nvSpPr>
          <p:cNvPr id="13" name="Pengguna A level 4"/>
          <p:cNvSpPr/>
          <p:nvPr/>
        </p:nvSpPr>
        <p:spPr>
          <a:xfrm>
            <a:off x="3712464" y="3749040"/>
            <a:ext cx="841248" cy="457200"/>
          </a:xfrm>
          <a:prstGeom prst="roundRect">
            <a:avLst>
              <a:gd name="adj" fmla="val 16000"/>
            </a:avLst>
          </a:prstGeom>
          <a:solidFill>
            <a:srgbClr val="D9D7E8"/>
          </a:solidFill>
          <a:ln/>
        </p:spPr>
      </p:sp>
      <p:sp>
        <p:nvSpPr>
          <p:cNvPr id="14" name="Pengguna A level 5"/>
          <p:cNvSpPr/>
          <p:nvPr/>
        </p:nvSpPr>
        <p:spPr>
          <a:xfrm>
            <a:off x="4645152" y="3749040"/>
            <a:ext cx="841248" cy="457200"/>
          </a:xfrm>
          <a:prstGeom prst="roundRect">
            <a:avLst>
              <a:gd name="adj" fmla="val 16000"/>
            </a:avLst>
          </a:prstGeom>
          <a:solidFill>
            <a:srgbClr val="D9D7E8"/>
          </a:solidFill>
          <a:ln/>
        </p:spPr>
      </p:sp>
      <p:sp>
        <p:nvSpPr>
          <p:cNvPr id="15" name="Pengguna B"/>
          <p:cNvSpPr/>
          <p:nvPr/>
        </p:nvSpPr>
        <p:spPr>
          <a:xfrm>
            <a:off x="6245352" y="1600200"/>
            <a:ext cx="5394960" cy="3017520"/>
          </a:xfrm>
          <a:prstGeom prst="roundRect">
            <a:avLst>
              <a:gd name="adj" fmla="val 3636"/>
            </a:avLst>
          </a:prstGeom>
          <a:solidFill>
            <a:schemeClr val="bg2"/>
          </a:solidFill>
          <a:ln/>
        </p:spPr>
      </p:sp>
      <p:sp>
        <p:nvSpPr>
          <p:cNvPr id="16" name="Pengguna B lingkaran"/>
          <p:cNvSpPr/>
          <p:nvPr/>
        </p:nvSpPr>
        <p:spPr>
          <a:xfrm>
            <a:off x="6611112" y="1874520"/>
            <a:ext cx="914400" cy="914400"/>
          </a:xfrm>
          <a:prstGeom prst="ellipse">
            <a:avLst/>
          </a:prstGeom>
          <a:solidFill>
            <a:schemeClr val="tx2"/>
          </a:solidFill>
          <a:ln/>
        </p:spPr>
      </p:sp>
      <p:pic>
        <p:nvPicPr>
          <p:cNvPr id="17" name="Pengguna B ikon" descr="preencoded.png">    </p:cNvPr>
          <p:cNvPicPr>
            <a:picLocks noChangeAspect="1"/>
          </p:cNvPicPr>
          <p:nvPr/>
        </p:nvPicPr>
        <p:blipFill>
          <a:blip r:embed="rId2"/>
          <a:stretch>
            <a:fillRect/>
          </a:stretch>
        </p:blipFill>
        <p:spPr>
          <a:xfrm>
            <a:off x="6830568" y="2093976"/>
            <a:ext cx="475488" cy="475488"/>
          </a:xfrm>
          <a:prstGeom prst="rect">
            <a:avLst/>
          </a:prstGeom>
        </p:spPr>
      </p:pic>
      <p:sp>
        <p:nvSpPr>
          <p:cNvPr id="18" name="Text 14"/>
          <p:cNvSpPr txBox="1"/>
          <p:nvPr/>
        </p:nvSpPr>
        <p:spPr>
          <a:xfrm>
            <a:off x="7754112" y="1920240"/>
            <a:ext cx="365760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Pengguna B</a:t>
            </a:r>
            <a:endParaRPr lang="en-US" sz="2400" dirty="0"/>
          </a:p>
        </p:txBody>
      </p:sp>
      <p:sp>
        <p:nvSpPr>
          <p:cNvPr id="19" name="Text 15"/>
          <p:cNvSpPr txBox="1"/>
          <p:nvPr/>
        </p:nvSpPr>
        <p:spPr>
          <a:xfrm>
            <a:off x="7754112" y="2377440"/>
            <a:ext cx="3657600" cy="640080"/>
          </a:xfrm>
          <a:prstGeom prst="rect">
            <a:avLst/>
          </a:prstGeom>
          <a:noFill/>
          <a:ln/>
        </p:spPr>
        <p:txBody>
          <a:bodyPr wrap="square" lIns="0" tIns="0" rIns="0" bIns="0" rtlCol="0" anchor="t"/>
          <a:lstStyle/>
          <a:p>
            <a:pPr indent="0" marL="0">
              <a:buNone/>
            </a:pPr>
            <a:r>
              <a:rPr lang="en-US" sz="1700" dirty="0">
                <a:solidFill>
                  <a:schemeClr val="tx2"/>
                </a:solidFill>
              </a:rPr>
              <a:t>Baru pertama kali memakai sistem digital</a:t>
            </a:r>
            <a:endParaRPr lang="en-US" sz="1700" dirty="0"/>
          </a:p>
        </p:txBody>
      </p:sp>
      <p:sp>
        <p:nvSpPr>
          <p:cNvPr id="20" name="Text 16"/>
          <p:cNvSpPr txBox="1"/>
          <p:nvPr/>
        </p:nvSpPr>
        <p:spPr>
          <a:xfrm>
            <a:off x="6611112" y="3246120"/>
            <a:ext cx="4663440" cy="365760"/>
          </a:xfrm>
          <a:prstGeom prst="rect">
            <a:avLst/>
          </a:prstGeom>
          <a:noFill/>
          <a:ln/>
        </p:spPr>
        <p:txBody>
          <a:bodyPr wrap="square" lIns="0" tIns="0" rIns="0" bIns="0" rtlCol="0" anchor="t"/>
          <a:lstStyle/>
          <a:p>
            <a:pPr indent="0" marL="0">
              <a:buNone/>
            </a:pPr>
            <a:r>
              <a:rPr lang="en-US" sz="1600" b="1" dirty="0">
                <a:solidFill>
                  <a:schemeClr val="tx1"/>
                </a:solidFill>
              </a:rPr>
              <a:t>Seberapa penting “mudah dipakai?”</a:t>
            </a:r>
            <a:endParaRPr lang="en-US" sz="1600" dirty="0"/>
          </a:p>
        </p:txBody>
      </p:sp>
      <p:sp>
        <p:nvSpPr>
          <p:cNvPr id="21" name="Pengguna B level 1"/>
          <p:cNvSpPr/>
          <p:nvPr/>
        </p:nvSpPr>
        <p:spPr>
          <a:xfrm>
            <a:off x="6611112" y="3749040"/>
            <a:ext cx="841248" cy="457200"/>
          </a:xfrm>
          <a:prstGeom prst="roundRect">
            <a:avLst>
              <a:gd name="adj" fmla="val 16000"/>
            </a:avLst>
          </a:prstGeom>
          <a:solidFill>
            <a:schemeClr val="accent1"/>
          </a:solidFill>
          <a:ln/>
        </p:spPr>
      </p:sp>
      <p:sp>
        <p:nvSpPr>
          <p:cNvPr id="22" name="Pengguna B level 2"/>
          <p:cNvSpPr/>
          <p:nvPr/>
        </p:nvSpPr>
        <p:spPr>
          <a:xfrm>
            <a:off x="7543800" y="3749040"/>
            <a:ext cx="841248" cy="457200"/>
          </a:xfrm>
          <a:prstGeom prst="roundRect">
            <a:avLst>
              <a:gd name="adj" fmla="val 16000"/>
            </a:avLst>
          </a:prstGeom>
          <a:solidFill>
            <a:schemeClr val="accent1"/>
          </a:solidFill>
          <a:ln/>
        </p:spPr>
      </p:sp>
      <p:sp>
        <p:nvSpPr>
          <p:cNvPr id="23" name="Pengguna B level 3"/>
          <p:cNvSpPr/>
          <p:nvPr/>
        </p:nvSpPr>
        <p:spPr>
          <a:xfrm>
            <a:off x="8476488" y="3749040"/>
            <a:ext cx="841248" cy="457200"/>
          </a:xfrm>
          <a:prstGeom prst="roundRect">
            <a:avLst>
              <a:gd name="adj" fmla="val 16000"/>
            </a:avLst>
          </a:prstGeom>
          <a:solidFill>
            <a:schemeClr val="accent1"/>
          </a:solidFill>
          <a:ln/>
        </p:spPr>
      </p:sp>
      <p:sp>
        <p:nvSpPr>
          <p:cNvPr id="24" name="Pengguna B level 4"/>
          <p:cNvSpPr/>
          <p:nvPr/>
        </p:nvSpPr>
        <p:spPr>
          <a:xfrm>
            <a:off x="9409176" y="3749040"/>
            <a:ext cx="841248" cy="457200"/>
          </a:xfrm>
          <a:prstGeom prst="roundRect">
            <a:avLst>
              <a:gd name="adj" fmla="val 16000"/>
            </a:avLst>
          </a:prstGeom>
          <a:solidFill>
            <a:schemeClr val="accent1"/>
          </a:solidFill>
          <a:ln/>
        </p:spPr>
      </p:sp>
      <p:sp>
        <p:nvSpPr>
          <p:cNvPr id="25" name="Pengguna B level 5"/>
          <p:cNvSpPr/>
          <p:nvPr/>
        </p:nvSpPr>
        <p:spPr>
          <a:xfrm>
            <a:off x="10341864" y="3749040"/>
            <a:ext cx="841248" cy="457200"/>
          </a:xfrm>
          <a:prstGeom prst="roundRect">
            <a:avLst>
              <a:gd name="adj" fmla="val 16000"/>
            </a:avLst>
          </a:prstGeom>
          <a:solidFill>
            <a:schemeClr val="accent1"/>
          </a:solidFill>
          <a:ln/>
        </p:spPr>
      </p:sp>
      <p:sp>
        <p:nvSpPr>
          <p:cNvPr id="26" name="Kesimpulan moderator"/>
          <p:cNvSpPr/>
          <p:nvPr/>
        </p:nvSpPr>
        <p:spPr>
          <a:xfrm>
            <a:off x="548640" y="4892040"/>
            <a:ext cx="11091672" cy="1143000"/>
          </a:xfrm>
          <a:prstGeom prst="roundRect">
            <a:avLst>
              <a:gd name="adj" fmla="val 9600"/>
            </a:avLst>
          </a:prstGeom>
          <a:solidFill>
            <a:schemeClr val="tx1"/>
          </a:solidFill>
          <a:ln/>
        </p:spPr>
      </p:sp>
      <p:sp>
        <p:nvSpPr>
          <p:cNvPr id="27" name="Ide lingkaran"/>
          <p:cNvSpPr/>
          <p:nvPr/>
        </p:nvSpPr>
        <p:spPr>
          <a:xfrm>
            <a:off x="822960" y="5074920"/>
            <a:ext cx="777240" cy="777240"/>
          </a:xfrm>
          <a:prstGeom prst="ellipse">
            <a:avLst/>
          </a:prstGeom>
          <a:solidFill>
            <a:schemeClr val="accent2"/>
          </a:solidFill>
          <a:ln/>
        </p:spPr>
      </p:sp>
      <p:pic>
        <p:nvPicPr>
          <p:cNvPr id="28" name="Ide ikon" descr="preencoded.png">    </p:cNvPr>
          <p:cNvPicPr>
            <a:picLocks noChangeAspect="1"/>
          </p:cNvPicPr>
          <p:nvPr/>
        </p:nvPicPr>
        <p:blipFill>
          <a:blip r:embed="rId3"/>
          <a:stretch>
            <a:fillRect/>
          </a:stretch>
        </p:blipFill>
        <p:spPr>
          <a:xfrm>
            <a:off x="1009498" y="5261458"/>
            <a:ext cx="404165" cy="404165"/>
          </a:xfrm>
          <a:prstGeom prst="rect">
            <a:avLst/>
          </a:prstGeom>
        </p:spPr>
      </p:pic>
      <p:sp>
        <p:nvSpPr>
          <p:cNvPr id="29" name="Text 24"/>
          <p:cNvSpPr txBox="1"/>
          <p:nvPr/>
        </p:nvSpPr>
        <p:spPr>
          <a:xfrm>
            <a:off x="1828800" y="4892040"/>
            <a:ext cx="9509760" cy="1143000"/>
          </a:xfrm>
          <a:prstGeom prst="rect">
            <a:avLst/>
          </a:prstGeom>
          <a:noFill/>
          <a:ln/>
        </p:spPr>
        <p:txBody>
          <a:bodyPr wrap="square" lIns="0" tIns="0" rIns="0" bIns="0" rtlCol="0" anchor="ctr"/>
          <a:lstStyle/>
          <a:p>
            <a:pPr indent="0" marL="0">
              <a:buNone/>
            </a:pPr>
            <a:r>
              <a:rPr lang="en-US" sz="2000" b="1" dirty="0">
                <a:solidFill>
                  <a:schemeClr val="accent2"/>
                </a:solidFill>
              </a:rPr>
              <a:t>Experience</a:t>
            </a:r>
            <a:pPr indent="0" marL="0">
              <a:buNone/>
            </a:pPr>
            <a:r>
              <a:rPr lang="en-US" sz="2000" dirty="0">
                <a:solidFill>
                  <a:schemeClr val="bg1"/>
                </a:solidFill>
              </a:rPr>
              <a:t> memperlemah pengaruh Effort Expectancy. Moderator tidak menyebabkan penggunaan, tetapi mengubah </a:t>
            </a:r>
            <a:pPr indent="0" marL="0">
              <a:buNone/>
            </a:pPr>
            <a:r>
              <a:rPr lang="en-US" sz="2000" b="1" dirty="0">
                <a:solidFill>
                  <a:schemeClr val="accent2"/>
                </a:solidFill>
              </a:rPr>
              <a:t>kuat-lemahnya</a:t>
            </a:r>
            <a:pPr indent="0" marL="0">
              <a:buNone/>
            </a:pPr>
            <a:r>
              <a:rPr lang="en-US" sz="2000" dirty="0">
                <a:solidFill>
                  <a:schemeClr val="bg1"/>
                </a:solidFill>
              </a:rPr>
              <a:t> hubungan.</a:t>
            </a:r>
            <a:endParaRPr lang="en-US" sz="2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PETA MODERATOR UTAUT</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Siapa yang paling terpengaruh?</a:t>
            </a:r>
            <a:endParaRPr lang="en-US" sz="3400" dirty="0"/>
          </a:p>
        </p:txBody>
      </p:sp>
      <p:sp>
        <p:nvSpPr>
          <p:cNvPr id="4" name="Moderator Gender lingkaran"/>
          <p:cNvSpPr/>
          <p:nvPr/>
        </p:nvSpPr>
        <p:spPr>
          <a:xfrm>
            <a:off x="2743200" y="1463040"/>
            <a:ext cx="502920" cy="502920"/>
          </a:xfrm>
          <a:prstGeom prst="ellipse">
            <a:avLst/>
          </a:prstGeom>
          <a:solidFill>
            <a:schemeClr val="tx2"/>
          </a:solidFill>
          <a:ln/>
        </p:spPr>
      </p:sp>
      <p:pic>
        <p:nvPicPr>
          <p:cNvPr id="5" name="Moderator Gender ikon" descr="preencoded.png">    </p:cNvPr>
          <p:cNvPicPr>
            <a:picLocks noChangeAspect="1"/>
          </p:cNvPicPr>
          <p:nvPr/>
        </p:nvPicPr>
        <p:blipFill>
          <a:blip r:embed="rId1"/>
          <a:stretch>
            <a:fillRect/>
          </a:stretch>
        </p:blipFill>
        <p:spPr>
          <a:xfrm>
            <a:off x="2863901" y="1583741"/>
            <a:ext cx="261518" cy="261518"/>
          </a:xfrm>
          <a:prstGeom prst="rect">
            <a:avLst/>
          </a:prstGeom>
        </p:spPr>
      </p:pic>
      <p:sp>
        <p:nvSpPr>
          <p:cNvPr id="6" name="Text 3"/>
          <p:cNvSpPr txBox="1"/>
          <p:nvPr/>
        </p:nvSpPr>
        <p:spPr>
          <a:xfrm>
            <a:off x="2377440" y="2011680"/>
            <a:ext cx="1234440" cy="274320"/>
          </a:xfrm>
          <a:prstGeom prst="rect">
            <a:avLst/>
          </a:prstGeom>
          <a:noFill/>
          <a:ln/>
        </p:spPr>
        <p:txBody>
          <a:bodyPr wrap="square" lIns="0" tIns="0" rIns="0" bIns="0" rtlCol="0" anchor="t"/>
          <a:lstStyle/>
          <a:p>
            <a:pPr algn="ctr" indent="0" marL="0">
              <a:buNone/>
            </a:pPr>
            <a:r>
              <a:rPr lang="en-US" sz="1300" b="1" dirty="0">
                <a:solidFill>
                  <a:schemeClr val="tx2"/>
                </a:solidFill>
              </a:rPr>
              <a:t>Gender</a:t>
            </a:r>
            <a:endParaRPr lang="en-US" sz="1300" dirty="0"/>
          </a:p>
        </p:txBody>
      </p:sp>
      <p:sp>
        <p:nvSpPr>
          <p:cNvPr id="7" name="Moderator Age lingkaran"/>
          <p:cNvSpPr/>
          <p:nvPr/>
        </p:nvSpPr>
        <p:spPr>
          <a:xfrm>
            <a:off x="3977640" y="1463040"/>
            <a:ext cx="502920" cy="502920"/>
          </a:xfrm>
          <a:prstGeom prst="ellipse">
            <a:avLst/>
          </a:prstGeom>
          <a:solidFill>
            <a:schemeClr val="tx2"/>
          </a:solidFill>
          <a:ln/>
        </p:spPr>
      </p:sp>
      <p:pic>
        <p:nvPicPr>
          <p:cNvPr id="8" name="Moderator Age ikon" descr="preencoded.png">    </p:cNvPr>
          <p:cNvPicPr>
            <a:picLocks noChangeAspect="1"/>
          </p:cNvPicPr>
          <p:nvPr/>
        </p:nvPicPr>
        <p:blipFill>
          <a:blip r:embed="rId2"/>
          <a:stretch>
            <a:fillRect/>
          </a:stretch>
        </p:blipFill>
        <p:spPr>
          <a:xfrm>
            <a:off x="4098341" y="1583741"/>
            <a:ext cx="261518" cy="261518"/>
          </a:xfrm>
          <a:prstGeom prst="rect">
            <a:avLst/>
          </a:prstGeom>
        </p:spPr>
      </p:pic>
      <p:sp>
        <p:nvSpPr>
          <p:cNvPr id="9" name="Text 5"/>
          <p:cNvSpPr txBox="1"/>
          <p:nvPr/>
        </p:nvSpPr>
        <p:spPr>
          <a:xfrm>
            <a:off x="3611880" y="2011680"/>
            <a:ext cx="1234440" cy="274320"/>
          </a:xfrm>
          <a:prstGeom prst="rect">
            <a:avLst/>
          </a:prstGeom>
          <a:noFill/>
          <a:ln/>
        </p:spPr>
        <p:txBody>
          <a:bodyPr wrap="square" lIns="0" tIns="0" rIns="0" bIns="0" rtlCol="0" anchor="t"/>
          <a:lstStyle/>
          <a:p>
            <a:pPr algn="ctr" indent="0" marL="0">
              <a:buNone/>
            </a:pPr>
            <a:r>
              <a:rPr lang="en-US" sz="1300" b="1" dirty="0">
                <a:solidFill>
                  <a:schemeClr val="tx2"/>
                </a:solidFill>
              </a:rPr>
              <a:t>Age</a:t>
            </a:r>
            <a:endParaRPr lang="en-US" sz="1300" dirty="0"/>
          </a:p>
        </p:txBody>
      </p:sp>
      <p:sp>
        <p:nvSpPr>
          <p:cNvPr id="10" name="Moderator Experience lingkaran"/>
          <p:cNvSpPr/>
          <p:nvPr/>
        </p:nvSpPr>
        <p:spPr>
          <a:xfrm>
            <a:off x="5212080" y="1463040"/>
            <a:ext cx="502920" cy="502920"/>
          </a:xfrm>
          <a:prstGeom prst="ellipse">
            <a:avLst/>
          </a:prstGeom>
          <a:solidFill>
            <a:schemeClr val="tx2"/>
          </a:solidFill>
          <a:ln/>
        </p:spPr>
      </p:sp>
      <p:pic>
        <p:nvPicPr>
          <p:cNvPr id="11" name="Moderator Experience ikon" descr="preencoded.png">    </p:cNvPr>
          <p:cNvPicPr>
            <a:picLocks noChangeAspect="1"/>
          </p:cNvPicPr>
          <p:nvPr/>
        </p:nvPicPr>
        <p:blipFill>
          <a:blip r:embed="rId3"/>
          <a:stretch>
            <a:fillRect/>
          </a:stretch>
        </p:blipFill>
        <p:spPr>
          <a:xfrm>
            <a:off x="5332781" y="1583741"/>
            <a:ext cx="261518" cy="261518"/>
          </a:xfrm>
          <a:prstGeom prst="rect">
            <a:avLst/>
          </a:prstGeom>
        </p:spPr>
      </p:pic>
      <p:sp>
        <p:nvSpPr>
          <p:cNvPr id="12" name="Text 7"/>
          <p:cNvSpPr txBox="1"/>
          <p:nvPr/>
        </p:nvSpPr>
        <p:spPr>
          <a:xfrm>
            <a:off x="4846320" y="2011680"/>
            <a:ext cx="1234440" cy="274320"/>
          </a:xfrm>
          <a:prstGeom prst="rect">
            <a:avLst/>
          </a:prstGeom>
          <a:noFill/>
          <a:ln/>
        </p:spPr>
        <p:txBody>
          <a:bodyPr wrap="square" lIns="0" tIns="0" rIns="0" bIns="0" rtlCol="0" anchor="t"/>
          <a:lstStyle/>
          <a:p>
            <a:pPr algn="ctr" indent="0" marL="0">
              <a:buNone/>
            </a:pPr>
            <a:r>
              <a:rPr lang="en-US" sz="1300" b="1" dirty="0">
                <a:solidFill>
                  <a:schemeClr val="tx2"/>
                </a:solidFill>
              </a:rPr>
              <a:t>Experience</a:t>
            </a:r>
            <a:endParaRPr lang="en-US" sz="1300" dirty="0"/>
          </a:p>
        </p:txBody>
      </p:sp>
      <p:sp>
        <p:nvSpPr>
          <p:cNvPr id="13" name="Moderator Voluntariness lingkaran"/>
          <p:cNvSpPr/>
          <p:nvPr/>
        </p:nvSpPr>
        <p:spPr>
          <a:xfrm>
            <a:off x="6446520" y="1463040"/>
            <a:ext cx="502920" cy="502920"/>
          </a:xfrm>
          <a:prstGeom prst="ellipse">
            <a:avLst/>
          </a:prstGeom>
          <a:solidFill>
            <a:schemeClr val="tx2"/>
          </a:solidFill>
          <a:ln/>
        </p:spPr>
      </p:sp>
      <p:pic>
        <p:nvPicPr>
          <p:cNvPr id="14" name="Moderator Voluntariness ikon" descr="preencoded.png">    </p:cNvPr>
          <p:cNvPicPr>
            <a:picLocks noChangeAspect="1"/>
          </p:cNvPicPr>
          <p:nvPr/>
        </p:nvPicPr>
        <p:blipFill>
          <a:blip r:embed="rId4"/>
          <a:stretch>
            <a:fillRect/>
          </a:stretch>
        </p:blipFill>
        <p:spPr>
          <a:xfrm>
            <a:off x="6567221" y="1583741"/>
            <a:ext cx="261518" cy="261518"/>
          </a:xfrm>
          <a:prstGeom prst="rect">
            <a:avLst/>
          </a:prstGeom>
        </p:spPr>
      </p:pic>
      <p:sp>
        <p:nvSpPr>
          <p:cNvPr id="15" name="Text 9"/>
          <p:cNvSpPr txBox="1"/>
          <p:nvPr/>
        </p:nvSpPr>
        <p:spPr>
          <a:xfrm>
            <a:off x="6080760" y="2011680"/>
            <a:ext cx="1234440" cy="274320"/>
          </a:xfrm>
          <a:prstGeom prst="rect">
            <a:avLst/>
          </a:prstGeom>
          <a:noFill/>
          <a:ln/>
        </p:spPr>
        <p:txBody>
          <a:bodyPr wrap="square" lIns="0" tIns="0" rIns="0" bIns="0" rtlCol="0" anchor="t"/>
          <a:lstStyle/>
          <a:p>
            <a:pPr algn="ctr" indent="0" marL="0">
              <a:buNone/>
            </a:pPr>
            <a:r>
              <a:rPr lang="en-US" sz="1300" b="1" dirty="0">
                <a:solidFill>
                  <a:schemeClr val="tx2"/>
                </a:solidFill>
              </a:rPr>
              <a:t>Voluntariness</a:t>
            </a:r>
            <a:endParaRPr lang="en-US" sz="1300" dirty="0"/>
          </a:p>
        </p:txBody>
      </p:sp>
      <p:sp>
        <p:nvSpPr>
          <p:cNvPr id="16" name="Text 10"/>
          <p:cNvSpPr txBox="1"/>
          <p:nvPr/>
        </p:nvSpPr>
        <p:spPr>
          <a:xfrm>
            <a:off x="7543800" y="2011680"/>
            <a:ext cx="4325112" cy="274320"/>
          </a:xfrm>
          <a:prstGeom prst="rect">
            <a:avLst/>
          </a:prstGeom>
          <a:noFill/>
          <a:ln/>
        </p:spPr>
        <p:txBody>
          <a:bodyPr wrap="square" lIns="0" tIns="0" rIns="0" bIns="0" rtlCol="0" anchor="t"/>
          <a:lstStyle/>
          <a:p>
            <a:pPr indent="0" marL="0">
              <a:buNone/>
            </a:pPr>
            <a:r>
              <a:rPr lang="en-US" sz="1300" b="1" dirty="0">
                <a:solidFill>
                  <a:schemeClr val="tx2"/>
                </a:solidFill>
              </a:rPr>
              <a:t>Paling kuat pada…</a:t>
            </a:r>
            <a:endParaRPr lang="en-US" sz="1300" dirty="0"/>
          </a:p>
        </p:txBody>
      </p:sp>
      <p:sp>
        <p:nvSpPr>
          <p:cNvPr id="17" name="Baris PE → BI"/>
          <p:cNvSpPr/>
          <p:nvPr/>
        </p:nvSpPr>
        <p:spPr>
          <a:xfrm>
            <a:off x="548640" y="2423160"/>
            <a:ext cx="11320272" cy="713232"/>
          </a:xfrm>
          <a:prstGeom prst="roundRect">
            <a:avLst>
              <a:gd name="adj" fmla="val 15385"/>
            </a:avLst>
          </a:prstGeom>
          <a:solidFill>
            <a:schemeClr val="bg2"/>
          </a:solidFill>
          <a:ln/>
        </p:spPr>
      </p:sp>
      <p:sp>
        <p:nvSpPr>
          <p:cNvPr id="18" name="Text 12"/>
          <p:cNvSpPr txBox="1"/>
          <p:nvPr/>
        </p:nvSpPr>
        <p:spPr>
          <a:xfrm>
            <a:off x="731520" y="2423160"/>
            <a:ext cx="1645920" cy="713232"/>
          </a:xfrm>
          <a:prstGeom prst="rect">
            <a:avLst/>
          </a:prstGeom>
          <a:noFill/>
          <a:ln/>
        </p:spPr>
        <p:txBody>
          <a:bodyPr wrap="square" lIns="0" tIns="0" rIns="0" bIns="0" rtlCol="0" anchor="ctr"/>
          <a:lstStyle/>
          <a:p>
            <a:pPr indent="0" marL="0">
              <a:buNone/>
            </a:pPr>
            <a:r>
              <a:rPr lang="en-US" sz="1800" b="1" dirty="0">
                <a:solidFill>
                  <a:schemeClr val="tx2"/>
                </a:solidFill>
              </a:rPr>
              <a:t>PE → BI</a:t>
            </a:r>
            <a:endParaRPr lang="en-US" sz="1800" dirty="0"/>
          </a:p>
        </p:txBody>
      </p:sp>
      <p:sp>
        <p:nvSpPr>
          <p:cNvPr id="19" name="Titik PE → BI 0"/>
          <p:cNvSpPr/>
          <p:nvPr/>
        </p:nvSpPr>
        <p:spPr>
          <a:xfrm>
            <a:off x="2857500" y="2642616"/>
            <a:ext cx="274320" cy="274320"/>
          </a:xfrm>
          <a:prstGeom prst="ellipse">
            <a:avLst/>
          </a:prstGeom>
          <a:solidFill>
            <a:schemeClr val="accent1"/>
          </a:solidFill>
          <a:ln/>
        </p:spPr>
      </p:sp>
      <p:sp>
        <p:nvSpPr>
          <p:cNvPr id="20" name="Titik PE → BI 1"/>
          <p:cNvSpPr/>
          <p:nvPr/>
        </p:nvSpPr>
        <p:spPr>
          <a:xfrm>
            <a:off x="4091940" y="2642616"/>
            <a:ext cx="274320" cy="274320"/>
          </a:xfrm>
          <a:prstGeom prst="ellipse">
            <a:avLst/>
          </a:prstGeom>
          <a:solidFill>
            <a:schemeClr val="accent1"/>
          </a:solidFill>
          <a:ln/>
        </p:spPr>
      </p:sp>
      <p:sp>
        <p:nvSpPr>
          <p:cNvPr id="21" name="Kosong PE → BI 2"/>
          <p:cNvSpPr/>
          <p:nvPr/>
        </p:nvSpPr>
        <p:spPr>
          <a:xfrm>
            <a:off x="5353812" y="2779776"/>
            <a:ext cx="219456" cy="0"/>
          </a:xfrm>
          <a:prstGeom prst="line">
            <a:avLst/>
          </a:prstGeom>
          <a:noFill/>
          <a:ln w="19050">
            <a:solidFill>
              <a:schemeClr val="accent6"/>
            </a:solidFill>
            <a:prstDash val="solid"/>
          </a:ln>
        </p:spPr>
      </p:sp>
      <p:sp>
        <p:nvSpPr>
          <p:cNvPr id="22" name="Kosong PE → BI 3"/>
          <p:cNvSpPr/>
          <p:nvPr/>
        </p:nvSpPr>
        <p:spPr>
          <a:xfrm>
            <a:off x="6588252" y="2779776"/>
            <a:ext cx="219456" cy="0"/>
          </a:xfrm>
          <a:prstGeom prst="line">
            <a:avLst/>
          </a:prstGeom>
          <a:noFill/>
          <a:ln w="19050">
            <a:solidFill>
              <a:schemeClr val="accent6"/>
            </a:solidFill>
            <a:prstDash val="solid"/>
          </a:ln>
        </p:spPr>
      </p:sp>
      <p:sp>
        <p:nvSpPr>
          <p:cNvPr id="23" name="Text 17"/>
          <p:cNvSpPr txBox="1"/>
          <p:nvPr/>
        </p:nvSpPr>
        <p:spPr>
          <a:xfrm>
            <a:off x="7543800" y="2423160"/>
            <a:ext cx="4233672" cy="713232"/>
          </a:xfrm>
          <a:prstGeom prst="rect">
            <a:avLst/>
          </a:prstGeom>
          <a:noFill/>
          <a:ln/>
        </p:spPr>
        <p:txBody>
          <a:bodyPr wrap="square" lIns="0" tIns="0" rIns="0" bIns="0" rtlCol="0" anchor="ctr"/>
          <a:lstStyle/>
          <a:p>
            <a:pPr indent="0" marL="0">
              <a:buNone/>
            </a:pPr>
            <a:r>
              <a:rPr lang="en-US" sz="1600" dirty="0">
                <a:solidFill>
                  <a:schemeClr val="tx1"/>
                </a:solidFill>
              </a:rPr>
              <a:t>Pria, usia muda</a:t>
            </a:r>
            <a:endParaRPr lang="en-US" sz="1600" dirty="0"/>
          </a:p>
        </p:txBody>
      </p:sp>
      <p:sp>
        <p:nvSpPr>
          <p:cNvPr id="24" name="Baris EE → BI"/>
          <p:cNvSpPr/>
          <p:nvPr/>
        </p:nvSpPr>
        <p:spPr>
          <a:xfrm>
            <a:off x="548640" y="3227832"/>
            <a:ext cx="11320272" cy="713232"/>
          </a:xfrm>
          <a:prstGeom prst="roundRect">
            <a:avLst>
              <a:gd name="adj" fmla="val 15385"/>
            </a:avLst>
          </a:prstGeom>
          <a:solidFill>
            <a:schemeClr val="bg1"/>
          </a:solidFill>
          <a:ln/>
        </p:spPr>
      </p:sp>
      <p:sp>
        <p:nvSpPr>
          <p:cNvPr id="25" name="Text 19"/>
          <p:cNvSpPr txBox="1"/>
          <p:nvPr/>
        </p:nvSpPr>
        <p:spPr>
          <a:xfrm>
            <a:off x="731520" y="3227832"/>
            <a:ext cx="1645920" cy="713232"/>
          </a:xfrm>
          <a:prstGeom prst="rect">
            <a:avLst/>
          </a:prstGeom>
          <a:noFill/>
          <a:ln/>
        </p:spPr>
        <p:txBody>
          <a:bodyPr wrap="square" lIns="0" tIns="0" rIns="0" bIns="0" rtlCol="0" anchor="ctr"/>
          <a:lstStyle/>
          <a:p>
            <a:pPr indent="0" marL="0">
              <a:buNone/>
            </a:pPr>
            <a:r>
              <a:rPr lang="en-US" sz="1800" b="1" dirty="0">
                <a:solidFill>
                  <a:schemeClr val="tx2"/>
                </a:solidFill>
              </a:rPr>
              <a:t>EE → BI</a:t>
            </a:r>
            <a:endParaRPr lang="en-US" sz="1800" dirty="0"/>
          </a:p>
        </p:txBody>
      </p:sp>
      <p:sp>
        <p:nvSpPr>
          <p:cNvPr id="26" name="Titik EE → BI 0"/>
          <p:cNvSpPr/>
          <p:nvPr/>
        </p:nvSpPr>
        <p:spPr>
          <a:xfrm>
            <a:off x="2857500" y="3447288"/>
            <a:ext cx="274320" cy="274320"/>
          </a:xfrm>
          <a:prstGeom prst="ellipse">
            <a:avLst/>
          </a:prstGeom>
          <a:solidFill>
            <a:schemeClr val="accent1"/>
          </a:solidFill>
          <a:ln/>
        </p:spPr>
      </p:sp>
      <p:sp>
        <p:nvSpPr>
          <p:cNvPr id="27" name="Titik EE → BI 1"/>
          <p:cNvSpPr/>
          <p:nvPr/>
        </p:nvSpPr>
        <p:spPr>
          <a:xfrm>
            <a:off x="4091940" y="3447288"/>
            <a:ext cx="274320" cy="274320"/>
          </a:xfrm>
          <a:prstGeom prst="ellipse">
            <a:avLst/>
          </a:prstGeom>
          <a:solidFill>
            <a:schemeClr val="accent1"/>
          </a:solidFill>
          <a:ln/>
        </p:spPr>
      </p:sp>
      <p:sp>
        <p:nvSpPr>
          <p:cNvPr id="28" name="Titik EE → BI 2"/>
          <p:cNvSpPr/>
          <p:nvPr/>
        </p:nvSpPr>
        <p:spPr>
          <a:xfrm>
            <a:off x="5326380" y="3447288"/>
            <a:ext cx="274320" cy="274320"/>
          </a:xfrm>
          <a:prstGeom prst="ellipse">
            <a:avLst/>
          </a:prstGeom>
          <a:solidFill>
            <a:schemeClr val="accent1"/>
          </a:solidFill>
          <a:ln/>
        </p:spPr>
      </p:sp>
      <p:sp>
        <p:nvSpPr>
          <p:cNvPr id="29" name="Kosong EE → BI 3"/>
          <p:cNvSpPr/>
          <p:nvPr/>
        </p:nvSpPr>
        <p:spPr>
          <a:xfrm>
            <a:off x="6588252" y="3584448"/>
            <a:ext cx="219456" cy="0"/>
          </a:xfrm>
          <a:prstGeom prst="line">
            <a:avLst/>
          </a:prstGeom>
          <a:noFill/>
          <a:ln w="19050">
            <a:solidFill>
              <a:schemeClr val="accent6"/>
            </a:solidFill>
            <a:prstDash val="solid"/>
          </a:ln>
        </p:spPr>
      </p:sp>
      <p:sp>
        <p:nvSpPr>
          <p:cNvPr id="30" name="Text 24"/>
          <p:cNvSpPr txBox="1"/>
          <p:nvPr/>
        </p:nvSpPr>
        <p:spPr>
          <a:xfrm>
            <a:off x="7543800" y="3227832"/>
            <a:ext cx="4233672" cy="713232"/>
          </a:xfrm>
          <a:prstGeom prst="rect">
            <a:avLst/>
          </a:prstGeom>
          <a:noFill/>
          <a:ln/>
        </p:spPr>
        <p:txBody>
          <a:bodyPr wrap="square" lIns="0" tIns="0" rIns="0" bIns="0" rtlCol="0" anchor="ctr"/>
          <a:lstStyle/>
          <a:p>
            <a:pPr indent="0" marL="0">
              <a:buNone/>
            </a:pPr>
            <a:r>
              <a:rPr lang="en-US" sz="1600" dirty="0">
                <a:solidFill>
                  <a:schemeClr val="tx1"/>
                </a:solidFill>
              </a:rPr>
              <a:t>Wanita, usia tua, pengguna baru</a:t>
            </a:r>
            <a:endParaRPr lang="en-US" sz="1600" dirty="0"/>
          </a:p>
        </p:txBody>
      </p:sp>
      <p:sp>
        <p:nvSpPr>
          <p:cNvPr id="31" name="Baris SI → BI"/>
          <p:cNvSpPr/>
          <p:nvPr/>
        </p:nvSpPr>
        <p:spPr>
          <a:xfrm>
            <a:off x="548640" y="4032504"/>
            <a:ext cx="11320272" cy="713232"/>
          </a:xfrm>
          <a:prstGeom prst="roundRect">
            <a:avLst>
              <a:gd name="adj" fmla="val 15385"/>
            </a:avLst>
          </a:prstGeom>
          <a:solidFill>
            <a:schemeClr val="bg2"/>
          </a:solidFill>
          <a:ln/>
        </p:spPr>
      </p:sp>
      <p:sp>
        <p:nvSpPr>
          <p:cNvPr id="32" name="Text 26"/>
          <p:cNvSpPr txBox="1"/>
          <p:nvPr/>
        </p:nvSpPr>
        <p:spPr>
          <a:xfrm>
            <a:off x="731520" y="4032504"/>
            <a:ext cx="1645920" cy="713232"/>
          </a:xfrm>
          <a:prstGeom prst="rect">
            <a:avLst/>
          </a:prstGeom>
          <a:noFill/>
          <a:ln/>
        </p:spPr>
        <p:txBody>
          <a:bodyPr wrap="square" lIns="0" tIns="0" rIns="0" bIns="0" rtlCol="0" anchor="ctr"/>
          <a:lstStyle/>
          <a:p>
            <a:pPr indent="0" marL="0">
              <a:buNone/>
            </a:pPr>
            <a:r>
              <a:rPr lang="en-US" sz="1800" b="1" dirty="0">
                <a:solidFill>
                  <a:schemeClr val="tx2"/>
                </a:solidFill>
              </a:rPr>
              <a:t>SI → BI</a:t>
            </a:r>
            <a:endParaRPr lang="en-US" sz="1800" dirty="0"/>
          </a:p>
        </p:txBody>
      </p:sp>
      <p:sp>
        <p:nvSpPr>
          <p:cNvPr id="33" name="Titik SI → BI 0"/>
          <p:cNvSpPr/>
          <p:nvPr/>
        </p:nvSpPr>
        <p:spPr>
          <a:xfrm>
            <a:off x="2857500" y="4251960"/>
            <a:ext cx="274320" cy="274320"/>
          </a:xfrm>
          <a:prstGeom prst="ellipse">
            <a:avLst/>
          </a:prstGeom>
          <a:solidFill>
            <a:schemeClr val="accent1"/>
          </a:solidFill>
          <a:ln/>
        </p:spPr>
      </p:sp>
      <p:sp>
        <p:nvSpPr>
          <p:cNvPr id="34" name="Titik SI → BI 1"/>
          <p:cNvSpPr/>
          <p:nvPr/>
        </p:nvSpPr>
        <p:spPr>
          <a:xfrm>
            <a:off x="4091940" y="4251960"/>
            <a:ext cx="274320" cy="274320"/>
          </a:xfrm>
          <a:prstGeom prst="ellipse">
            <a:avLst/>
          </a:prstGeom>
          <a:solidFill>
            <a:schemeClr val="accent1"/>
          </a:solidFill>
          <a:ln/>
        </p:spPr>
      </p:sp>
      <p:sp>
        <p:nvSpPr>
          <p:cNvPr id="35" name="Titik SI → BI 2"/>
          <p:cNvSpPr/>
          <p:nvPr/>
        </p:nvSpPr>
        <p:spPr>
          <a:xfrm>
            <a:off x="5326380" y="4251960"/>
            <a:ext cx="274320" cy="274320"/>
          </a:xfrm>
          <a:prstGeom prst="ellipse">
            <a:avLst/>
          </a:prstGeom>
          <a:solidFill>
            <a:schemeClr val="accent1"/>
          </a:solidFill>
          <a:ln/>
        </p:spPr>
      </p:sp>
      <p:sp>
        <p:nvSpPr>
          <p:cNvPr id="36" name="Titik SI → BI 3"/>
          <p:cNvSpPr/>
          <p:nvPr/>
        </p:nvSpPr>
        <p:spPr>
          <a:xfrm>
            <a:off x="6560820" y="4251960"/>
            <a:ext cx="274320" cy="274320"/>
          </a:xfrm>
          <a:prstGeom prst="ellipse">
            <a:avLst/>
          </a:prstGeom>
          <a:solidFill>
            <a:schemeClr val="accent1"/>
          </a:solidFill>
          <a:ln/>
        </p:spPr>
      </p:sp>
      <p:sp>
        <p:nvSpPr>
          <p:cNvPr id="37" name="Text 31"/>
          <p:cNvSpPr txBox="1"/>
          <p:nvPr/>
        </p:nvSpPr>
        <p:spPr>
          <a:xfrm>
            <a:off x="7543800" y="4032504"/>
            <a:ext cx="4233672" cy="713232"/>
          </a:xfrm>
          <a:prstGeom prst="rect">
            <a:avLst/>
          </a:prstGeom>
          <a:noFill/>
          <a:ln/>
        </p:spPr>
        <p:txBody>
          <a:bodyPr wrap="square" lIns="0" tIns="0" rIns="0" bIns="0" rtlCol="0" anchor="ctr"/>
          <a:lstStyle/>
          <a:p>
            <a:pPr indent="0" marL="0">
              <a:buNone/>
            </a:pPr>
            <a:r>
              <a:rPr lang="en-US" sz="1600" dirty="0">
                <a:solidFill>
                  <a:schemeClr val="tx1"/>
                </a:solidFill>
              </a:rPr>
              <a:t>Wanita, usia tua, saat wajib</a:t>
            </a:r>
            <a:endParaRPr lang="en-US" sz="1600" dirty="0"/>
          </a:p>
        </p:txBody>
      </p:sp>
      <p:sp>
        <p:nvSpPr>
          <p:cNvPr id="38" name="Baris FC → UB"/>
          <p:cNvSpPr/>
          <p:nvPr/>
        </p:nvSpPr>
        <p:spPr>
          <a:xfrm>
            <a:off x="548640" y="4837176"/>
            <a:ext cx="11320272" cy="713232"/>
          </a:xfrm>
          <a:prstGeom prst="roundRect">
            <a:avLst>
              <a:gd name="adj" fmla="val 15385"/>
            </a:avLst>
          </a:prstGeom>
          <a:solidFill>
            <a:schemeClr val="bg1"/>
          </a:solidFill>
          <a:ln/>
        </p:spPr>
      </p:sp>
      <p:sp>
        <p:nvSpPr>
          <p:cNvPr id="39" name="Text 33"/>
          <p:cNvSpPr txBox="1"/>
          <p:nvPr/>
        </p:nvSpPr>
        <p:spPr>
          <a:xfrm>
            <a:off x="731520" y="4837176"/>
            <a:ext cx="1645920" cy="713232"/>
          </a:xfrm>
          <a:prstGeom prst="rect">
            <a:avLst/>
          </a:prstGeom>
          <a:noFill/>
          <a:ln/>
        </p:spPr>
        <p:txBody>
          <a:bodyPr wrap="square" lIns="0" tIns="0" rIns="0" bIns="0" rtlCol="0" anchor="ctr"/>
          <a:lstStyle/>
          <a:p>
            <a:pPr indent="0" marL="0">
              <a:buNone/>
            </a:pPr>
            <a:r>
              <a:rPr lang="en-US" sz="1800" b="1" dirty="0">
                <a:solidFill>
                  <a:schemeClr val="tx2"/>
                </a:solidFill>
              </a:rPr>
              <a:t>FC → UB</a:t>
            </a:r>
            <a:endParaRPr lang="en-US" sz="1800" dirty="0"/>
          </a:p>
        </p:txBody>
      </p:sp>
      <p:sp>
        <p:nvSpPr>
          <p:cNvPr id="40" name="Kosong FC → UB 0"/>
          <p:cNvSpPr/>
          <p:nvPr/>
        </p:nvSpPr>
        <p:spPr>
          <a:xfrm>
            <a:off x="2884932" y="5193792"/>
            <a:ext cx="219456" cy="0"/>
          </a:xfrm>
          <a:prstGeom prst="line">
            <a:avLst/>
          </a:prstGeom>
          <a:noFill/>
          <a:ln w="19050">
            <a:solidFill>
              <a:schemeClr val="accent6"/>
            </a:solidFill>
            <a:prstDash val="solid"/>
          </a:ln>
        </p:spPr>
      </p:sp>
      <p:sp>
        <p:nvSpPr>
          <p:cNvPr id="41" name="Titik FC → UB 1"/>
          <p:cNvSpPr/>
          <p:nvPr/>
        </p:nvSpPr>
        <p:spPr>
          <a:xfrm>
            <a:off x="4091940" y="5056632"/>
            <a:ext cx="274320" cy="274320"/>
          </a:xfrm>
          <a:prstGeom prst="ellipse">
            <a:avLst/>
          </a:prstGeom>
          <a:solidFill>
            <a:schemeClr val="accent1"/>
          </a:solidFill>
          <a:ln/>
        </p:spPr>
      </p:sp>
      <p:sp>
        <p:nvSpPr>
          <p:cNvPr id="42" name="Titik FC → UB 2"/>
          <p:cNvSpPr/>
          <p:nvPr/>
        </p:nvSpPr>
        <p:spPr>
          <a:xfrm>
            <a:off x="5326380" y="5056632"/>
            <a:ext cx="274320" cy="274320"/>
          </a:xfrm>
          <a:prstGeom prst="ellipse">
            <a:avLst/>
          </a:prstGeom>
          <a:solidFill>
            <a:schemeClr val="accent1"/>
          </a:solidFill>
          <a:ln/>
        </p:spPr>
      </p:sp>
      <p:sp>
        <p:nvSpPr>
          <p:cNvPr id="43" name="Kosong FC → UB 3"/>
          <p:cNvSpPr/>
          <p:nvPr/>
        </p:nvSpPr>
        <p:spPr>
          <a:xfrm>
            <a:off x="6588252" y="5193792"/>
            <a:ext cx="219456" cy="0"/>
          </a:xfrm>
          <a:prstGeom prst="line">
            <a:avLst/>
          </a:prstGeom>
          <a:noFill/>
          <a:ln w="19050">
            <a:solidFill>
              <a:schemeClr val="accent6"/>
            </a:solidFill>
            <a:prstDash val="solid"/>
          </a:ln>
        </p:spPr>
      </p:sp>
      <p:sp>
        <p:nvSpPr>
          <p:cNvPr id="44" name="Text 38"/>
          <p:cNvSpPr txBox="1"/>
          <p:nvPr/>
        </p:nvSpPr>
        <p:spPr>
          <a:xfrm>
            <a:off x="7543800" y="4837176"/>
            <a:ext cx="4233672" cy="713232"/>
          </a:xfrm>
          <a:prstGeom prst="rect">
            <a:avLst/>
          </a:prstGeom>
          <a:noFill/>
          <a:ln/>
        </p:spPr>
        <p:txBody>
          <a:bodyPr wrap="square" lIns="0" tIns="0" rIns="0" bIns="0" rtlCol="0" anchor="ctr"/>
          <a:lstStyle/>
          <a:p>
            <a:pPr indent="0" marL="0">
              <a:buNone/>
            </a:pPr>
            <a:r>
              <a:rPr lang="en-US" sz="1600" dirty="0">
                <a:solidFill>
                  <a:schemeClr val="tx1"/>
                </a:solidFill>
              </a:rPr>
              <a:t>Usia tua, berpengalaman</a:t>
            </a:r>
            <a:endParaRPr lang="en-US" sz="1600" dirty="0"/>
          </a:p>
        </p:txBody>
      </p:sp>
      <p:sp>
        <p:nvSpPr>
          <p:cNvPr id="45" name="Text 39"/>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600" i="1" dirty="0">
                <a:solidFill>
                  <a:schemeClr val="tx2"/>
                </a:solidFill>
              </a:rPr>
              <a:t>Voluntariness hanya berperan pada Social Influence: tekanan sosial paling terasa saat penggunaan diwajibkan.</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STUDI KASUS UTAUT</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UTAUT pada aplikasi CampusPay</a:t>
            </a:r>
            <a:endParaRPr lang="en-US" sz="3400" dirty="0"/>
          </a:p>
        </p:txBody>
      </p:sp>
      <p:sp>
        <p:nvSpPr>
          <p:cNvPr id="4" name="Performance Expectancy"/>
          <p:cNvSpPr/>
          <p:nvPr/>
        </p:nvSpPr>
        <p:spPr>
          <a:xfrm>
            <a:off x="548640" y="1600200"/>
            <a:ext cx="3246120" cy="1783080"/>
          </a:xfrm>
          <a:prstGeom prst="roundRect">
            <a:avLst>
              <a:gd name="adj" fmla="val 6154"/>
            </a:avLst>
          </a:prstGeom>
          <a:solidFill>
            <a:schemeClr val="bg1"/>
          </a:solidFill>
          <a:ln/>
          <a:effectLst>
            <a:outerShdw sx="100000" sy="100000" kx="0" ky="0" algn="bl" rotWithShape="0" blurRad="101600" dist="25400" dir="5400000">
              <a:srgbClr val="1C1A33">
                <a:alpha val="14000"/>
              </a:srgbClr>
            </a:outerShdw>
          </a:effectLst>
        </p:spPr>
      </p:sp>
      <p:sp>
        <p:nvSpPr>
          <p:cNvPr id="5" name="Performance Expectancy lingkaran"/>
          <p:cNvSpPr/>
          <p:nvPr/>
        </p:nvSpPr>
        <p:spPr>
          <a:xfrm>
            <a:off x="777240" y="1828800"/>
            <a:ext cx="502920" cy="502920"/>
          </a:xfrm>
          <a:prstGeom prst="ellipse">
            <a:avLst/>
          </a:prstGeom>
          <a:solidFill>
            <a:schemeClr val="accent1"/>
          </a:solidFill>
          <a:ln/>
        </p:spPr>
      </p:sp>
      <p:pic>
        <p:nvPicPr>
          <p:cNvPr id="6" name="Performance Expectancy ikon" descr="preencoded.png">    </p:cNvPr>
          <p:cNvPicPr>
            <a:picLocks noChangeAspect="1"/>
          </p:cNvPicPr>
          <p:nvPr/>
        </p:nvPicPr>
        <p:blipFill>
          <a:blip r:embed="rId1"/>
          <a:stretch>
            <a:fillRect/>
          </a:stretch>
        </p:blipFill>
        <p:spPr>
          <a:xfrm>
            <a:off x="897941" y="1949501"/>
            <a:ext cx="261518" cy="261518"/>
          </a:xfrm>
          <a:prstGeom prst="rect">
            <a:avLst/>
          </a:prstGeom>
        </p:spPr>
      </p:pic>
      <p:sp>
        <p:nvSpPr>
          <p:cNvPr id="7" name="Text 4"/>
          <p:cNvSpPr txBox="1"/>
          <p:nvPr/>
        </p:nvSpPr>
        <p:spPr>
          <a:xfrm>
            <a:off x="1417320" y="1828800"/>
            <a:ext cx="2240280" cy="502920"/>
          </a:xfrm>
          <a:prstGeom prst="rect">
            <a:avLst/>
          </a:prstGeom>
          <a:noFill/>
          <a:ln/>
        </p:spPr>
        <p:txBody>
          <a:bodyPr wrap="square" lIns="0" tIns="0" rIns="0" bIns="0" rtlCol="0" anchor="ctr"/>
          <a:lstStyle/>
          <a:p>
            <a:pPr indent="0" marL="0">
              <a:buNone/>
            </a:pPr>
            <a:r>
              <a:rPr lang="en-US" sz="1400" b="1" dirty="0">
                <a:solidFill>
                  <a:schemeClr val="accent1"/>
                </a:solidFill>
              </a:rPr>
              <a:t>Performance Expectancy</a:t>
            </a:r>
            <a:endParaRPr lang="en-US" sz="1400" dirty="0"/>
          </a:p>
        </p:txBody>
      </p:sp>
      <p:sp>
        <p:nvSpPr>
          <p:cNvPr id="8" name="Text 5"/>
          <p:cNvSpPr txBox="1"/>
          <p:nvPr/>
        </p:nvSpPr>
        <p:spPr>
          <a:xfrm>
            <a:off x="777240" y="2468880"/>
            <a:ext cx="2788920" cy="777240"/>
          </a:xfrm>
          <a:prstGeom prst="rect">
            <a:avLst/>
          </a:prstGeom>
          <a:noFill/>
          <a:ln/>
        </p:spPr>
        <p:txBody>
          <a:bodyPr wrap="square" lIns="0" tIns="0" rIns="0" bIns="0" rtlCol="0" anchor="t"/>
          <a:lstStyle/>
          <a:p>
            <a:pPr indent="0" marL="0">
              <a:buNone/>
            </a:pPr>
            <a:r>
              <a:rPr lang="en-US" sz="1900" i="1" dirty="0">
                <a:solidFill>
                  <a:schemeClr val="tx1"/>
                </a:solidFill>
              </a:rPr>
              <a:t>“Pembayaran jadi lebih cepat.”</a:t>
            </a:r>
            <a:endParaRPr lang="en-US" sz="1900" dirty="0"/>
          </a:p>
        </p:txBody>
      </p:sp>
      <p:sp>
        <p:nvSpPr>
          <p:cNvPr id="9" name="Effort Expectancy"/>
          <p:cNvSpPr/>
          <p:nvPr/>
        </p:nvSpPr>
        <p:spPr>
          <a:xfrm>
            <a:off x="4023360" y="1600200"/>
            <a:ext cx="3246120" cy="1783080"/>
          </a:xfrm>
          <a:prstGeom prst="roundRect">
            <a:avLst>
              <a:gd name="adj" fmla="val 6154"/>
            </a:avLst>
          </a:prstGeom>
          <a:solidFill>
            <a:schemeClr val="bg1"/>
          </a:solidFill>
          <a:ln/>
          <a:effectLst>
            <a:outerShdw sx="100000" sy="100000" kx="0" ky="0" algn="bl" rotWithShape="0" blurRad="101600" dist="25400" dir="5400000">
              <a:srgbClr val="1C1A33">
                <a:alpha val="14000"/>
              </a:srgbClr>
            </a:outerShdw>
          </a:effectLst>
        </p:spPr>
      </p:sp>
      <p:sp>
        <p:nvSpPr>
          <p:cNvPr id="10" name="Effort Expectancy lingkaran"/>
          <p:cNvSpPr/>
          <p:nvPr/>
        </p:nvSpPr>
        <p:spPr>
          <a:xfrm>
            <a:off x="4251960" y="1828800"/>
            <a:ext cx="502920" cy="502920"/>
          </a:xfrm>
          <a:prstGeom prst="ellipse">
            <a:avLst/>
          </a:prstGeom>
          <a:solidFill>
            <a:schemeClr val="accent1"/>
          </a:solidFill>
          <a:ln/>
        </p:spPr>
      </p:sp>
      <p:pic>
        <p:nvPicPr>
          <p:cNvPr id="11" name="Effort Expectancy ikon" descr="preencoded.png">    </p:cNvPr>
          <p:cNvPicPr>
            <a:picLocks noChangeAspect="1"/>
          </p:cNvPicPr>
          <p:nvPr/>
        </p:nvPicPr>
        <p:blipFill>
          <a:blip r:embed="rId2"/>
          <a:stretch>
            <a:fillRect/>
          </a:stretch>
        </p:blipFill>
        <p:spPr>
          <a:xfrm>
            <a:off x="4372661" y="1949501"/>
            <a:ext cx="261518" cy="261518"/>
          </a:xfrm>
          <a:prstGeom prst="rect">
            <a:avLst/>
          </a:prstGeom>
        </p:spPr>
      </p:pic>
      <p:sp>
        <p:nvSpPr>
          <p:cNvPr id="12" name="Text 8"/>
          <p:cNvSpPr txBox="1"/>
          <p:nvPr/>
        </p:nvSpPr>
        <p:spPr>
          <a:xfrm>
            <a:off x="4892040" y="1828800"/>
            <a:ext cx="2240280" cy="502920"/>
          </a:xfrm>
          <a:prstGeom prst="rect">
            <a:avLst/>
          </a:prstGeom>
          <a:noFill/>
          <a:ln/>
        </p:spPr>
        <p:txBody>
          <a:bodyPr wrap="square" lIns="0" tIns="0" rIns="0" bIns="0" rtlCol="0" anchor="ctr"/>
          <a:lstStyle/>
          <a:p>
            <a:pPr indent="0" marL="0">
              <a:buNone/>
            </a:pPr>
            <a:r>
              <a:rPr lang="en-US" sz="1400" b="1" dirty="0">
                <a:solidFill>
                  <a:schemeClr val="accent1"/>
                </a:solidFill>
              </a:rPr>
              <a:t>Effort Expectancy</a:t>
            </a:r>
            <a:endParaRPr lang="en-US" sz="1400" dirty="0"/>
          </a:p>
        </p:txBody>
      </p:sp>
      <p:sp>
        <p:nvSpPr>
          <p:cNvPr id="13" name="Text 9"/>
          <p:cNvSpPr txBox="1"/>
          <p:nvPr/>
        </p:nvSpPr>
        <p:spPr>
          <a:xfrm>
            <a:off x="4251960" y="2468880"/>
            <a:ext cx="2788920" cy="777240"/>
          </a:xfrm>
          <a:prstGeom prst="rect">
            <a:avLst/>
          </a:prstGeom>
          <a:noFill/>
          <a:ln/>
        </p:spPr>
        <p:txBody>
          <a:bodyPr wrap="square" lIns="0" tIns="0" rIns="0" bIns="0" rtlCol="0" anchor="t"/>
          <a:lstStyle/>
          <a:p>
            <a:pPr indent="0" marL="0">
              <a:buNone/>
            </a:pPr>
            <a:r>
              <a:rPr lang="en-US" sz="1900" i="1" dirty="0">
                <a:solidFill>
                  <a:schemeClr val="tx1"/>
                </a:solidFill>
              </a:rPr>
              <a:t>“Aplikasinya gampang dipakai.”</a:t>
            </a:r>
            <a:endParaRPr lang="en-US" sz="1900" dirty="0"/>
          </a:p>
        </p:txBody>
      </p:sp>
      <p:sp>
        <p:nvSpPr>
          <p:cNvPr id="14" name="Social Influence"/>
          <p:cNvSpPr/>
          <p:nvPr/>
        </p:nvSpPr>
        <p:spPr>
          <a:xfrm>
            <a:off x="548640" y="3611880"/>
            <a:ext cx="3246120" cy="1783080"/>
          </a:xfrm>
          <a:prstGeom prst="roundRect">
            <a:avLst>
              <a:gd name="adj" fmla="val 6154"/>
            </a:avLst>
          </a:prstGeom>
          <a:solidFill>
            <a:schemeClr val="bg1"/>
          </a:solidFill>
          <a:ln/>
          <a:effectLst>
            <a:outerShdw sx="100000" sy="100000" kx="0" ky="0" algn="bl" rotWithShape="0" blurRad="101600" dist="25400" dir="5400000">
              <a:srgbClr val="1C1A33">
                <a:alpha val="14000"/>
              </a:srgbClr>
            </a:outerShdw>
          </a:effectLst>
        </p:spPr>
      </p:sp>
      <p:sp>
        <p:nvSpPr>
          <p:cNvPr id="15" name="Social Influence lingkaran"/>
          <p:cNvSpPr/>
          <p:nvPr/>
        </p:nvSpPr>
        <p:spPr>
          <a:xfrm>
            <a:off x="777240" y="3840480"/>
            <a:ext cx="502920" cy="502920"/>
          </a:xfrm>
          <a:prstGeom prst="ellipse">
            <a:avLst/>
          </a:prstGeom>
          <a:solidFill>
            <a:schemeClr val="accent1"/>
          </a:solidFill>
          <a:ln/>
        </p:spPr>
      </p:sp>
      <p:pic>
        <p:nvPicPr>
          <p:cNvPr id="16" name="Social Influence ikon" descr="preencoded.png">    </p:cNvPr>
          <p:cNvPicPr>
            <a:picLocks noChangeAspect="1"/>
          </p:cNvPicPr>
          <p:nvPr/>
        </p:nvPicPr>
        <p:blipFill>
          <a:blip r:embed="rId3"/>
          <a:stretch>
            <a:fillRect/>
          </a:stretch>
        </p:blipFill>
        <p:spPr>
          <a:xfrm>
            <a:off x="897941" y="3961181"/>
            <a:ext cx="261518" cy="261518"/>
          </a:xfrm>
          <a:prstGeom prst="rect">
            <a:avLst/>
          </a:prstGeom>
        </p:spPr>
      </p:pic>
      <p:sp>
        <p:nvSpPr>
          <p:cNvPr id="17" name="Text 12"/>
          <p:cNvSpPr txBox="1"/>
          <p:nvPr/>
        </p:nvSpPr>
        <p:spPr>
          <a:xfrm>
            <a:off x="1417320" y="3840480"/>
            <a:ext cx="2240280" cy="502920"/>
          </a:xfrm>
          <a:prstGeom prst="rect">
            <a:avLst/>
          </a:prstGeom>
          <a:noFill/>
          <a:ln/>
        </p:spPr>
        <p:txBody>
          <a:bodyPr wrap="square" lIns="0" tIns="0" rIns="0" bIns="0" rtlCol="0" anchor="ctr"/>
          <a:lstStyle/>
          <a:p>
            <a:pPr indent="0" marL="0">
              <a:buNone/>
            </a:pPr>
            <a:r>
              <a:rPr lang="en-US" sz="1400" b="1" dirty="0">
                <a:solidFill>
                  <a:schemeClr val="accent1"/>
                </a:solidFill>
              </a:rPr>
              <a:t>Social Influence</a:t>
            </a:r>
            <a:endParaRPr lang="en-US" sz="1400" dirty="0"/>
          </a:p>
        </p:txBody>
      </p:sp>
      <p:sp>
        <p:nvSpPr>
          <p:cNvPr id="18" name="Text 13"/>
          <p:cNvSpPr txBox="1"/>
          <p:nvPr/>
        </p:nvSpPr>
        <p:spPr>
          <a:xfrm>
            <a:off x="777240" y="4480560"/>
            <a:ext cx="2788920" cy="777240"/>
          </a:xfrm>
          <a:prstGeom prst="rect">
            <a:avLst/>
          </a:prstGeom>
          <a:noFill/>
          <a:ln/>
        </p:spPr>
        <p:txBody>
          <a:bodyPr wrap="square" lIns="0" tIns="0" rIns="0" bIns="0" rtlCol="0" anchor="t"/>
          <a:lstStyle/>
          <a:p>
            <a:pPr indent="0" marL="0">
              <a:buNone/>
            </a:pPr>
            <a:r>
              <a:rPr lang="en-US" sz="1900" i="1" dirty="0">
                <a:solidFill>
                  <a:schemeClr val="tx1"/>
                </a:solidFill>
              </a:rPr>
              <a:t>“Teman-teman juga pakai.”</a:t>
            </a:r>
            <a:endParaRPr lang="en-US" sz="1900" dirty="0"/>
          </a:p>
        </p:txBody>
      </p:sp>
      <p:sp>
        <p:nvSpPr>
          <p:cNvPr id="19" name="Facilitating Conditions"/>
          <p:cNvSpPr/>
          <p:nvPr/>
        </p:nvSpPr>
        <p:spPr>
          <a:xfrm>
            <a:off x="4023360" y="3611880"/>
            <a:ext cx="3246120" cy="1783080"/>
          </a:xfrm>
          <a:prstGeom prst="roundRect">
            <a:avLst>
              <a:gd name="adj" fmla="val 6154"/>
            </a:avLst>
          </a:prstGeom>
          <a:solidFill>
            <a:schemeClr val="bg1"/>
          </a:solidFill>
          <a:ln/>
          <a:effectLst>
            <a:outerShdw sx="100000" sy="100000" kx="0" ky="0" algn="bl" rotWithShape="0" blurRad="101600" dist="25400" dir="5400000">
              <a:srgbClr val="1C1A33">
                <a:alpha val="14000"/>
              </a:srgbClr>
            </a:outerShdw>
          </a:effectLst>
        </p:spPr>
      </p:sp>
      <p:sp>
        <p:nvSpPr>
          <p:cNvPr id="20" name="Facilitating Conditions lingkaran"/>
          <p:cNvSpPr/>
          <p:nvPr/>
        </p:nvSpPr>
        <p:spPr>
          <a:xfrm>
            <a:off x="4251960" y="3840480"/>
            <a:ext cx="502920" cy="502920"/>
          </a:xfrm>
          <a:prstGeom prst="ellipse">
            <a:avLst/>
          </a:prstGeom>
          <a:solidFill>
            <a:schemeClr val="accent1"/>
          </a:solidFill>
          <a:ln/>
        </p:spPr>
      </p:sp>
      <p:pic>
        <p:nvPicPr>
          <p:cNvPr id="21" name="Facilitating Conditions ikon" descr="preencoded.png">    </p:cNvPr>
          <p:cNvPicPr>
            <a:picLocks noChangeAspect="1"/>
          </p:cNvPicPr>
          <p:nvPr/>
        </p:nvPicPr>
        <p:blipFill>
          <a:blip r:embed="rId4"/>
          <a:stretch>
            <a:fillRect/>
          </a:stretch>
        </p:blipFill>
        <p:spPr>
          <a:xfrm>
            <a:off x="4372661" y="3961181"/>
            <a:ext cx="261518" cy="261518"/>
          </a:xfrm>
          <a:prstGeom prst="rect">
            <a:avLst/>
          </a:prstGeom>
        </p:spPr>
      </p:pic>
      <p:sp>
        <p:nvSpPr>
          <p:cNvPr id="22" name="Text 16"/>
          <p:cNvSpPr txBox="1"/>
          <p:nvPr/>
        </p:nvSpPr>
        <p:spPr>
          <a:xfrm>
            <a:off x="4892040" y="3840480"/>
            <a:ext cx="2240280" cy="502920"/>
          </a:xfrm>
          <a:prstGeom prst="rect">
            <a:avLst/>
          </a:prstGeom>
          <a:noFill/>
          <a:ln/>
        </p:spPr>
        <p:txBody>
          <a:bodyPr wrap="square" lIns="0" tIns="0" rIns="0" bIns="0" rtlCol="0" anchor="ctr"/>
          <a:lstStyle/>
          <a:p>
            <a:pPr indent="0" marL="0">
              <a:buNone/>
            </a:pPr>
            <a:r>
              <a:rPr lang="en-US" sz="1400" b="1" dirty="0">
                <a:solidFill>
                  <a:schemeClr val="accent1"/>
                </a:solidFill>
              </a:rPr>
              <a:t>Facilitating Conditions</a:t>
            </a:r>
            <a:endParaRPr lang="en-US" sz="1400" dirty="0"/>
          </a:p>
        </p:txBody>
      </p:sp>
      <p:sp>
        <p:nvSpPr>
          <p:cNvPr id="23" name="Text 17"/>
          <p:cNvSpPr txBox="1"/>
          <p:nvPr/>
        </p:nvSpPr>
        <p:spPr>
          <a:xfrm>
            <a:off x="4251960" y="4480560"/>
            <a:ext cx="2788920" cy="777240"/>
          </a:xfrm>
          <a:prstGeom prst="rect">
            <a:avLst/>
          </a:prstGeom>
          <a:noFill/>
          <a:ln/>
        </p:spPr>
        <p:txBody>
          <a:bodyPr wrap="square" lIns="0" tIns="0" rIns="0" bIns="0" rtlCol="0" anchor="t"/>
          <a:lstStyle/>
          <a:p>
            <a:pPr indent="0" marL="0">
              <a:buNone/>
            </a:pPr>
            <a:r>
              <a:rPr lang="en-US" sz="1900" i="1" dirty="0">
                <a:solidFill>
                  <a:schemeClr val="tx1"/>
                </a:solidFill>
              </a:rPr>
              <a:t>“Saya punya HP dan internet.”</a:t>
            </a:r>
            <a:endParaRPr lang="en-US" sz="1900" dirty="0"/>
          </a:p>
        </p:txBody>
      </p:sp>
      <p:sp>
        <p:nvSpPr>
          <p:cNvPr id="24" name="Panah 1"/>
          <p:cNvSpPr/>
          <p:nvPr/>
        </p:nvSpPr>
        <p:spPr>
          <a:xfrm>
            <a:off x="7452360" y="3310128"/>
            <a:ext cx="457200" cy="411480"/>
          </a:xfrm>
          <a:prstGeom prst="rightArrow">
            <a:avLst/>
          </a:prstGeom>
          <a:solidFill>
            <a:schemeClr val="accent2"/>
          </a:solidFill>
          <a:ln/>
        </p:spPr>
      </p:sp>
      <p:sp>
        <p:nvSpPr>
          <p:cNvPr id="25" name="Kartu BI"/>
          <p:cNvSpPr/>
          <p:nvPr/>
        </p:nvSpPr>
        <p:spPr>
          <a:xfrm>
            <a:off x="8046720" y="1600200"/>
            <a:ext cx="3593592" cy="1783080"/>
          </a:xfrm>
          <a:prstGeom prst="roundRect">
            <a:avLst>
              <a:gd name="adj" fmla="val 6154"/>
            </a:avLst>
          </a:prstGeom>
          <a:solidFill>
            <a:schemeClr val="tx2"/>
          </a:solidFill>
          <a:ln/>
          <a:effectLst>
            <a:outerShdw sx="100000" sy="100000" kx="0" ky="0" algn="bl" rotWithShape="0" blurRad="101600" dist="25400" dir="5400000">
              <a:srgbClr val="1C1A33">
                <a:alpha val="14000"/>
              </a:srgbClr>
            </a:outerShdw>
          </a:effectLst>
        </p:spPr>
      </p:sp>
      <p:sp>
        <p:nvSpPr>
          <p:cNvPr id="26" name="BI lingkaran"/>
          <p:cNvSpPr/>
          <p:nvPr/>
        </p:nvSpPr>
        <p:spPr>
          <a:xfrm>
            <a:off x="8275320" y="1828800"/>
            <a:ext cx="502920" cy="502920"/>
          </a:xfrm>
          <a:prstGeom prst="ellipse">
            <a:avLst/>
          </a:prstGeom>
          <a:solidFill>
            <a:schemeClr val="accent1"/>
          </a:solidFill>
          <a:ln/>
        </p:spPr>
      </p:sp>
      <p:pic>
        <p:nvPicPr>
          <p:cNvPr id="27" name="BI ikon" descr="preencoded.png">    </p:cNvPr>
          <p:cNvPicPr>
            <a:picLocks noChangeAspect="1"/>
          </p:cNvPicPr>
          <p:nvPr/>
        </p:nvPicPr>
        <p:blipFill>
          <a:blip r:embed="rId5"/>
          <a:stretch>
            <a:fillRect/>
          </a:stretch>
        </p:blipFill>
        <p:spPr>
          <a:xfrm>
            <a:off x="8396021" y="1949501"/>
            <a:ext cx="261518" cy="261518"/>
          </a:xfrm>
          <a:prstGeom prst="rect">
            <a:avLst/>
          </a:prstGeom>
        </p:spPr>
      </p:pic>
      <p:sp>
        <p:nvSpPr>
          <p:cNvPr id="28" name="Text 21"/>
          <p:cNvSpPr txBox="1"/>
          <p:nvPr/>
        </p:nvSpPr>
        <p:spPr>
          <a:xfrm>
            <a:off x="8915400" y="1828800"/>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Behavioral Intention</a:t>
            </a:r>
            <a:endParaRPr lang="en-US" sz="1500" dirty="0"/>
          </a:p>
        </p:txBody>
      </p:sp>
      <p:sp>
        <p:nvSpPr>
          <p:cNvPr id="29" name="Text 22"/>
          <p:cNvSpPr txBox="1"/>
          <p:nvPr/>
        </p:nvSpPr>
        <p:spPr>
          <a:xfrm>
            <a:off x="8275320" y="2468880"/>
            <a:ext cx="3154680" cy="777240"/>
          </a:xfrm>
          <a:prstGeom prst="rect">
            <a:avLst/>
          </a:prstGeom>
          <a:noFill/>
          <a:ln/>
        </p:spPr>
        <p:txBody>
          <a:bodyPr wrap="square" lIns="0" tIns="0" rIns="0" bIns="0" rtlCol="0" anchor="t"/>
          <a:lstStyle/>
          <a:p>
            <a:pPr indent="0" marL="0">
              <a:buNone/>
            </a:pPr>
            <a:r>
              <a:rPr lang="en-US" sz="1900" i="1" dirty="0">
                <a:solidFill>
                  <a:schemeClr val="bg2"/>
                </a:solidFill>
              </a:rPr>
              <a:t>“Saya ingin pakai CampusPay.”</a:t>
            </a:r>
            <a:endParaRPr lang="en-US" sz="1900" dirty="0"/>
          </a:p>
        </p:txBody>
      </p:sp>
      <p:sp>
        <p:nvSpPr>
          <p:cNvPr id="30" name="Panah 2"/>
          <p:cNvSpPr/>
          <p:nvPr/>
        </p:nvSpPr>
        <p:spPr>
          <a:xfrm rot="5400000">
            <a:off x="9601200" y="3456432"/>
            <a:ext cx="457200" cy="320040"/>
          </a:xfrm>
          <a:prstGeom prst="rightArrow">
            <a:avLst/>
          </a:prstGeom>
          <a:solidFill>
            <a:schemeClr val="accent2"/>
          </a:solidFill>
          <a:ln/>
        </p:spPr>
      </p:sp>
      <p:sp>
        <p:nvSpPr>
          <p:cNvPr id="31" name="Kartu UB"/>
          <p:cNvSpPr/>
          <p:nvPr/>
        </p:nvSpPr>
        <p:spPr>
          <a:xfrm>
            <a:off x="8046720" y="3840480"/>
            <a:ext cx="3593592" cy="1783080"/>
          </a:xfrm>
          <a:prstGeom prst="roundRect">
            <a:avLst>
              <a:gd name="adj" fmla="val 6154"/>
            </a:avLst>
          </a:prstGeom>
          <a:solidFill>
            <a:schemeClr val="tx1"/>
          </a:solidFill>
          <a:ln/>
          <a:effectLst>
            <a:outerShdw sx="100000" sy="100000" kx="0" ky="0" algn="bl" rotWithShape="0" blurRad="101600" dist="25400" dir="5400000">
              <a:srgbClr val="1C1A33">
                <a:alpha val="14000"/>
              </a:srgbClr>
            </a:outerShdw>
          </a:effectLst>
        </p:spPr>
      </p:sp>
      <p:sp>
        <p:nvSpPr>
          <p:cNvPr id="32" name="UB lingkaran"/>
          <p:cNvSpPr/>
          <p:nvPr/>
        </p:nvSpPr>
        <p:spPr>
          <a:xfrm>
            <a:off x="8275320" y="4069080"/>
            <a:ext cx="502920" cy="502920"/>
          </a:xfrm>
          <a:prstGeom prst="ellipse">
            <a:avLst/>
          </a:prstGeom>
          <a:solidFill>
            <a:schemeClr val="accent1"/>
          </a:solidFill>
          <a:ln/>
        </p:spPr>
      </p:sp>
      <p:pic>
        <p:nvPicPr>
          <p:cNvPr id="33" name="UB ikon" descr="preencoded.png">    </p:cNvPr>
          <p:cNvPicPr>
            <a:picLocks noChangeAspect="1"/>
          </p:cNvPicPr>
          <p:nvPr/>
        </p:nvPicPr>
        <p:blipFill>
          <a:blip r:embed="rId6"/>
          <a:stretch>
            <a:fillRect/>
          </a:stretch>
        </p:blipFill>
        <p:spPr>
          <a:xfrm>
            <a:off x="8396021" y="4189781"/>
            <a:ext cx="261518" cy="261518"/>
          </a:xfrm>
          <a:prstGeom prst="rect">
            <a:avLst/>
          </a:prstGeom>
        </p:spPr>
      </p:pic>
      <p:sp>
        <p:nvSpPr>
          <p:cNvPr id="34" name="Text 26"/>
          <p:cNvSpPr txBox="1"/>
          <p:nvPr/>
        </p:nvSpPr>
        <p:spPr>
          <a:xfrm>
            <a:off x="8915400" y="4069080"/>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Use Behavior</a:t>
            </a:r>
            <a:endParaRPr lang="en-US" sz="1500" dirty="0"/>
          </a:p>
        </p:txBody>
      </p:sp>
      <p:sp>
        <p:nvSpPr>
          <p:cNvPr id="35" name="Text 27"/>
          <p:cNvSpPr txBox="1"/>
          <p:nvPr/>
        </p:nvSpPr>
        <p:spPr>
          <a:xfrm>
            <a:off x="8275320" y="4709160"/>
            <a:ext cx="3154680" cy="777240"/>
          </a:xfrm>
          <a:prstGeom prst="rect">
            <a:avLst/>
          </a:prstGeom>
          <a:noFill/>
          <a:ln/>
        </p:spPr>
        <p:txBody>
          <a:bodyPr wrap="square" lIns="0" tIns="0" rIns="0" bIns="0" rtlCol="0" anchor="t"/>
          <a:lstStyle/>
          <a:p>
            <a:pPr indent="0" marL="0">
              <a:buNone/>
            </a:pPr>
            <a:r>
              <a:rPr lang="en-US" sz="1900" dirty="0">
                <a:solidFill>
                  <a:schemeClr val="bg2"/>
                </a:solidFill>
              </a:rPr>
              <a:t>Bertransaksi dengan CampusPay setiap hari.</a:t>
            </a:r>
            <a:endParaRPr lang="en-US" sz="1900" dirty="0"/>
          </a:p>
        </p:txBody>
      </p:sp>
      <p:sp>
        <p:nvSpPr>
          <p:cNvPr id="36" name="Text 28"/>
          <p:cNvSpPr txBox="1"/>
          <p:nvPr/>
        </p:nvSpPr>
        <p:spPr>
          <a:xfrm>
            <a:off x="548640" y="5897880"/>
            <a:ext cx="6766560" cy="274320"/>
          </a:xfrm>
          <a:prstGeom prst="rect">
            <a:avLst/>
          </a:prstGeom>
          <a:noFill/>
          <a:ln/>
        </p:spPr>
        <p:txBody>
          <a:bodyPr wrap="square" lIns="0" tIns="0" rIns="0" bIns="0" rtlCol="0" anchor="t"/>
          <a:lstStyle/>
          <a:p>
            <a:pPr indent="0" marL="0">
              <a:buNone/>
            </a:pPr>
            <a:r>
              <a:rPr lang="en-US" sz="1200" i="1" dirty="0">
                <a:solidFill>
                  <a:schemeClr val="accent6"/>
                </a:solidFill>
              </a:rPr>
              <a:t>Ilustrasi hipotetis</a:t>
            </a:r>
            <a:endParaRPr lang="en-US" sz="12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KETERBATASAN UTAUT</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Dari ruang kerja ke kehidupan konsumen</a:t>
            </a:r>
            <a:endParaRPr lang="en-US" sz="3400" dirty="0"/>
          </a:p>
        </p:txBody>
      </p:sp>
      <p:sp>
        <p:nvSpPr>
          <p:cNvPr id="4" name="Organisasi"/>
          <p:cNvSpPr/>
          <p:nvPr/>
        </p:nvSpPr>
        <p:spPr>
          <a:xfrm>
            <a:off x="548640" y="1554480"/>
            <a:ext cx="5120640" cy="2971800"/>
          </a:xfrm>
          <a:prstGeom prst="roundRect">
            <a:avLst>
              <a:gd name="adj" fmla="val 3692"/>
            </a:avLst>
          </a:prstGeom>
          <a:solidFill>
            <a:schemeClr val="bg2"/>
          </a:solidFill>
          <a:ln/>
        </p:spPr>
      </p:sp>
      <p:sp>
        <p:nvSpPr>
          <p:cNvPr id="5" name="Organisasi lingkaran"/>
          <p:cNvSpPr/>
          <p:nvPr/>
        </p:nvSpPr>
        <p:spPr>
          <a:xfrm>
            <a:off x="868680" y="1783080"/>
            <a:ext cx="777240" cy="777240"/>
          </a:xfrm>
          <a:prstGeom prst="ellipse">
            <a:avLst/>
          </a:prstGeom>
          <a:solidFill>
            <a:schemeClr val="accent1"/>
          </a:solidFill>
          <a:ln/>
        </p:spPr>
      </p:sp>
      <p:pic>
        <p:nvPicPr>
          <p:cNvPr id="6" name="Organisasi ikon" descr="preencoded.png">    </p:cNvPr>
          <p:cNvPicPr>
            <a:picLocks noChangeAspect="1"/>
          </p:cNvPicPr>
          <p:nvPr/>
        </p:nvPicPr>
        <p:blipFill>
          <a:blip r:embed="rId1"/>
          <a:stretch>
            <a:fillRect/>
          </a:stretch>
        </p:blipFill>
        <p:spPr>
          <a:xfrm>
            <a:off x="1055218" y="1969618"/>
            <a:ext cx="404165" cy="404165"/>
          </a:xfrm>
          <a:prstGeom prst="rect">
            <a:avLst/>
          </a:prstGeom>
        </p:spPr>
      </p:pic>
      <p:sp>
        <p:nvSpPr>
          <p:cNvPr id="7" name="Text 4"/>
          <p:cNvSpPr txBox="1"/>
          <p:nvPr/>
        </p:nvSpPr>
        <p:spPr>
          <a:xfrm>
            <a:off x="1874520" y="1783080"/>
            <a:ext cx="3566160" cy="77724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Organisasi</a:t>
            </a:r>
            <a:endParaRPr lang="en-US" sz="2600" dirty="0"/>
          </a:p>
        </p:txBody>
      </p:sp>
      <p:sp>
        <p:nvSpPr>
          <p:cNvPr id="8" name="Text 5"/>
          <p:cNvSpPr txBox="1"/>
          <p:nvPr/>
        </p:nvSpPr>
        <p:spPr>
          <a:xfrm>
            <a:off x="960120" y="2788920"/>
            <a:ext cx="4480560" cy="16002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ERP, HRMS, sistem akademik</a:t>
            </a:r>
            <a:endParaRPr lang="en-US" sz="2000" dirty="0"/>
          </a:p>
          <a:p>
            <a:pPr marL="342900" indent="-342900">
              <a:spcAft>
                <a:spcPts val="800"/>
              </a:spcAft>
              <a:buSzPct val="100000"/>
              <a:buChar char="•"/>
            </a:pPr>
            <a:r>
              <a:rPr lang="en-US" sz="2000" dirty="0">
                <a:solidFill>
                  <a:schemeClr val="tx1"/>
                </a:solidFill>
              </a:rPr>
              <a:t>Tujuan: produktivitas</a:t>
            </a:r>
            <a:endParaRPr lang="en-US" sz="2000" dirty="0"/>
          </a:p>
          <a:p>
            <a:pPr marL="342900" indent="-342900">
              <a:spcAft>
                <a:spcPts val="800"/>
              </a:spcAft>
              <a:buSzPct val="100000"/>
              <a:buChar char="•"/>
            </a:pPr>
            <a:r>
              <a:rPr lang="en-US" sz="2000" dirty="0">
                <a:solidFill>
                  <a:schemeClr val="tx1"/>
                </a:solidFill>
              </a:rPr>
              <a:t>Sering diwajibkan</a:t>
            </a:r>
            <a:endParaRPr lang="en-US" sz="2000" dirty="0"/>
          </a:p>
        </p:txBody>
      </p:sp>
      <p:sp>
        <p:nvSpPr>
          <p:cNvPr id="9" name="Konsumen"/>
          <p:cNvSpPr/>
          <p:nvPr/>
        </p:nvSpPr>
        <p:spPr>
          <a:xfrm>
            <a:off x="6519672" y="1554480"/>
            <a:ext cx="5120640" cy="2971800"/>
          </a:xfrm>
          <a:prstGeom prst="roundRect">
            <a:avLst>
              <a:gd name="adj" fmla="val 3692"/>
            </a:avLst>
          </a:prstGeom>
          <a:solidFill>
            <a:schemeClr val="bg2"/>
          </a:solidFill>
          <a:ln/>
        </p:spPr>
      </p:sp>
      <p:sp>
        <p:nvSpPr>
          <p:cNvPr id="10" name="Konsumen lingkaran"/>
          <p:cNvSpPr/>
          <p:nvPr/>
        </p:nvSpPr>
        <p:spPr>
          <a:xfrm>
            <a:off x="6839712" y="1783080"/>
            <a:ext cx="777240" cy="777240"/>
          </a:xfrm>
          <a:prstGeom prst="ellipse">
            <a:avLst/>
          </a:prstGeom>
          <a:solidFill>
            <a:schemeClr val="accent2"/>
          </a:solidFill>
          <a:ln/>
        </p:spPr>
      </p:sp>
      <p:pic>
        <p:nvPicPr>
          <p:cNvPr id="11" name="Konsumen ikon" descr="preencoded.png">    </p:cNvPr>
          <p:cNvPicPr>
            <a:picLocks noChangeAspect="1"/>
          </p:cNvPicPr>
          <p:nvPr/>
        </p:nvPicPr>
        <p:blipFill>
          <a:blip r:embed="rId2"/>
          <a:stretch>
            <a:fillRect/>
          </a:stretch>
        </p:blipFill>
        <p:spPr>
          <a:xfrm>
            <a:off x="7026250" y="1969618"/>
            <a:ext cx="404165" cy="404165"/>
          </a:xfrm>
          <a:prstGeom prst="rect">
            <a:avLst/>
          </a:prstGeom>
        </p:spPr>
      </p:pic>
      <p:sp>
        <p:nvSpPr>
          <p:cNvPr id="12" name="Text 8"/>
          <p:cNvSpPr txBox="1"/>
          <p:nvPr/>
        </p:nvSpPr>
        <p:spPr>
          <a:xfrm>
            <a:off x="7845552" y="1783080"/>
            <a:ext cx="3566160" cy="77724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Konsumen</a:t>
            </a:r>
            <a:endParaRPr lang="en-US" sz="2600" dirty="0"/>
          </a:p>
        </p:txBody>
      </p:sp>
      <p:sp>
        <p:nvSpPr>
          <p:cNvPr id="13" name="Text 9"/>
          <p:cNvSpPr txBox="1"/>
          <p:nvPr/>
        </p:nvSpPr>
        <p:spPr>
          <a:xfrm>
            <a:off x="6931152" y="2788920"/>
            <a:ext cx="4480560" cy="16002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E-wallet, streaming, game</a:t>
            </a:r>
            <a:endParaRPr lang="en-US" sz="2000" dirty="0"/>
          </a:p>
          <a:p>
            <a:pPr marL="342900" indent="-342900">
              <a:spcAft>
                <a:spcPts val="800"/>
              </a:spcAft>
              <a:buSzPct val="100000"/>
              <a:buChar char="•"/>
            </a:pPr>
            <a:r>
              <a:rPr lang="en-US" sz="2000" dirty="0">
                <a:solidFill>
                  <a:schemeClr val="tx1"/>
                </a:solidFill>
              </a:rPr>
              <a:t>Juga demi kesenangan</a:t>
            </a:r>
            <a:endParaRPr lang="en-US" sz="2000" dirty="0"/>
          </a:p>
          <a:p>
            <a:pPr marL="342900" indent="-342900">
              <a:spcAft>
                <a:spcPts val="800"/>
              </a:spcAft>
              <a:buSzPct val="100000"/>
              <a:buChar char="•"/>
            </a:pPr>
            <a:r>
              <a:rPr lang="en-US" sz="2000" dirty="0">
                <a:solidFill>
                  <a:schemeClr val="tx1"/>
                </a:solidFill>
              </a:rPr>
              <a:t>Sukarela dan bayar sendiri</a:t>
            </a:r>
            <a:endParaRPr lang="en-US" sz="2000" dirty="0"/>
          </a:p>
        </p:txBody>
      </p:sp>
      <p:sp>
        <p:nvSpPr>
          <p:cNvPr id="14" name="Panah konteks"/>
          <p:cNvSpPr/>
          <p:nvPr/>
        </p:nvSpPr>
        <p:spPr>
          <a:xfrm>
            <a:off x="5788152" y="2743200"/>
            <a:ext cx="621792" cy="548640"/>
          </a:xfrm>
          <a:prstGeom prst="rightArrow">
            <a:avLst/>
          </a:prstGeom>
          <a:solidFill>
            <a:schemeClr val="accent2"/>
          </a:solidFill>
          <a:ln/>
        </p:spPr>
      </p:sp>
      <p:sp>
        <p:nvSpPr>
          <p:cNvPr id="15" name="Text 11"/>
          <p:cNvSpPr txBox="1"/>
          <p:nvPr/>
        </p:nvSpPr>
        <p:spPr>
          <a:xfrm>
            <a:off x="548640" y="4846320"/>
            <a:ext cx="5486400" cy="365760"/>
          </a:xfrm>
          <a:prstGeom prst="rect">
            <a:avLst/>
          </a:prstGeom>
          <a:noFill/>
          <a:ln/>
        </p:spPr>
        <p:txBody>
          <a:bodyPr wrap="square" lIns="0" tIns="0" rIns="0" bIns="0" rtlCol="0" anchor="t"/>
          <a:lstStyle/>
          <a:p>
            <a:pPr indent="0" marL="0">
              <a:buNone/>
            </a:pPr>
            <a:r>
              <a:rPr lang="en-US" sz="1800" b="1" dirty="0">
                <a:solidFill>
                  <a:schemeClr val="tx1"/>
                </a:solidFill>
              </a:rPr>
              <a:t>Yang belum ditangkap UTAUT:</a:t>
            </a:r>
            <a:endParaRPr lang="en-US" sz="1800" dirty="0"/>
          </a:p>
        </p:txBody>
      </p:sp>
      <p:sp>
        <p:nvSpPr>
          <p:cNvPr id="16" name="Kesenangan lingkaran"/>
          <p:cNvSpPr/>
          <p:nvPr/>
        </p:nvSpPr>
        <p:spPr>
          <a:xfrm>
            <a:off x="548640" y="5349240"/>
            <a:ext cx="731520" cy="731520"/>
          </a:xfrm>
          <a:prstGeom prst="ellipse">
            <a:avLst/>
          </a:prstGeom>
          <a:solidFill>
            <a:schemeClr val="accent2"/>
          </a:solidFill>
          <a:ln/>
        </p:spPr>
      </p:sp>
      <p:pic>
        <p:nvPicPr>
          <p:cNvPr id="17" name="Kesenangan ikon" descr="preencoded.png">    </p:cNvPr>
          <p:cNvPicPr>
            <a:picLocks noChangeAspect="1"/>
          </p:cNvPicPr>
          <p:nvPr/>
        </p:nvPicPr>
        <p:blipFill>
          <a:blip r:embed="rId3"/>
          <a:stretch>
            <a:fillRect/>
          </a:stretch>
        </p:blipFill>
        <p:spPr>
          <a:xfrm>
            <a:off x="724205" y="5524805"/>
            <a:ext cx="380390" cy="380390"/>
          </a:xfrm>
          <a:prstGeom prst="rect">
            <a:avLst/>
          </a:prstGeom>
        </p:spPr>
      </p:pic>
      <p:sp>
        <p:nvSpPr>
          <p:cNvPr id="18" name="Text 13"/>
          <p:cNvSpPr txBox="1"/>
          <p:nvPr/>
        </p:nvSpPr>
        <p:spPr>
          <a:xfrm>
            <a:off x="1417320" y="5349240"/>
            <a:ext cx="2743200" cy="731520"/>
          </a:xfrm>
          <a:prstGeom prst="rect">
            <a:avLst/>
          </a:prstGeom>
          <a:noFill/>
          <a:ln/>
        </p:spPr>
        <p:txBody>
          <a:bodyPr wrap="square" lIns="0" tIns="0" rIns="0" bIns="0" rtlCol="0" anchor="ctr"/>
          <a:lstStyle/>
          <a:p>
            <a:pPr indent="0" marL="0">
              <a:buNone/>
            </a:pPr>
            <a:r>
              <a:rPr lang="en-US" sz="2400" b="1" dirty="0">
                <a:solidFill>
                  <a:schemeClr val="accent2"/>
                </a:solidFill>
              </a:rPr>
              <a:t>Kesenangan</a:t>
            </a:r>
            <a:endParaRPr lang="en-US" sz="2400" dirty="0"/>
          </a:p>
        </p:txBody>
      </p:sp>
      <p:sp>
        <p:nvSpPr>
          <p:cNvPr id="19" name="Harga lingkaran"/>
          <p:cNvSpPr/>
          <p:nvPr/>
        </p:nvSpPr>
        <p:spPr>
          <a:xfrm>
            <a:off x="4297680" y="5349240"/>
            <a:ext cx="731520" cy="731520"/>
          </a:xfrm>
          <a:prstGeom prst="ellipse">
            <a:avLst/>
          </a:prstGeom>
          <a:solidFill>
            <a:schemeClr val="accent2"/>
          </a:solidFill>
          <a:ln/>
        </p:spPr>
      </p:sp>
      <p:pic>
        <p:nvPicPr>
          <p:cNvPr id="20" name="Harga ikon" descr="preencoded.png">    </p:cNvPr>
          <p:cNvPicPr>
            <a:picLocks noChangeAspect="1"/>
          </p:cNvPicPr>
          <p:nvPr/>
        </p:nvPicPr>
        <p:blipFill>
          <a:blip r:embed="rId4"/>
          <a:stretch>
            <a:fillRect/>
          </a:stretch>
        </p:blipFill>
        <p:spPr>
          <a:xfrm>
            <a:off x="4473245" y="5524805"/>
            <a:ext cx="380390" cy="380390"/>
          </a:xfrm>
          <a:prstGeom prst="rect">
            <a:avLst/>
          </a:prstGeom>
        </p:spPr>
      </p:pic>
      <p:sp>
        <p:nvSpPr>
          <p:cNvPr id="21" name="Text 15"/>
          <p:cNvSpPr txBox="1"/>
          <p:nvPr/>
        </p:nvSpPr>
        <p:spPr>
          <a:xfrm>
            <a:off x="5166360" y="5349240"/>
            <a:ext cx="2743200" cy="731520"/>
          </a:xfrm>
          <a:prstGeom prst="rect">
            <a:avLst/>
          </a:prstGeom>
          <a:noFill/>
          <a:ln/>
        </p:spPr>
        <p:txBody>
          <a:bodyPr wrap="square" lIns="0" tIns="0" rIns="0" bIns="0" rtlCol="0" anchor="ctr"/>
          <a:lstStyle/>
          <a:p>
            <a:pPr indent="0" marL="0">
              <a:buNone/>
            </a:pPr>
            <a:r>
              <a:rPr lang="en-US" sz="2400" b="1" dirty="0">
                <a:solidFill>
                  <a:schemeClr val="accent2"/>
                </a:solidFill>
              </a:rPr>
              <a:t>Harga</a:t>
            </a:r>
            <a:endParaRPr lang="en-US" sz="2400" dirty="0"/>
          </a:p>
        </p:txBody>
      </p:sp>
      <p:sp>
        <p:nvSpPr>
          <p:cNvPr id="22" name="Kebiasaan lingkaran"/>
          <p:cNvSpPr/>
          <p:nvPr/>
        </p:nvSpPr>
        <p:spPr>
          <a:xfrm>
            <a:off x="8046720" y="5349240"/>
            <a:ext cx="731520" cy="731520"/>
          </a:xfrm>
          <a:prstGeom prst="ellipse">
            <a:avLst/>
          </a:prstGeom>
          <a:solidFill>
            <a:schemeClr val="accent2"/>
          </a:solidFill>
          <a:ln/>
        </p:spPr>
      </p:sp>
      <p:pic>
        <p:nvPicPr>
          <p:cNvPr id="23" name="Kebiasaan ikon" descr="preencoded.png">    </p:cNvPr>
          <p:cNvPicPr>
            <a:picLocks noChangeAspect="1"/>
          </p:cNvPicPr>
          <p:nvPr/>
        </p:nvPicPr>
        <p:blipFill>
          <a:blip r:embed="rId5"/>
          <a:stretch>
            <a:fillRect/>
          </a:stretch>
        </p:blipFill>
        <p:spPr>
          <a:xfrm>
            <a:off x="8222285" y="5524805"/>
            <a:ext cx="380390" cy="380390"/>
          </a:xfrm>
          <a:prstGeom prst="rect">
            <a:avLst/>
          </a:prstGeom>
        </p:spPr>
      </p:pic>
      <p:sp>
        <p:nvSpPr>
          <p:cNvPr id="24" name="Text 17"/>
          <p:cNvSpPr txBox="1"/>
          <p:nvPr/>
        </p:nvSpPr>
        <p:spPr>
          <a:xfrm>
            <a:off x="8915400" y="5349240"/>
            <a:ext cx="2743200" cy="731520"/>
          </a:xfrm>
          <a:prstGeom prst="rect">
            <a:avLst/>
          </a:prstGeom>
          <a:noFill/>
          <a:ln/>
        </p:spPr>
        <p:txBody>
          <a:bodyPr wrap="square" lIns="0" tIns="0" rIns="0" bIns="0" rtlCol="0" anchor="ctr"/>
          <a:lstStyle/>
          <a:p>
            <a:pPr indent="0" marL="0">
              <a:buNone/>
            </a:pPr>
            <a:r>
              <a:rPr lang="en-US" sz="2400" b="1" dirty="0">
                <a:solidFill>
                  <a:schemeClr val="accent2"/>
                </a:solidFill>
              </a:rPr>
              <a:t>Kebiasaan</a:t>
            </a:r>
            <a:endParaRPr lang="en-US" sz="2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1463040"/>
            <a:ext cx="3657600" cy="1280160"/>
          </a:xfrm>
          <a:prstGeom prst="rect">
            <a:avLst/>
          </a:prstGeom>
          <a:noFill/>
          <a:ln/>
        </p:spPr>
        <p:txBody>
          <a:bodyPr wrap="square" lIns="0" tIns="0" rIns="0" bIns="0" rtlCol="0"/>
          <a:lstStyle/>
          <a:p>
            <a:pPr indent="0" marL="0">
              <a:buNone/>
            </a:pPr>
            <a:r>
              <a:rPr lang="en-US" sz="8000" b="1" dirty="0">
                <a:solidFill>
                  <a:schemeClr val="accent1"/>
                </a:solidFill>
                <a:latin typeface="Cambria" pitchFamily="34" charset="0"/>
                <a:ea typeface="Cambria" pitchFamily="34" charset="-122"/>
                <a:cs typeface="Cambria" pitchFamily="34" charset="-120"/>
              </a:rPr>
              <a:t>02</a:t>
            </a:r>
            <a:endParaRPr lang="en-US" sz="8000" dirty="0"/>
          </a:p>
        </p:txBody>
      </p:sp>
      <p:sp>
        <p:nvSpPr>
          <p:cNvPr id="3" name="Text 0"/>
          <p:cNvSpPr/>
          <p:nvPr>
            <p:ph idx="101" type="title" hasCustomPrompt="1"/>
          </p:nvPr>
        </p:nvSpPr>
        <p:spPr>
          <a:xfrm>
            <a:off x="731520" y="2743200"/>
            <a:ext cx="7772400" cy="1097280"/>
          </a:xfrm>
          <a:prstGeom prst="rect">
            <a:avLst/>
          </a:prstGeom>
          <a:noFill/>
          <a:ln/>
        </p:spPr>
        <p:txBody>
          <a:bodyPr wrap="square" lIns="0" tIns="0" rIns="0" bIns="0" rtlCol="0"/>
          <a:lstStyle/>
          <a:p>
            <a:pPr algn="l" indent="0" marL="0">
              <a:buNone/>
            </a:pPr>
            <a:r>
              <a:rPr lang="en-US" sz="5400" b="1" dirty="0">
                <a:solidFill>
                  <a:schemeClr val="bg1"/>
                </a:solidFill>
              </a:rPr>
              <a:t>UTAUT2</a:t>
            </a:r>
            <a:endParaRPr lang="en-US" sz="5400" dirty="0"/>
          </a:p>
        </p:txBody>
      </p:sp>
      <p:sp>
        <p:nvSpPr>
          <p:cNvPr id="4" name="Text 0"/>
          <p:cNvSpPr/>
          <p:nvPr>
            <p:ph idx="102" type="body" hasCustomPrompt="1"/>
          </p:nvPr>
        </p:nvSpPr>
        <p:spPr>
          <a:xfrm>
            <a:off x="731520" y="3886200"/>
            <a:ext cx="7772400" cy="914400"/>
          </a:xfrm>
          <a:prstGeom prst="rect">
            <a:avLst/>
          </a:prstGeom>
          <a:noFill/>
          <a:ln/>
        </p:spPr>
        <p:txBody>
          <a:bodyPr wrap="square" lIns="0" tIns="0" rIns="0" bIns="0" rtlCol="0" anchor="t"/>
          <a:lstStyle/>
          <a:p>
            <a:pPr indent="0" marL="0">
              <a:buNone/>
            </a:pPr>
            <a:r>
              <a:rPr lang="en-US" sz="2000" dirty="0">
                <a:solidFill>
                  <a:schemeClr val="bg2"/>
                </a:solidFill>
              </a:rPr>
              <a:t>UTAUT untuk konteks konsumen</a:t>
            </a:r>
            <a:endParaRPr lang="en-US" sz="2000" dirty="0"/>
          </a:p>
          <a:p>
            <a:pPr indent="0" marL="0">
              <a:buNone/>
            </a:pPr>
            <a:r>
              <a:rPr lang="en-US" sz="2000" dirty="0">
                <a:solidFill>
                  <a:schemeClr val="bg2"/>
                </a:solidFill>
              </a:rPr>
              <a:t>Venkatesh, Thong &amp; Xu (2012)</a:t>
            </a:r>
            <a:endParaRPr lang="en-US" sz="2000" dirty="0"/>
          </a:p>
        </p:txBody>
      </p:sp>
      <p:sp>
        <p:nvSpPr>
          <p:cNvPr id="5" name="Konstruk UTAUT2 hm lingkaran"/>
          <p:cNvSpPr/>
          <p:nvPr/>
        </p:nvSpPr>
        <p:spPr>
          <a:xfrm>
            <a:off x="9052560" y="2011680"/>
            <a:ext cx="1097280" cy="1097280"/>
          </a:xfrm>
          <a:prstGeom prst="ellipse">
            <a:avLst/>
          </a:prstGeom>
          <a:solidFill>
            <a:schemeClr val="accent2"/>
          </a:solidFill>
          <a:ln/>
        </p:spPr>
      </p:sp>
      <p:pic>
        <p:nvPicPr>
          <p:cNvPr id="6" name="Konstruk UTAUT2 hm ikon" descr="preencoded.png">    </p:cNvPr>
          <p:cNvPicPr>
            <a:picLocks noChangeAspect="1"/>
          </p:cNvPicPr>
          <p:nvPr/>
        </p:nvPicPr>
        <p:blipFill>
          <a:blip r:embed="rId1"/>
          <a:stretch>
            <a:fillRect/>
          </a:stretch>
        </p:blipFill>
        <p:spPr>
          <a:xfrm>
            <a:off x="9315907" y="2275027"/>
            <a:ext cx="570586" cy="570586"/>
          </a:xfrm>
          <a:prstGeom prst="rect">
            <a:avLst/>
          </a:prstGeom>
        </p:spPr>
      </p:pic>
      <p:sp>
        <p:nvSpPr>
          <p:cNvPr id="7" name="Konstruk UTAUT2 pv lingkaran"/>
          <p:cNvSpPr/>
          <p:nvPr/>
        </p:nvSpPr>
        <p:spPr>
          <a:xfrm>
            <a:off x="10424160" y="2011680"/>
            <a:ext cx="1097280" cy="1097280"/>
          </a:xfrm>
          <a:prstGeom prst="ellipse">
            <a:avLst/>
          </a:prstGeom>
          <a:solidFill>
            <a:schemeClr val="accent2"/>
          </a:solidFill>
          <a:ln/>
        </p:spPr>
      </p:sp>
      <p:pic>
        <p:nvPicPr>
          <p:cNvPr id="8" name="Konstruk UTAUT2 pv ikon" descr="preencoded.png">    </p:cNvPr>
          <p:cNvPicPr>
            <a:picLocks noChangeAspect="1"/>
          </p:cNvPicPr>
          <p:nvPr/>
        </p:nvPicPr>
        <p:blipFill>
          <a:blip r:embed="rId2"/>
          <a:stretch>
            <a:fillRect/>
          </a:stretch>
        </p:blipFill>
        <p:spPr>
          <a:xfrm>
            <a:off x="10687507" y="2275027"/>
            <a:ext cx="570586" cy="570586"/>
          </a:xfrm>
          <a:prstGeom prst="rect">
            <a:avLst/>
          </a:prstGeom>
        </p:spPr>
      </p:pic>
      <p:sp>
        <p:nvSpPr>
          <p:cNvPr id="9" name="Konstruk UTAUT2 ht lingkaran"/>
          <p:cNvSpPr/>
          <p:nvPr/>
        </p:nvSpPr>
        <p:spPr>
          <a:xfrm>
            <a:off x="9052560" y="3383280"/>
            <a:ext cx="1097280" cy="1097280"/>
          </a:xfrm>
          <a:prstGeom prst="ellipse">
            <a:avLst/>
          </a:prstGeom>
          <a:solidFill>
            <a:schemeClr val="accent2"/>
          </a:solidFill>
          <a:ln/>
        </p:spPr>
      </p:sp>
      <p:pic>
        <p:nvPicPr>
          <p:cNvPr id="10" name="Konstruk UTAUT2 ht ikon" descr="preencoded.png">    </p:cNvPr>
          <p:cNvPicPr>
            <a:picLocks noChangeAspect="1"/>
          </p:cNvPicPr>
          <p:nvPr/>
        </p:nvPicPr>
        <p:blipFill>
          <a:blip r:embed="rId3"/>
          <a:stretch>
            <a:fillRect/>
          </a:stretch>
        </p:blipFill>
        <p:spPr>
          <a:xfrm>
            <a:off x="9315907" y="3646627"/>
            <a:ext cx="570586" cy="570586"/>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PENGERTIAN UTAUT2</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UTAUT2: versi untuk konsumen</a:t>
            </a:r>
            <a:endParaRPr lang="en-US" sz="3400" dirty="0"/>
          </a:p>
        </p:txBody>
      </p:sp>
      <p:sp>
        <p:nvSpPr>
          <p:cNvPr id="4" name="Text 2"/>
          <p:cNvSpPr txBox="1"/>
          <p:nvPr/>
        </p:nvSpPr>
        <p:spPr>
          <a:xfrm>
            <a:off x="548640" y="1600200"/>
            <a:ext cx="5852160" cy="1463040"/>
          </a:xfrm>
          <a:prstGeom prst="rect">
            <a:avLst/>
          </a:prstGeom>
          <a:noFill/>
          <a:ln/>
        </p:spPr>
        <p:txBody>
          <a:bodyPr wrap="square" lIns="0" tIns="0" rIns="0" bIns="0" rtlCol="0" anchor="ctr"/>
          <a:lstStyle/>
          <a:p>
            <a:pPr indent="0" marL="0">
              <a:buNone/>
            </a:pPr>
            <a:r>
              <a:rPr lang="en-US" sz="2600" dirty="0">
                <a:solidFill>
                  <a:schemeClr val="tx1"/>
                </a:solidFill>
                <a:latin typeface="Cambria" pitchFamily="34" charset="0"/>
                <a:ea typeface="Cambria" pitchFamily="34" charset="-122"/>
                <a:cs typeface="Cambria" pitchFamily="34" charset="-120"/>
              </a:rPr>
              <a:t>Tetap memakai 4 faktor UTAUT, lalu </a:t>
            </a:r>
            <a:pPr indent="0" marL="0">
              <a:buNone/>
            </a:pPr>
            <a:r>
              <a:rPr lang="en-US" sz="2600" b="1" dirty="0">
                <a:solidFill>
                  <a:schemeClr val="accent2"/>
                </a:solidFill>
                <a:latin typeface="Cambria" pitchFamily="34" charset="0"/>
                <a:ea typeface="Cambria" pitchFamily="34" charset="-122"/>
                <a:cs typeface="Cambria" pitchFamily="34" charset="-120"/>
              </a:rPr>
              <a:t>menambahkan 3 faktor baru</a:t>
            </a:r>
            <a:pPr indent="0" marL="0">
              <a:buNone/>
            </a:pPr>
            <a:r>
              <a:rPr lang="en-US" sz="2600" dirty="0">
                <a:solidFill>
                  <a:schemeClr val="tx1"/>
                </a:solidFill>
                <a:latin typeface="Cambria" pitchFamily="34" charset="0"/>
                <a:ea typeface="Cambria" pitchFamily="34" charset="-122"/>
                <a:cs typeface="Cambria" pitchFamily="34" charset="-120"/>
              </a:rPr>
              <a:t> yang khas konsumen.</a:t>
            </a:r>
            <a:endParaRPr lang="en-US" sz="2600" dirty="0"/>
          </a:p>
        </p:txBody>
      </p:sp>
      <p:sp>
        <p:nvSpPr>
          <p:cNvPr id="5" name="Tile 2012"/>
          <p:cNvSpPr/>
          <p:nvPr/>
        </p:nvSpPr>
        <p:spPr>
          <a:xfrm>
            <a:off x="548640" y="3383280"/>
            <a:ext cx="1828800" cy="2651760"/>
          </a:xfrm>
          <a:prstGeom prst="roundRect">
            <a:avLst>
              <a:gd name="adj" fmla="val 6000"/>
            </a:avLst>
          </a:prstGeom>
          <a:solidFill>
            <a:schemeClr val="tx1"/>
          </a:solidFill>
          <a:ln/>
        </p:spPr>
      </p:sp>
      <p:sp>
        <p:nvSpPr>
          <p:cNvPr id="6" name="Text 4"/>
          <p:cNvSpPr txBox="1"/>
          <p:nvPr/>
        </p:nvSpPr>
        <p:spPr>
          <a:xfrm>
            <a:off x="731520" y="3657600"/>
            <a:ext cx="146304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2012</a:t>
            </a:r>
            <a:endParaRPr lang="en-US" sz="3400" dirty="0"/>
          </a:p>
        </p:txBody>
      </p:sp>
      <p:sp>
        <p:nvSpPr>
          <p:cNvPr id="7" name="Text 5"/>
          <p:cNvSpPr txBox="1"/>
          <p:nvPr/>
        </p:nvSpPr>
        <p:spPr>
          <a:xfrm>
            <a:off x="731520" y="4480560"/>
            <a:ext cx="1463040" cy="1280160"/>
          </a:xfrm>
          <a:prstGeom prst="rect">
            <a:avLst/>
          </a:prstGeom>
          <a:noFill/>
          <a:ln/>
        </p:spPr>
        <p:txBody>
          <a:bodyPr wrap="square" lIns="0" tIns="0" rIns="0" bIns="0" rtlCol="0" anchor="t"/>
          <a:lstStyle/>
          <a:p>
            <a:pPr indent="0" marL="0">
              <a:buNone/>
            </a:pPr>
            <a:r>
              <a:rPr lang="en-US" sz="1600" dirty="0">
                <a:solidFill>
                  <a:schemeClr val="bg2"/>
                </a:solidFill>
              </a:rPr>
              <a:t>Venkatesh, Thong &amp; Xu</a:t>
            </a:r>
            <a:endParaRPr lang="en-US" sz="1600" dirty="0"/>
          </a:p>
        </p:txBody>
      </p:sp>
      <p:sp>
        <p:nvSpPr>
          <p:cNvPr id="8" name="Tile +3"/>
          <p:cNvSpPr/>
          <p:nvPr/>
        </p:nvSpPr>
        <p:spPr>
          <a:xfrm>
            <a:off x="2532888" y="3383280"/>
            <a:ext cx="1828800" cy="2651760"/>
          </a:xfrm>
          <a:prstGeom prst="roundRect">
            <a:avLst>
              <a:gd name="adj" fmla="val 6000"/>
            </a:avLst>
          </a:prstGeom>
          <a:solidFill>
            <a:schemeClr val="tx1"/>
          </a:solidFill>
          <a:ln/>
        </p:spPr>
      </p:sp>
      <p:sp>
        <p:nvSpPr>
          <p:cNvPr id="9" name="Text 7"/>
          <p:cNvSpPr txBox="1"/>
          <p:nvPr/>
        </p:nvSpPr>
        <p:spPr>
          <a:xfrm>
            <a:off x="2715768" y="3657600"/>
            <a:ext cx="146304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+3</a:t>
            </a:r>
            <a:endParaRPr lang="en-US" sz="3400" dirty="0"/>
          </a:p>
        </p:txBody>
      </p:sp>
      <p:sp>
        <p:nvSpPr>
          <p:cNvPr id="10" name="Text 8"/>
          <p:cNvSpPr txBox="1"/>
          <p:nvPr/>
        </p:nvSpPr>
        <p:spPr>
          <a:xfrm>
            <a:off x="2715768" y="4480560"/>
            <a:ext cx="1463040" cy="1280160"/>
          </a:xfrm>
          <a:prstGeom prst="rect">
            <a:avLst/>
          </a:prstGeom>
          <a:noFill/>
          <a:ln/>
        </p:spPr>
        <p:txBody>
          <a:bodyPr wrap="square" lIns="0" tIns="0" rIns="0" bIns="0" rtlCol="0" anchor="t"/>
          <a:lstStyle/>
          <a:p>
            <a:pPr indent="0" marL="0">
              <a:buNone/>
            </a:pPr>
            <a:r>
              <a:rPr lang="en-US" sz="1600" dirty="0">
                <a:solidFill>
                  <a:schemeClr val="bg2"/>
                </a:solidFill>
              </a:rPr>
              <a:t>konstruk baru</a:t>
            </a:r>
            <a:endParaRPr lang="en-US" sz="1600" dirty="0"/>
          </a:p>
        </p:txBody>
      </p:sp>
      <p:sp>
        <p:nvSpPr>
          <p:cNvPr id="11" name="Tile 1.512"/>
          <p:cNvSpPr/>
          <p:nvPr/>
        </p:nvSpPr>
        <p:spPr>
          <a:xfrm>
            <a:off x="4517136" y="3383280"/>
            <a:ext cx="1828800" cy="2651760"/>
          </a:xfrm>
          <a:prstGeom prst="roundRect">
            <a:avLst>
              <a:gd name="adj" fmla="val 6000"/>
            </a:avLst>
          </a:prstGeom>
          <a:solidFill>
            <a:schemeClr val="tx1"/>
          </a:solidFill>
          <a:ln/>
        </p:spPr>
      </p:sp>
      <p:sp>
        <p:nvSpPr>
          <p:cNvPr id="12" name="Text 10"/>
          <p:cNvSpPr txBox="1"/>
          <p:nvPr/>
        </p:nvSpPr>
        <p:spPr>
          <a:xfrm>
            <a:off x="4700016" y="3657600"/>
            <a:ext cx="146304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1.512</a:t>
            </a:r>
            <a:endParaRPr lang="en-US" sz="3400" dirty="0"/>
          </a:p>
        </p:txBody>
      </p:sp>
      <p:sp>
        <p:nvSpPr>
          <p:cNvPr id="13" name="Text 11"/>
          <p:cNvSpPr txBox="1"/>
          <p:nvPr/>
        </p:nvSpPr>
        <p:spPr>
          <a:xfrm>
            <a:off x="4700016" y="4480560"/>
            <a:ext cx="1463040" cy="1280160"/>
          </a:xfrm>
          <a:prstGeom prst="rect">
            <a:avLst/>
          </a:prstGeom>
          <a:noFill/>
          <a:ln/>
        </p:spPr>
        <p:txBody>
          <a:bodyPr wrap="square" lIns="0" tIns="0" rIns="0" bIns="0" rtlCol="0" anchor="t"/>
          <a:lstStyle/>
          <a:p>
            <a:pPr indent="0" marL="0">
              <a:buNone/>
            </a:pPr>
            <a:r>
              <a:rPr lang="en-US" sz="1600" dirty="0">
                <a:solidFill>
                  <a:schemeClr val="bg2"/>
                </a:solidFill>
              </a:rPr>
              <a:t>konsumen mobile internet</a:t>
            </a:r>
            <a:endParaRPr lang="en-US" sz="1600" dirty="0"/>
          </a:p>
        </p:txBody>
      </p:sp>
      <p:graphicFrame>
        <p:nvGraphicFramePr>
          <p:cNvPr id="14" name="Grafik varians UTAUT vs UTAUT2" descr=""/>
          <p:cNvGraphicFramePr/>
          <p:nvPr/>
        </p:nvGraphicFramePr>
        <p:xfrm>
          <a:off x="6675120" y="1554480"/>
          <a:ext cx="4965192" cy="4526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2"/>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Hedonic Motivation"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HM</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baru UTAUT2</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BARU 1 DARI 3</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Hedonic Motivation</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2"/>
                </a:solidFill>
              </a:rPr>
              <a:t>Motivasi Hedonis</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Rasa senang atau nikmat yang diperoleh saat menggunakan teknologi.</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menggunakannya menyenangkan?”</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FCEBD3"/>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Game yang seru</a:t>
            </a:r>
            <a:endParaRPr lang="en-US" sz="1500" dirty="0"/>
          </a:p>
        </p:txBody>
      </p:sp>
      <p:sp>
        <p:nvSpPr>
          <p:cNvPr id="17" name="Contoh 2"/>
          <p:cNvSpPr/>
          <p:nvPr/>
        </p:nvSpPr>
        <p:spPr>
          <a:xfrm>
            <a:off x="7374636" y="4937760"/>
            <a:ext cx="2011680" cy="1188720"/>
          </a:xfrm>
          <a:prstGeom prst="roundRect">
            <a:avLst>
              <a:gd name="adj" fmla="val 9231"/>
            </a:avLst>
          </a:prstGeom>
          <a:solidFill>
            <a:srgbClr val="FCEBD3"/>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Video pendek yang menghibur</a:t>
            </a:r>
            <a:endParaRPr lang="en-US" sz="1500" dirty="0"/>
          </a:p>
        </p:txBody>
      </p:sp>
      <p:sp>
        <p:nvSpPr>
          <p:cNvPr id="20" name="Contoh 3"/>
          <p:cNvSpPr/>
          <p:nvPr/>
        </p:nvSpPr>
        <p:spPr>
          <a:xfrm>
            <a:off x="9628632" y="4937760"/>
            <a:ext cx="2011680" cy="1188720"/>
          </a:xfrm>
          <a:prstGeom prst="roundRect">
            <a:avLst>
              <a:gd name="adj" fmla="val 9231"/>
            </a:avLst>
          </a:prstGeom>
          <a:solidFill>
            <a:srgbClr val="FCEBD3"/>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Waktu terasa cepat</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2"/>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Price Value"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PV</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baru UTAUT2</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BARU 2 DARI 3</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Price Value</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2"/>
                </a:solidFill>
              </a:rPr>
              <a:t>Nilai Harga</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Pertimbangan antara manfaat yang dirasakan dan biaya uang yang dikeluarkan.</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harganya sepadan?”</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FCEBD3"/>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Langganan Rp60.000/bulan</a:t>
            </a:r>
            <a:endParaRPr lang="en-US" sz="1500" dirty="0"/>
          </a:p>
        </p:txBody>
      </p:sp>
      <p:sp>
        <p:nvSpPr>
          <p:cNvPr id="17" name="Contoh 2"/>
          <p:cNvSpPr/>
          <p:nvPr/>
        </p:nvSpPr>
        <p:spPr>
          <a:xfrm>
            <a:off x="7374636" y="4937760"/>
            <a:ext cx="2011680" cy="1188720"/>
          </a:xfrm>
          <a:prstGeom prst="roundRect">
            <a:avLst>
              <a:gd name="adj" fmla="val 9231"/>
            </a:avLst>
          </a:prstGeom>
          <a:solidFill>
            <a:srgbClr val="FCEBD3"/>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Banyak film, tanpa iklan</a:t>
            </a:r>
            <a:endParaRPr lang="en-US" sz="1500" dirty="0"/>
          </a:p>
        </p:txBody>
      </p:sp>
      <p:sp>
        <p:nvSpPr>
          <p:cNvPr id="20" name="Contoh 3"/>
          <p:cNvSpPr/>
          <p:nvPr/>
        </p:nvSpPr>
        <p:spPr>
          <a:xfrm>
            <a:off x="9628632" y="4937760"/>
            <a:ext cx="2011680" cy="1188720"/>
          </a:xfrm>
          <a:prstGeom prst="roundRect">
            <a:avLst>
              <a:gd name="adj" fmla="val 9231"/>
            </a:avLst>
          </a:prstGeom>
          <a:solidFill>
            <a:srgbClr val="FCEBD3"/>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Sepadan = nilai positif</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Panel warna"/>
          <p:cNvSpPr/>
          <p:nvPr/>
        </p:nvSpPr>
        <p:spPr>
          <a:xfrm>
            <a:off x="0" y="0"/>
            <a:ext cx="4480560" cy="6858000"/>
          </a:xfrm>
          <a:prstGeom prst="rect">
            <a:avLst/>
          </a:prstGeom>
          <a:solidFill>
            <a:schemeClr val="accent2"/>
          </a:solidFill>
          <a:ln/>
        </p:spPr>
      </p:sp>
      <p:sp>
        <p:nvSpPr>
          <p:cNvPr id="3" name="Lingkaran ikon besar"/>
          <p:cNvSpPr/>
          <p:nvPr/>
        </p:nvSpPr>
        <p:spPr>
          <a:xfrm>
            <a:off x="1143000" y="1188720"/>
            <a:ext cx="2194560" cy="2194560"/>
          </a:xfrm>
          <a:prstGeom prst="ellipse">
            <a:avLst/>
          </a:prstGeom>
          <a:solidFill>
            <a:schemeClr val="bg1"/>
          </a:solidFill>
          <a:ln/>
        </p:spPr>
      </p:sp>
      <p:pic>
        <p:nvPicPr>
          <p:cNvPr id="4" name="Ikon Habit" descr="preencoded.png">    </p:cNvPr>
          <p:cNvPicPr>
            <a:picLocks noChangeAspect="1"/>
          </p:cNvPicPr>
          <p:nvPr/>
        </p:nvPicPr>
        <p:blipFill>
          <a:blip r:embed="rId1"/>
          <a:stretch>
            <a:fillRect/>
          </a:stretch>
        </p:blipFill>
        <p:spPr>
          <a:xfrm>
            <a:off x="1645920" y="1691640"/>
            <a:ext cx="1188720" cy="1188720"/>
          </a:xfrm>
          <a:prstGeom prst="rect">
            <a:avLst/>
          </a:prstGeom>
        </p:spPr>
      </p:pic>
      <p:sp>
        <p:nvSpPr>
          <p:cNvPr id="5" name="Text 2"/>
          <p:cNvSpPr txBox="1"/>
          <p:nvPr/>
        </p:nvSpPr>
        <p:spPr>
          <a:xfrm>
            <a:off x="457200" y="3840480"/>
            <a:ext cx="3566160" cy="1280160"/>
          </a:xfrm>
          <a:prstGeom prst="rect">
            <a:avLst/>
          </a:prstGeom>
          <a:noFill/>
          <a:ln/>
        </p:spPr>
        <p:txBody>
          <a:bodyPr wrap="square" lIns="0" tIns="0" rIns="0" bIns="0" rtlCol="0" anchor="t"/>
          <a:lstStyle/>
          <a:p>
            <a:pPr algn="ctr" indent="0" marL="0">
              <a:buNone/>
            </a:pPr>
            <a:r>
              <a:rPr lang="en-US" sz="8800" b="1" dirty="0">
                <a:solidFill>
                  <a:schemeClr val="bg1"/>
                </a:solidFill>
                <a:latin typeface="Cambria" pitchFamily="34" charset="0"/>
                <a:ea typeface="Cambria" pitchFamily="34" charset="-122"/>
                <a:cs typeface="Cambria" pitchFamily="34" charset="-120"/>
              </a:rPr>
              <a:t>HT</a:t>
            </a:r>
            <a:endParaRPr lang="en-US" sz="8800" dirty="0"/>
          </a:p>
        </p:txBody>
      </p:sp>
      <p:sp>
        <p:nvSpPr>
          <p:cNvPr id="6" name="Text 3"/>
          <p:cNvSpPr txBox="1"/>
          <p:nvPr/>
        </p:nvSpPr>
        <p:spPr>
          <a:xfrm>
            <a:off x="457200" y="5166360"/>
            <a:ext cx="3566160" cy="365760"/>
          </a:xfrm>
          <a:prstGeom prst="rect">
            <a:avLst/>
          </a:prstGeom>
          <a:noFill/>
          <a:ln/>
        </p:spPr>
        <p:txBody>
          <a:bodyPr wrap="square" lIns="0" tIns="0" rIns="0" bIns="0" rtlCol="0" anchor="t"/>
          <a:lstStyle/>
          <a:p>
            <a:pPr algn="ctr" indent="0" marL="0">
              <a:buNone/>
            </a:pPr>
            <a:r>
              <a:rPr lang="en-US" sz="1600" b="1" dirty="0">
                <a:solidFill>
                  <a:schemeClr val="bg1"/>
                </a:solidFill>
              </a:rPr>
              <a:t>Konstruk baru UTAUT2</a:t>
            </a:r>
            <a:endParaRPr lang="en-US" sz="1600" dirty="0"/>
          </a:p>
        </p:txBody>
      </p:sp>
      <p:sp>
        <p:nvSpPr>
          <p:cNvPr id="7" name="Text 1"/>
          <p:cNvSpPr/>
          <p:nvPr>
            <p:ph idx="101" type="body" hasCustomPrompt="1"/>
          </p:nvPr>
        </p:nvSpPr>
        <p:spPr>
          <a:xfrm>
            <a:off x="5120640" y="685800"/>
            <a:ext cx="6492240" cy="292608"/>
          </a:xfrm>
          <a:prstGeom prst="rect">
            <a:avLst/>
          </a:prstGeom>
          <a:noFill/>
          <a:ln/>
        </p:spPr>
        <p:txBody>
          <a:bodyPr wrap="square" lIns="0" tIns="0" rIns="0" bIns="0" rtlCol="0"/>
          <a:lstStyle/>
          <a:p>
            <a:pPr indent="0" marL="0">
              <a:buNone/>
            </a:pPr>
            <a:r>
              <a:rPr lang="en-US" sz="1200" b="1" spc="200" kern="0" dirty="0">
                <a:solidFill>
                  <a:schemeClr val="accent6"/>
                </a:solidFill>
              </a:rPr>
              <a:t>KONSTRUK BARU 3 DARI 3</a:t>
            </a:r>
            <a:endParaRPr lang="en-US" sz="1200" dirty="0"/>
          </a:p>
        </p:txBody>
      </p:sp>
      <p:sp>
        <p:nvSpPr>
          <p:cNvPr id="8" name="Text 1"/>
          <p:cNvSpPr/>
          <p:nvPr>
            <p:ph idx="102" type="title" hasCustomPrompt="1"/>
          </p:nvPr>
        </p:nvSpPr>
        <p:spPr>
          <a:xfrm>
            <a:off x="5120640" y="1005840"/>
            <a:ext cx="6492240" cy="731520"/>
          </a:xfrm>
          <a:prstGeom prst="rect">
            <a:avLst/>
          </a:prstGeom>
          <a:noFill/>
          <a:ln/>
        </p:spPr>
        <p:txBody>
          <a:bodyPr wrap="square" lIns="0" tIns="0" rIns="0" bIns="0" rtlCol="0" anchor="ctr"/>
          <a:lstStyle/>
          <a:p>
            <a:pPr algn="l" indent="0" marL="0">
              <a:buNone/>
            </a:pPr>
            <a:r>
              <a:rPr lang="en-US" sz="3800" b="1" dirty="0">
                <a:solidFill>
                  <a:schemeClr val="tx1"/>
                </a:solidFill>
              </a:rPr>
              <a:t>Habit</a:t>
            </a:r>
            <a:endParaRPr lang="en-US" sz="3800" dirty="0"/>
          </a:p>
        </p:txBody>
      </p:sp>
      <p:sp>
        <p:nvSpPr>
          <p:cNvPr id="9" name="Text 6"/>
          <p:cNvSpPr txBox="1"/>
          <p:nvPr/>
        </p:nvSpPr>
        <p:spPr>
          <a:xfrm>
            <a:off x="5120640" y="1737360"/>
            <a:ext cx="6492240" cy="411480"/>
          </a:xfrm>
          <a:prstGeom prst="rect">
            <a:avLst/>
          </a:prstGeom>
          <a:noFill/>
          <a:ln/>
        </p:spPr>
        <p:txBody>
          <a:bodyPr wrap="square" lIns="0" tIns="0" rIns="0" bIns="0" rtlCol="0" anchor="t"/>
          <a:lstStyle/>
          <a:p>
            <a:pPr indent="0" marL="0">
              <a:buNone/>
            </a:pPr>
            <a:r>
              <a:rPr lang="en-US" sz="2000" b="1" dirty="0">
                <a:solidFill>
                  <a:schemeClr val="accent2"/>
                </a:solidFill>
              </a:rPr>
              <a:t>Kebiasaan</a:t>
            </a:r>
            <a:endParaRPr lang="en-US" sz="2000" dirty="0"/>
          </a:p>
        </p:txBody>
      </p:sp>
      <p:sp>
        <p:nvSpPr>
          <p:cNvPr id="10" name="Text 7"/>
          <p:cNvSpPr txBox="1"/>
          <p:nvPr/>
        </p:nvSpPr>
        <p:spPr>
          <a:xfrm>
            <a:off x="5120640" y="2286000"/>
            <a:ext cx="6492240" cy="960120"/>
          </a:xfrm>
          <a:prstGeom prst="rect">
            <a:avLst/>
          </a:prstGeom>
          <a:noFill/>
          <a:ln/>
        </p:spPr>
        <p:txBody>
          <a:bodyPr wrap="square" lIns="0" tIns="0" rIns="0" bIns="0" rtlCol="0" anchor="t"/>
          <a:lstStyle/>
          <a:p>
            <a:pPr indent="0" marL="0">
              <a:buNone/>
            </a:pPr>
            <a:r>
              <a:rPr lang="en-US" sz="2100" dirty="0">
                <a:solidFill>
                  <a:schemeClr val="tx1"/>
                </a:solidFill>
              </a:rPr>
              <a:t>Sejauh mana penggunaan teknologi terjadi secara otomatis, tanpa banyak berpikir.</a:t>
            </a:r>
            <a:endParaRPr lang="en-US" sz="2100" dirty="0"/>
          </a:p>
        </p:txBody>
      </p:sp>
      <p:sp>
        <p:nvSpPr>
          <p:cNvPr id="11" name="Kartu pertanyaan kunci"/>
          <p:cNvSpPr/>
          <p:nvPr/>
        </p:nvSpPr>
        <p:spPr>
          <a:xfrm>
            <a:off x="5120640" y="3383280"/>
            <a:ext cx="6519672" cy="960120"/>
          </a:xfrm>
          <a:prstGeom prst="roundRect">
            <a:avLst>
              <a:gd name="adj" fmla="val 11429"/>
            </a:avLst>
          </a:prstGeom>
          <a:solidFill>
            <a:schemeClr val="bg2"/>
          </a:solidFill>
          <a:ln/>
        </p:spPr>
      </p:sp>
      <p:sp>
        <p:nvSpPr>
          <p:cNvPr id="12" name="Text 9"/>
          <p:cNvSpPr txBox="1"/>
          <p:nvPr/>
        </p:nvSpPr>
        <p:spPr>
          <a:xfrm>
            <a:off x="5394960" y="3383280"/>
            <a:ext cx="6035040" cy="960120"/>
          </a:xfrm>
          <a:prstGeom prst="rect">
            <a:avLst/>
          </a:prstGeom>
          <a:noFill/>
          <a:ln/>
        </p:spPr>
        <p:txBody>
          <a:bodyPr wrap="square" lIns="0" tIns="0" rIns="0" bIns="0" rtlCol="0" anchor="ctr"/>
          <a:lstStyle/>
          <a:p>
            <a:pPr indent="0" marL="0">
              <a:buNone/>
            </a:pPr>
            <a:r>
              <a:rPr lang="en-US" sz="2400" b="1" i="1" dirty="0">
                <a:solidFill>
                  <a:schemeClr val="tx2"/>
                </a:solidFill>
                <a:latin typeface="Cambria" pitchFamily="34" charset="0"/>
                <a:ea typeface="Cambria" pitchFamily="34" charset="-122"/>
                <a:cs typeface="Cambria" pitchFamily="34" charset="-120"/>
              </a:rPr>
              <a:t>“Apakah sudah jadi kebiasaan?”</a:t>
            </a:r>
            <a:endParaRPr lang="en-US" sz="2400" dirty="0"/>
          </a:p>
        </p:txBody>
      </p:sp>
      <p:sp>
        <p:nvSpPr>
          <p:cNvPr id="13" name="Text 10"/>
          <p:cNvSpPr txBox="1"/>
          <p:nvPr/>
        </p:nvSpPr>
        <p:spPr>
          <a:xfrm>
            <a:off x="5120640" y="4572000"/>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CONTOH</a:t>
            </a:r>
            <a:endParaRPr lang="en-US" sz="1200" dirty="0"/>
          </a:p>
        </p:txBody>
      </p:sp>
      <p:sp>
        <p:nvSpPr>
          <p:cNvPr id="14" name="Contoh 1"/>
          <p:cNvSpPr/>
          <p:nvPr/>
        </p:nvSpPr>
        <p:spPr>
          <a:xfrm>
            <a:off x="5120640" y="4937760"/>
            <a:ext cx="2011680" cy="1188720"/>
          </a:xfrm>
          <a:prstGeom prst="roundRect">
            <a:avLst>
              <a:gd name="adj" fmla="val 9231"/>
            </a:avLst>
          </a:prstGeom>
          <a:solidFill>
            <a:srgbClr val="FCEBD3"/>
          </a:solidFill>
          <a:ln/>
        </p:spPr>
      </p:sp>
      <p:pic>
        <p:nvPicPr>
          <p:cNvPr id="15" name="Ikon contoh 1" descr="preencoded.png">    </p:cNvPr>
          <p:cNvPicPr>
            <a:picLocks noChangeAspect="1"/>
          </p:cNvPicPr>
          <p:nvPr/>
        </p:nvPicPr>
        <p:blipFill>
          <a:blip r:embed="rId2"/>
          <a:stretch>
            <a:fillRect/>
          </a:stretch>
        </p:blipFill>
        <p:spPr>
          <a:xfrm>
            <a:off x="5303520" y="5074920"/>
            <a:ext cx="329184" cy="329184"/>
          </a:xfrm>
          <a:prstGeom prst="rect">
            <a:avLst/>
          </a:prstGeom>
        </p:spPr>
      </p:pic>
      <p:sp>
        <p:nvSpPr>
          <p:cNvPr id="16" name="Text 12"/>
          <p:cNvSpPr txBox="1"/>
          <p:nvPr/>
        </p:nvSpPr>
        <p:spPr>
          <a:xfrm>
            <a:off x="5303520"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Bangun tidur, buka chat</a:t>
            </a:r>
            <a:endParaRPr lang="en-US" sz="1500" dirty="0"/>
          </a:p>
        </p:txBody>
      </p:sp>
      <p:sp>
        <p:nvSpPr>
          <p:cNvPr id="17" name="Contoh 2"/>
          <p:cNvSpPr/>
          <p:nvPr/>
        </p:nvSpPr>
        <p:spPr>
          <a:xfrm>
            <a:off x="7374636" y="4937760"/>
            <a:ext cx="2011680" cy="1188720"/>
          </a:xfrm>
          <a:prstGeom prst="roundRect">
            <a:avLst>
              <a:gd name="adj" fmla="val 9231"/>
            </a:avLst>
          </a:prstGeom>
          <a:solidFill>
            <a:srgbClr val="FCEBD3"/>
          </a:solidFill>
          <a:ln/>
        </p:spPr>
      </p:sp>
      <p:pic>
        <p:nvPicPr>
          <p:cNvPr id="18" name="Ikon contoh 2" descr="preencoded.png">    </p:cNvPr>
          <p:cNvPicPr>
            <a:picLocks noChangeAspect="1"/>
          </p:cNvPicPr>
          <p:nvPr/>
        </p:nvPicPr>
        <p:blipFill>
          <a:blip r:embed="rId3"/>
          <a:stretch>
            <a:fillRect/>
          </a:stretch>
        </p:blipFill>
        <p:spPr>
          <a:xfrm>
            <a:off x="7557516" y="5074920"/>
            <a:ext cx="329184" cy="329184"/>
          </a:xfrm>
          <a:prstGeom prst="rect">
            <a:avLst/>
          </a:prstGeom>
        </p:spPr>
      </p:pic>
      <p:sp>
        <p:nvSpPr>
          <p:cNvPr id="19" name="Text 14"/>
          <p:cNvSpPr txBox="1"/>
          <p:nvPr/>
        </p:nvSpPr>
        <p:spPr>
          <a:xfrm>
            <a:off x="7557516"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Cari lokasi, buka peta</a:t>
            </a:r>
            <a:endParaRPr lang="en-US" sz="1500" dirty="0"/>
          </a:p>
        </p:txBody>
      </p:sp>
      <p:sp>
        <p:nvSpPr>
          <p:cNvPr id="20" name="Contoh 3"/>
          <p:cNvSpPr/>
          <p:nvPr/>
        </p:nvSpPr>
        <p:spPr>
          <a:xfrm>
            <a:off x="9628632" y="4937760"/>
            <a:ext cx="2011680" cy="1188720"/>
          </a:xfrm>
          <a:prstGeom prst="roundRect">
            <a:avLst>
              <a:gd name="adj" fmla="val 9231"/>
            </a:avLst>
          </a:prstGeom>
          <a:solidFill>
            <a:srgbClr val="FCEBD3"/>
          </a:solidFill>
          <a:ln/>
        </p:spPr>
      </p:sp>
      <p:pic>
        <p:nvPicPr>
          <p:cNvPr id="21" name="Ikon contoh 3" descr="preencoded.png">    </p:cNvPr>
          <p:cNvPicPr>
            <a:picLocks noChangeAspect="1"/>
          </p:cNvPicPr>
          <p:nvPr/>
        </p:nvPicPr>
        <p:blipFill>
          <a:blip r:embed="rId4"/>
          <a:stretch>
            <a:fillRect/>
          </a:stretch>
        </p:blipFill>
        <p:spPr>
          <a:xfrm>
            <a:off x="9811512" y="5074920"/>
            <a:ext cx="329184" cy="329184"/>
          </a:xfrm>
          <a:prstGeom prst="rect">
            <a:avLst/>
          </a:prstGeom>
        </p:spPr>
      </p:pic>
      <p:sp>
        <p:nvSpPr>
          <p:cNvPr id="22" name="Text 16"/>
          <p:cNvSpPr txBox="1"/>
          <p:nvPr/>
        </p:nvSpPr>
        <p:spPr>
          <a:xfrm>
            <a:off x="9811512" y="5468112"/>
            <a:ext cx="1645920" cy="594360"/>
          </a:xfrm>
          <a:prstGeom prst="rect">
            <a:avLst/>
          </a:prstGeom>
          <a:noFill/>
          <a:ln/>
        </p:spPr>
        <p:txBody>
          <a:bodyPr wrap="square" lIns="0" tIns="0" rIns="0" bIns="0" rtlCol="0" anchor="t"/>
          <a:lstStyle/>
          <a:p>
            <a:pPr indent="0" marL="0">
              <a:buNone/>
            </a:pPr>
            <a:r>
              <a:rPr lang="en-US" sz="1500" b="1" dirty="0">
                <a:solidFill>
                  <a:schemeClr val="tx1"/>
                </a:solidFill>
              </a:rPr>
              <a:t>Mau bayar, buka m-banking</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STRUKTUR DASAR</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Model UTAUT2</a:t>
            </a:r>
            <a:endParaRPr lang="en-US" sz="3400" dirty="0"/>
          </a:p>
        </p:txBody>
      </p:sp>
      <p:sp>
        <p:nvSpPr>
          <p:cNvPr id="4" name="Performance Expectancy"/>
          <p:cNvSpPr/>
          <p:nvPr/>
        </p:nvSpPr>
        <p:spPr>
          <a:xfrm>
            <a:off x="548640" y="1554480"/>
            <a:ext cx="3291840" cy="548640"/>
          </a:xfrm>
          <a:prstGeom prst="roundRect">
            <a:avLst>
              <a:gd name="adj" fmla="val 20000"/>
            </a:avLst>
          </a:prstGeom>
          <a:solidFill>
            <a:schemeClr val="accent1"/>
          </a:solidFill>
          <a:ln/>
          <a:effectLst>
            <a:outerShdw sx="100000" sy="100000" kx="0" ky="0" algn="bl" rotWithShape="0" blurRad="101600" dist="25400" dir="5400000">
              <a:srgbClr val="1C1A33">
                <a:alpha val="14000"/>
              </a:srgbClr>
            </a:outerShdw>
          </a:effectLst>
        </p:spPr>
      </p:sp>
      <p:pic>
        <p:nvPicPr>
          <p:cNvPr id="5" name="Performance Expectancy ikon" descr="preencoded.png">    </p:cNvPr>
          <p:cNvPicPr>
            <a:picLocks noChangeAspect="1"/>
          </p:cNvPicPr>
          <p:nvPr/>
        </p:nvPicPr>
        <p:blipFill>
          <a:blip r:embed="rId1"/>
          <a:stretch>
            <a:fillRect/>
          </a:stretch>
        </p:blipFill>
        <p:spPr>
          <a:xfrm>
            <a:off x="749808" y="1682496"/>
            <a:ext cx="292608" cy="292608"/>
          </a:xfrm>
          <a:prstGeom prst="rect">
            <a:avLst/>
          </a:prstGeom>
        </p:spPr>
      </p:pic>
      <p:sp>
        <p:nvSpPr>
          <p:cNvPr id="6" name="Text 3"/>
          <p:cNvSpPr txBox="1"/>
          <p:nvPr/>
        </p:nvSpPr>
        <p:spPr>
          <a:xfrm>
            <a:off x="1234440" y="1554480"/>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Performance Expectancy</a:t>
            </a:r>
            <a:endParaRPr lang="en-US" sz="1600" dirty="0"/>
          </a:p>
        </p:txBody>
      </p:sp>
      <p:sp>
        <p:nvSpPr>
          <p:cNvPr id="7" name="Effort Expectancy"/>
          <p:cNvSpPr/>
          <p:nvPr/>
        </p:nvSpPr>
        <p:spPr>
          <a:xfrm>
            <a:off x="548640" y="2212848"/>
            <a:ext cx="3291840" cy="548640"/>
          </a:xfrm>
          <a:prstGeom prst="roundRect">
            <a:avLst>
              <a:gd name="adj" fmla="val 20000"/>
            </a:avLst>
          </a:prstGeom>
          <a:solidFill>
            <a:schemeClr val="accent1"/>
          </a:solidFill>
          <a:ln/>
          <a:effectLst>
            <a:outerShdw sx="100000" sy="100000" kx="0" ky="0" algn="bl" rotWithShape="0" blurRad="101600" dist="25400" dir="5400000">
              <a:srgbClr val="1C1A33">
                <a:alpha val="14000"/>
              </a:srgbClr>
            </a:outerShdw>
          </a:effectLst>
        </p:spPr>
      </p:sp>
      <p:pic>
        <p:nvPicPr>
          <p:cNvPr id="8" name="Effort Expectancy ikon" descr="preencoded.png">    </p:cNvPr>
          <p:cNvPicPr>
            <a:picLocks noChangeAspect="1"/>
          </p:cNvPicPr>
          <p:nvPr/>
        </p:nvPicPr>
        <p:blipFill>
          <a:blip r:embed="rId2"/>
          <a:stretch>
            <a:fillRect/>
          </a:stretch>
        </p:blipFill>
        <p:spPr>
          <a:xfrm>
            <a:off x="749808" y="2340864"/>
            <a:ext cx="292608" cy="292608"/>
          </a:xfrm>
          <a:prstGeom prst="rect">
            <a:avLst/>
          </a:prstGeom>
        </p:spPr>
      </p:pic>
      <p:sp>
        <p:nvSpPr>
          <p:cNvPr id="9" name="Text 5"/>
          <p:cNvSpPr txBox="1"/>
          <p:nvPr/>
        </p:nvSpPr>
        <p:spPr>
          <a:xfrm>
            <a:off x="1234440" y="2212848"/>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Effort Expectancy</a:t>
            </a:r>
            <a:endParaRPr lang="en-US" sz="1600" dirty="0"/>
          </a:p>
        </p:txBody>
      </p:sp>
      <p:sp>
        <p:nvSpPr>
          <p:cNvPr id="10" name="Social Influence"/>
          <p:cNvSpPr/>
          <p:nvPr/>
        </p:nvSpPr>
        <p:spPr>
          <a:xfrm>
            <a:off x="548640" y="2871216"/>
            <a:ext cx="3291840" cy="548640"/>
          </a:xfrm>
          <a:prstGeom prst="roundRect">
            <a:avLst>
              <a:gd name="adj" fmla="val 20000"/>
            </a:avLst>
          </a:prstGeom>
          <a:solidFill>
            <a:schemeClr val="accent1"/>
          </a:solidFill>
          <a:ln/>
          <a:effectLst>
            <a:outerShdw sx="100000" sy="100000" kx="0" ky="0" algn="bl" rotWithShape="0" blurRad="101600" dist="25400" dir="5400000">
              <a:srgbClr val="1C1A33">
                <a:alpha val="14000"/>
              </a:srgbClr>
            </a:outerShdw>
          </a:effectLst>
        </p:spPr>
      </p:sp>
      <p:pic>
        <p:nvPicPr>
          <p:cNvPr id="11" name="Social Influence ikon" descr="preencoded.png">    </p:cNvPr>
          <p:cNvPicPr>
            <a:picLocks noChangeAspect="1"/>
          </p:cNvPicPr>
          <p:nvPr/>
        </p:nvPicPr>
        <p:blipFill>
          <a:blip r:embed="rId3"/>
          <a:stretch>
            <a:fillRect/>
          </a:stretch>
        </p:blipFill>
        <p:spPr>
          <a:xfrm>
            <a:off x="749808" y="2999232"/>
            <a:ext cx="292608" cy="292608"/>
          </a:xfrm>
          <a:prstGeom prst="rect">
            <a:avLst/>
          </a:prstGeom>
        </p:spPr>
      </p:pic>
      <p:sp>
        <p:nvSpPr>
          <p:cNvPr id="12" name="Text 7"/>
          <p:cNvSpPr txBox="1"/>
          <p:nvPr/>
        </p:nvSpPr>
        <p:spPr>
          <a:xfrm>
            <a:off x="1234440" y="2871216"/>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Social Influence</a:t>
            </a:r>
            <a:endParaRPr lang="en-US" sz="1600" dirty="0"/>
          </a:p>
        </p:txBody>
      </p:sp>
      <p:sp>
        <p:nvSpPr>
          <p:cNvPr id="13" name="Hedonic Motivation"/>
          <p:cNvSpPr/>
          <p:nvPr/>
        </p:nvSpPr>
        <p:spPr>
          <a:xfrm>
            <a:off x="548640" y="3529584"/>
            <a:ext cx="3291840" cy="548640"/>
          </a:xfrm>
          <a:prstGeom prst="roundRect">
            <a:avLst>
              <a:gd name="adj" fmla="val 20000"/>
            </a:avLst>
          </a:prstGeom>
          <a:solidFill>
            <a:schemeClr val="accent2"/>
          </a:solidFill>
          <a:ln/>
          <a:effectLst>
            <a:outerShdw sx="100000" sy="100000" kx="0" ky="0" algn="bl" rotWithShape="0" blurRad="101600" dist="25400" dir="5400000">
              <a:srgbClr val="1C1A33">
                <a:alpha val="14000"/>
              </a:srgbClr>
            </a:outerShdw>
          </a:effectLst>
        </p:spPr>
      </p:sp>
      <p:pic>
        <p:nvPicPr>
          <p:cNvPr id="14" name="Hedonic Motivation ikon" descr="preencoded.png">    </p:cNvPr>
          <p:cNvPicPr>
            <a:picLocks noChangeAspect="1"/>
          </p:cNvPicPr>
          <p:nvPr/>
        </p:nvPicPr>
        <p:blipFill>
          <a:blip r:embed="rId4"/>
          <a:stretch>
            <a:fillRect/>
          </a:stretch>
        </p:blipFill>
        <p:spPr>
          <a:xfrm>
            <a:off x="749808" y="3657600"/>
            <a:ext cx="292608" cy="292608"/>
          </a:xfrm>
          <a:prstGeom prst="rect">
            <a:avLst/>
          </a:prstGeom>
        </p:spPr>
      </p:pic>
      <p:sp>
        <p:nvSpPr>
          <p:cNvPr id="15" name="Text 9"/>
          <p:cNvSpPr txBox="1"/>
          <p:nvPr/>
        </p:nvSpPr>
        <p:spPr>
          <a:xfrm>
            <a:off x="1234440" y="3529584"/>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Hedonic Motivation</a:t>
            </a:r>
            <a:endParaRPr lang="en-US" sz="1600" dirty="0"/>
          </a:p>
        </p:txBody>
      </p:sp>
      <p:sp>
        <p:nvSpPr>
          <p:cNvPr id="16" name="Price Value"/>
          <p:cNvSpPr/>
          <p:nvPr/>
        </p:nvSpPr>
        <p:spPr>
          <a:xfrm>
            <a:off x="548640" y="4187952"/>
            <a:ext cx="3291840" cy="548640"/>
          </a:xfrm>
          <a:prstGeom prst="roundRect">
            <a:avLst>
              <a:gd name="adj" fmla="val 20000"/>
            </a:avLst>
          </a:prstGeom>
          <a:solidFill>
            <a:schemeClr val="accent2"/>
          </a:solidFill>
          <a:ln/>
          <a:effectLst>
            <a:outerShdw sx="100000" sy="100000" kx="0" ky="0" algn="bl" rotWithShape="0" blurRad="101600" dist="25400" dir="5400000">
              <a:srgbClr val="1C1A33">
                <a:alpha val="14000"/>
              </a:srgbClr>
            </a:outerShdw>
          </a:effectLst>
        </p:spPr>
      </p:sp>
      <p:pic>
        <p:nvPicPr>
          <p:cNvPr id="17" name="Price Value ikon" descr="preencoded.png">    </p:cNvPr>
          <p:cNvPicPr>
            <a:picLocks noChangeAspect="1"/>
          </p:cNvPicPr>
          <p:nvPr/>
        </p:nvPicPr>
        <p:blipFill>
          <a:blip r:embed="rId5"/>
          <a:stretch>
            <a:fillRect/>
          </a:stretch>
        </p:blipFill>
        <p:spPr>
          <a:xfrm>
            <a:off x="749808" y="4315968"/>
            <a:ext cx="292608" cy="292608"/>
          </a:xfrm>
          <a:prstGeom prst="rect">
            <a:avLst/>
          </a:prstGeom>
        </p:spPr>
      </p:pic>
      <p:sp>
        <p:nvSpPr>
          <p:cNvPr id="18" name="Text 11"/>
          <p:cNvSpPr txBox="1"/>
          <p:nvPr/>
        </p:nvSpPr>
        <p:spPr>
          <a:xfrm>
            <a:off x="1234440" y="4187952"/>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Price Value</a:t>
            </a:r>
            <a:endParaRPr lang="en-US" sz="1600" dirty="0"/>
          </a:p>
        </p:txBody>
      </p:sp>
      <p:sp>
        <p:nvSpPr>
          <p:cNvPr id="19" name="Facilitating Conditions"/>
          <p:cNvSpPr/>
          <p:nvPr/>
        </p:nvSpPr>
        <p:spPr>
          <a:xfrm>
            <a:off x="548640" y="4846320"/>
            <a:ext cx="3291840" cy="548640"/>
          </a:xfrm>
          <a:prstGeom prst="roundRect">
            <a:avLst>
              <a:gd name="adj" fmla="val 20000"/>
            </a:avLst>
          </a:prstGeom>
          <a:solidFill>
            <a:schemeClr val="accent1"/>
          </a:solidFill>
          <a:ln/>
          <a:effectLst>
            <a:outerShdw sx="100000" sy="100000" kx="0" ky="0" algn="bl" rotWithShape="0" blurRad="101600" dist="25400" dir="5400000">
              <a:srgbClr val="1C1A33">
                <a:alpha val="14000"/>
              </a:srgbClr>
            </a:outerShdw>
          </a:effectLst>
        </p:spPr>
      </p:sp>
      <p:pic>
        <p:nvPicPr>
          <p:cNvPr id="20" name="Facilitating Conditions ikon" descr="preencoded.png">    </p:cNvPr>
          <p:cNvPicPr>
            <a:picLocks noChangeAspect="1"/>
          </p:cNvPicPr>
          <p:nvPr/>
        </p:nvPicPr>
        <p:blipFill>
          <a:blip r:embed="rId6"/>
          <a:stretch>
            <a:fillRect/>
          </a:stretch>
        </p:blipFill>
        <p:spPr>
          <a:xfrm>
            <a:off x="749808" y="4974336"/>
            <a:ext cx="292608" cy="292608"/>
          </a:xfrm>
          <a:prstGeom prst="rect">
            <a:avLst/>
          </a:prstGeom>
        </p:spPr>
      </p:pic>
      <p:sp>
        <p:nvSpPr>
          <p:cNvPr id="21" name="Text 13"/>
          <p:cNvSpPr txBox="1"/>
          <p:nvPr/>
        </p:nvSpPr>
        <p:spPr>
          <a:xfrm>
            <a:off x="1234440" y="4846320"/>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Facilitating Conditions</a:t>
            </a:r>
            <a:endParaRPr lang="en-US" sz="1600" dirty="0"/>
          </a:p>
        </p:txBody>
      </p:sp>
      <p:sp>
        <p:nvSpPr>
          <p:cNvPr id="22" name="Habit"/>
          <p:cNvSpPr/>
          <p:nvPr/>
        </p:nvSpPr>
        <p:spPr>
          <a:xfrm>
            <a:off x="548640" y="5504688"/>
            <a:ext cx="3291840" cy="548640"/>
          </a:xfrm>
          <a:prstGeom prst="roundRect">
            <a:avLst>
              <a:gd name="adj" fmla="val 20000"/>
            </a:avLst>
          </a:prstGeom>
          <a:solidFill>
            <a:schemeClr val="accent2"/>
          </a:solidFill>
          <a:ln/>
          <a:effectLst>
            <a:outerShdw sx="100000" sy="100000" kx="0" ky="0" algn="bl" rotWithShape="0" blurRad="101600" dist="25400" dir="5400000">
              <a:srgbClr val="1C1A33">
                <a:alpha val="14000"/>
              </a:srgbClr>
            </a:outerShdw>
          </a:effectLst>
        </p:spPr>
      </p:sp>
      <p:pic>
        <p:nvPicPr>
          <p:cNvPr id="23" name="Habit ikon" descr="preencoded.png">    </p:cNvPr>
          <p:cNvPicPr>
            <a:picLocks noChangeAspect="1"/>
          </p:cNvPicPr>
          <p:nvPr/>
        </p:nvPicPr>
        <p:blipFill>
          <a:blip r:embed="rId7"/>
          <a:stretch>
            <a:fillRect/>
          </a:stretch>
        </p:blipFill>
        <p:spPr>
          <a:xfrm>
            <a:off x="749808" y="5632704"/>
            <a:ext cx="292608" cy="292608"/>
          </a:xfrm>
          <a:prstGeom prst="rect">
            <a:avLst/>
          </a:prstGeom>
        </p:spPr>
      </p:pic>
      <p:sp>
        <p:nvSpPr>
          <p:cNvPr id="24" name="Text 15"/>
          <p:cNvSpPr txBox="1"/>
          <p:nvPr/>
        </p:nvSpPr>
        <p:spPr>
          <a:xfrm>
            <a:off x="1234440" y="5504688"/>
            <a:ext cx="2468880" cy="548640"/>
          </a:xfrm>
          <a:prstGeom prst="rect">
            <a:avLst/>
          </a:prstGeom>
          <a:noFill/>
          <a:ln/>
        </p:spPr>
        <p:txBody>
          <a:bodyPr wrap="square" lIns="0" tIns="0" rIns="0" bIns="0" rtlCol="0" anchor="ctr"/>
          <a:lstStyle/>
          <a:p>
            <a:pPr indent="0" marL="0">
              <a:buNone/>
            </a:pPr>
            <a:r>
              <a:rPr lang="en-US" sz="1600" b="1" dirty="0">
                <a:solidFill>
                  <a:schemeClr val="bg1"/>
                </a:solidFill>
              </a:rPr>
              <a:t>Habit</a:t>
            </a:r>
            <a:endParaRPr lang="en-US" sz="1600" dirty="0"/>
          </a:p>
        </p:txBody>
      </p:sp>
      <p:sp>
        <p:nvSpPr>
          <p:cNvPr id="25" name="Behavioral Intention"/>
          <p:cNvSpPr/>
          <p:nvPr/>
        </p:nvSpPr>
        <p:spPr>
          <a:xfrm>
            <a:off x="5394960" y="2880360"/>
            <a:ext cx="2560320" cy="1005840"/>
          </a:xfrm>
          <a:prstGeom prst="roundRect">
            <a:avLst>
              <a:gd name="adj" fmla="val 10909"/>
            </a:avLst>
          </a:prstGeom>
          <a:solidFill>
            <a:schemeClr val="tx2"/>
          </a:solidFill>
          <a:ln/>
          <a:effectLst>
            <a:outerShdw sx="100000" sy="100000" kx="0" ky="0" algn="bl" rotWithShape="0" blurRad="101600" dist="25400" dir="5400000">
              <a:srgbClr val="1C1A33">
                <a:alpha val="14000"/>
              </a:srgbClr>
            </a:outerShdw>
          </a:effectLst>
        </p:spPr>
      </p:sp>
      <p:sp>
        <p:nvSpPr>
          <p:cNvPr id="26" name="Text 17"/>
          <p:cNvSpPr txBox="1"/>
          <p:nvPr/>
        </p:nvSpPr>
        <p:spPr>
          <a:xfrm>
            <a:off x="5577840" y="3017520"/>
            <a:ext cx="2194560" cy="411480"/>
          </a:xfrm>
          <a:prstGeom prst="rect">
            <a:avLst/>
          </a:prstGeom>
          <a:noFill/>
          <a:ln/>
        </p:spPr>
        <p:txBody>
          <a:bodyPr wrap="square" lIns="0" tIns="0" rIns="0" bIns="0" rtlCol="0" anchor="t"/>
          <a:lstStyle/>
          <a:p>
            <a:pPr algn="ctr" indent="0" marL="0">
              <a:buNone/>
            </a:pPr>
            <a:r>
              <a:rPr lang="en-US" sz="1700" b="1" dirty="0">
                <a:solidFill>
                  <a:schemeClr val="bg1"/>
                </a:solidFill>
              </a:rPr>
              <a:t>Behavioral Intention</a:t>
            </a:r>
            <a:endParaRPr lang="en-US" sz="1700" dirty="0"/>
          </a:p>
        </p:txBody>
      </p:sp>
      <p:sp>
        <p:nvSpPr>
          <p:cNvPr id="27" name="Text 18"/>
          <p:cNvSpPr txBox="1"/>
          <p:nvPr/>
        </p:nvSpPr>
        <p:spPr>
          <a:xfrm>
            <a:off x="5577840" y="3429000"/>
            <a:ext cx="2194560" cy="320040"/>
          </a:xfrm>
          <a:prstGeom prst="rect">
            <a:avLst/>
          </a:prstGeom>
          <a:noFill/>
          <a:ln/>
        </p:spPr>
        <p:txBody>
          <a:bodyPr wrap="square" lIns="0" tIns="0" rIns="0" bIns="0" rtlCol="0" anchor="t"/>
          <a:lstStyle/>
          <a:p>
            <a:pPr algn="ctr" indent="0" marL="0">
              <a:buNone/>
            </a:pPr>
            <a:r>
              <a:rPr lang="en-US" sz="1400" dirty="0">
                <a:solidFill>
                  <a:schemeClr val="bg2"/>
                </a:solidFill>
              </a:rPr>
              <a:t>Niat menggunakan</a:t>
            </a:r>
            <a:endParaRPr lang="en-US" sz="1400" dirty="0"/>
          </a:p>
        </p:txBody>
      </p:sp>
      <p:sp>
        <p:nvSpPr>
          <p:cNvPr id="28" name="Use Behavior"/>
          <p:cNvSpPr/>
          <p:nvPr/>
        </p:nvSpPr>
        <p:spPr>
          <a:xfrm>
            <a:off x="9052560" y="2880360"/>
            <a:ext cx="2560320" cy="1005840"/>
          </a:xfrm>
          <a:prstGeom prst="roundRect">
            <a:avLst>
              <a:gd name="adj" fmla="val 10909"/>
            </a:avLst>
          </a:prstGeom>
          <a:solidFill>
            <a:schemeClr val="tx2"/>
          </a:solidFill>
          <a:ln/>
          <a:effectLst>
            <a:outerShdw sx="100000" sy="100000" kx="0" ky="0" algn="bl" rotWithShape="0" blurRad="101600" dist="25400" dir="5400000">
              <a:srgbClr val="1C1A33">
                <a:alpha val="14000"/>
              </a:srgbClr>
            </a:outerShdw>
          </a:effectLst>
        </p:spPr>
      </p:sp>
      <p:sp>
        <p:nvSpPr>
          <p:cNvPr id="29" name="Text 20"/>
          <p:cNvSpPr txBox="1"/>
          <p:nvPr/>
        </p:nvSpPr>
        <p:spPr>
          <a:xfrm>
            <a:off x="9235440" y="3017520"/>
            <a:ext cx="2194560" cy="411480"/>
          </a:xfrm>
          <a:prstGeom prst="rect">
            <a:avLst/>
          </a:prstGeom>
          <a:noFill/>
          <a:ln/>
        </p:spPr>
        <p:txBody>
          <a:bodyPr wrap="square" lIns="0" tIns="0" rIns="0" bIns="0" rtlCol="0" anchor="t"/>
          <a:lstStyle/>
          <a:p>
            <a:pPr algn="ctr" indent="0" marL="0">
              <a:buNone/>
            </a:pPr>
            <a:r>
              <a:rPr lang="en-US" sz="1700" b="1" dirty="0">
                <a:solidFill>
                  <a:schemeClr val="bg1"/>
                </a:solidFill>
              </a:rPr>
              <a:t>Use Behavior</a:t>
            </a:r>
            <a:endParaRPr lang="en-US" sz="1700" dirty="0"/>
          </a:p>
        </p:txBody>
      </p:sp>
      <p:sp>
        <p:nvSpPr>
          <p:cNvPr id="30" name="Text 21"/>
          <p:cNvSpPr txBox="1"/>
          <p:nvPr/>
        </p:nvSpPr>
        <p:spPr>
          <a:xfrm>
            <a:off x="9235440" y="3429000"/>
            <a:ext cx="2194560" cy="320040"/>
          </a:xfrm>
          <a:prstGeom prst="rect">
            <a:avLst/>
          </a:prstGeom>
          <a:noFill/>
          <a:ln/>
        </p:spPr>
        <p:txBody>
          <a:bodyPr wrap="square" lIns="0" tIns="0" rIns="0" bIns="0" rtlCol="0" anchor="t"/>
          <a:lstStyle/>
          <a:p>
            <a:pPr algn="ctr" indent="0" marL="0">
              <a:buNone/>
            </a:pPr>
            <a:r>
              <a:rPr lang="en-US" sz="1400" dirty="0">
                <a:solidFill>
                  <a:schemeClr val="bg2"/>
                </a:solidFill>
              </a:rPr>
              <a:t>Penggunaan nyata</a:t>
            </a:r>
            <a:endParaRPr lang="en-US" sz="1400" dirty="0"/>
          </a:p>
        </p:txBody>
      </p:sp>
      <p:sp>
        <p:nvSpPr>
          <p:cNvPr id="31" name="Panah ke BI Performance Expectancy"/>
          <p:cNvSpPr/>
          <p:nvPr/>
        </p:nvSpPr>
        <p:spPr>
          <a:xfrm>
            <a:off x="3840480" y="1828800"/>
            <a:ext cx="1554480" cy="1554480"/>
          </a:xfrm>
          <a:prstGeom prst="line">
            <a:avLst/>
          </a:prstGeom>
          <a:noFill/>
          <a:ln w="19050">
            <a:solidFill>
              <a:schemeClr val="tx2"/>
            </a:solidFill>
            <a:prstDash val="solid"/>
            <a:tailEnd type="triangle"/>
          </a:ln>
        </p:spPr>
      </p:sp>
      <p:sp>
        <p:nvSpPr>
          <p:cNvPr id="32" name="Panah ke BI Effort Expectancy"/>
          <p:cNvSpPr/>
          <p:nvPr/>
        </p:nvSpPr>
        <p:spPr>
          <a:xfrm>
            <a:off x="3840480" y="2487168"/>
            <a:ext cx="1554480" cy="896112"/>
          </a:xfrm>
          <a:prstGeom prst="line">
            <a:avLst/>
          </a:prstGeom>
          <a:noFill/>
          <a:ln w="19050">
            <a:solidFill>
              <a:schemeClr val="tx2"/>
            </a:solidFill>
            <a:prstDash val="solid"/>
            <a:tailEnd type="triangle"/>
          </a:ln>
        </p:spPr>
      </p:sp>
      <p:sp>
        <p:nvSpPr>
          <p:cNvPr id="33" name="Panah ke BI Social Influence"/>
          <p:cNvSpPr/>
          <p:nvPr/>
        </p:nvSpPr>
        <p:spPr>
          <a:xfrm>
            <a:off x="3840480" y="3145536"/>
            <a:ext cx="1554480" cy="237744"/>
          </a:xfrm>
          <a:prstGeom prst="line">
            <a:avLst/>
          </a:prstGeom>
          <a:noFill/>
          <a:ln w="19050">
            <a:solidFill>
              <a:schemeClr val="tx2"/>
            </a:solidFill>
            <a:prstDash val="solid"/>
            <a:tailEnd type="triangle"/>
          </a:ln>
        </p:spPr>
      </p:sp>
      <p:sp>
        <p:nvSpPr>
          <p:cNvPr id="34" name="Panah ke BI Hedonic Motivation"/>
          <p:cNvSpPr/>
          <p:nvPr/>
        </p:nvSpPr>
        <p:spPr>
          <a:xfrm flipV="1">
            <a:off x="3840480" y="3383280"/>
            <a:ext cx="1554480" cy="420624"/>
          </a:xfrm>
          <a:prstGeom prst="line">
            <a:avLst/>
          </a:prstGeom>
          <a:noFill/>
          <a:ln w="19050">
            <a:solidFill>
              <a:schemeClr val="tx2"/>
            </a:solidFill>
            <a:prstDash val="solid"/>
            <a:tailEnd type="triangle"/>
          </a:ln>
        </p:spPr>
      </p:sp>
      <p:sp>
        <p:nvSpPr>
          <p:cNvPr id="35" name="Panah ke BI Price Value"/>
          <p:cNvSpPr/>
          <p:nvPr/>
        </p:nvSpPr>
        <p:spPr>
          <a:xfrm flipV="1">
            <a:off x="3840480" y="3383280"/>
            <a:ext cx="1554480" cy="1078992"/>
          </a:xfrm>
          <a:prstGeom prst="line">
            <a:avLst/>
          </a:prstGeom>
          <a:noFill/>
          <a:ln w="19050">
            <a:solidFill>
              <a:schemeClr val="tx2"/>
            </a:solidFill>
            <a:prstDash val="solid"/>
            <a:tailEnd type="triangle"/>
          </a:ln>
        </p:spPr>
      </p:sp>
      <p:sp>
        <p:nvSpPr>
          <p:cNvPr id="36" name="Panah ke BI Facilitating Conditions"/>
          <p:cNvSpPr/>
          <p:nvPr/>
        </p:nvSpPr>
        <p:spPr>
          <a:xfrm flipV="1">
            <a:off x="3840480" y="3383280"/>
            <a:ext cx="1554480" cy="1737360"/>
          </a:xfrm>
          <a:prstGeom prst="line">
            <a:avLst/>
          </a:prstGeom>
          <a:noFill/>
          <a:ln w="19050">
            <a:solidFill>
              <a:schemeClr val="tx2"/>
            </a:solidFill>
            <a:prstDash val="solid"/>
            <a:tailEnd type="triangle"/>
          </a:ln>
        </p:spPr>
      </p:sp>
      <p:sp>
        <p:nvSpPr>
          <p:cNvPr id="37" name="Panah ke BI Habit"/>
          <p:cNvSpPr/>
          <p:nvPr/>
        </p:nvSpPr>
        <p:spPr>
          <a:xfrm flipV="1">
            <a:off x="3840480" y="3383280"/>
            <a:ext cx="1554480" cy="2395728"/>
          </a:xfrm>
          <a:prstGeom prst="line">
            <a:avLst/>
          </a:prstGeom>
          <a:noFill/>
          <a:ln w="19050">
            <a:solidFill>
              <a:schemeClr val="tx2"/>
            </a:solidFill>
            <a:prstDash val="solid"/>
            <a:tailEnd type="triangle"/>
          </a:ln>
        </p:spPr>
      </p:sp>
      <p:sp>
        <p:nvSpPr>
          <p:cNvPr id="38" name="Panah BI ke UB"/>
          <p:cNvSpPr/>
          <p:nvPr/>
        </p:nvSpPr>
        <p:spPr>
          <a:xfrm>
            <a:off x="7955280" y="3383280"/>
            <a:ext cx="1097280" cy="0"/>
          </a:xfrm>
          <a:prstGeom prst="line">
            <a:avLst/>
          </a:prstGeom>
          <a:noFill/>
          <a:ln w="25400">
            <a:solidFill>
              <a:schemeClr val="tx2"/>
            </a:solidFill>
            <a:prstDash val="solid"/>
            <a:tailEnd type="triangle"/>
          </a:ln>
        </p:spPr>
      </p:sp>
      <p:sp>
        <p:nvSpPr>
          <p:cNvPr id="39" name="FC ke UB horizontal"/>
          <p:cNvSpPr/>
          <p:nvPr/>
        </p:nvSpPr>
        <p:spPr>
          <a:xfrm>
            <a:off x="3840480" y="5120640"/>
            <a:ext cx="6126480" cy="0"/>
          </a:xfrm>
          <a:prstGeom prst="line">
            <a:avLst/>
          </a:prstGeom>
          <a:noFill/>
          <a:ln w="25400">
            <a:solidFill>
              <a:schemeClr val="accent4"/>
            </a:solidFill>
            <a:prstDash val="solid"/>
          </a:ln>
        </p:spPr>
      </p:sp>
      <p:sp>
        <p:nvSpPr>
          <p:cNvPr id="40" name="FC ke UB vertikal"/>
          <p:cNvSpPr/>
          <p:nvPr/>
        </p:nvSpPr>
        <p:spPr>
          <a:xfrm flipV="1">
            <a:off x="9966960" y="3886200"/>
            <a:ext cx="0" cy="1234440"/>
          </a:xfrm>
          <a:prstGeom prst="line">
            <a:avLst/>
          </a:prstGeom>
          <a:noFill/>
          <a:ln w="25400">
            <a:solidFill>
              <a:schemeClr val="accent4"/>
            </a:solidFill>
            <a:prstDash val="solid"/>
            <a:tailEnd type="triangle"/>
          </a:ln>
        </p:spPr>
      </p:sp>
      <p:sp>
        <p:nvSpPr>
          <p:cNvPr id="41" name="Habit ke UB horizontal"/>
          <p:cNvSpPr/>
          <p:nvPr/>
        </p:nvSpPr>
        <p:spPr>
          <a:xfrm>
            <a:off x="3840480" y="5779008"/>
            <a:ext cx="6858000" cy="0"/>
          </a:xfrm>
          <a:prstGeom prst="line">
            <a:avLst/>
          </a:prstGeom>
          <a:noFill/>
          <a:ln w="25400">
            <a:solidFill>
              <a:schemeClr val="accent4"/>
            </a:solidFill>
            <a:prstDash val="solid"/>
          </a:ln>
        </p:spPr>
      </p:sp>
      <p:sp>
        <p:nvSpPr>
          <p:cNvPr id="42" name="Habit ke UB vertikal"/>
          <p:cNvSpPr/>
          <p:nvPr/>
        </p:nvSpPr>
        <p:spPr>
          <a:xfrm flipV="1">
            <a:off x="10698480" y="3886200"/>
            <a:ext cx="0" cy="1892808"/>
          </a:xfrm>
          <a:prstGeom prst="line">
            <a:avLst/>
          </a:prstGeom>
          <a:noFill/>
          <a:ln w="25400">
            <a:solidFill>
              <a:schemeClr val="accent4"/>
            </a:solidFill>
            <a:prstDash val="solid"/>
            <a:tailEnd type="triangle"/>
          </a:ln>
        </p:spPr>
      </p:sp>
      <p:sp>
        <p:nvSpPr>
          <p:cNvPr id="43" name="Text 34"/>
          <p:cNvSpPr txBox="1"/>
          <p:nvPr/>
        </p:nvSpPr>
        <p:spPr>
          <a:xfrm>
            <a:off x="5852160" y="4709160"/>
            <a:ext cx="4023360" cy="320040"/>
          </a:xfrm>
          <a:prstGeom prst="rect">
            <a:avLst/>
          </a:prstGeom>
          <a:noFill/>
          <a:ln/>
        </p:spPr>
        <p:txBody>
          <a:bodyPr wrap="square" lIns="0" tIns="0" rIns="0" bIns="0" rtlCol="0" anchor="t"/>
          <a:lstStyle/>
          <a:p>
            <a:pPr indent="0" marL="0">
              <a:buNone/>
            </a:pPr>
            <a:r>
              <a:rPr lang="en-US" sz="1400" i="1" dirty="0">
                <a:solidFill>
                  <a:schemeClr val="accent4"/>
                </a:solidFill>
              </a:rPr>
              <a:t>FC dan Habit juga langsung ke penggunaan</a:t>
            </a:r>
            <a:endParaRPr lang="en-US" sz="1400" dirty="0"/>
          </a:p>
        </p:txBody>
      </p:sp>
      <p:sp>
        <p:nvSpPr>
          <p:cNvPr id="44" name="Text 35"/>
          <p:cNvSpPr txBox="1"/>
          <p:nvPr/>
        </p:nvSpPr>
        <p:spPr>
          <a:xfrm>
            <a:off x="5394960" y="1554480"/>
            <a:ext cx="2743200" cy="274320"/>
          </a:xfrm>
          <a:prstGeom prst="rect">
            <a:avLst/>
          </a:prstGeom>
          <a:noFill/>
          <a:ln/>
        </p:spPr>
        <p:txBody>
          <a:bodyPr wrap="square" lIns="0" tIns="0" rIns="0" bIns="0" rtlCol="0" anchor="t"/>
          <a:lstStyle/>
          <a:p>
            <a:pPr indent="0" marL="0">
              <a:buNone/>
            </a:pPr>
            <a:r>
              <a:rPr lang="en-US" sz="1200" b="1" dirty="0">
                <a:solidFill>
                  <a:schemeClr val="accent6"/>
                </a:solidFill>
              </a:rPr>
              <a:t>MODERATOR</a:t>
            </a:r>
            <a:endParaRPr lang="en-US" sz="1200" dirty="0"/>
          </a:p>
        </p:txBody>
      </p:sp>
      <p:sp>
        <p:nvSpPr>
          <p:cNvPr id="45" name="Moderator Age"/>
          <p:cNvSpPr/>
          <p:nvPr/>
        </p:nvSpPr>
        <p:spPr>
          <a:xfrm>
            <a:off x="5394960" y="1874520"/>
            <a:ext cx="868680" cy="384048"/>
          </a:xfrm>
          <a:prstGeom prst="roundRect">
            <a:avLst>
              <a:gd name="adj" fmla="val 50000"/>
            </a:avLst>
          </a:prstGeom>
          <a:solidFill>
            <a:srgbClr val="E7E5F3"/>
          </a:solidFill>
          <a:ln/>
        </p:spPr>
      </p:sp>
      <p:sp>
        <p:nvSpPr>
          <p:cNvPr id="46" name="Moderator Age teks"/>
          <p:cNvSpPr txBox="1"/>
          <p:nvPr/>
        </p:nvSpPr>
        <p:spPr>
          <a:xfrm>
            <a:off x="5394960" y="1874520"/>
            <a:ext cx="868680" cy="384048"/>
          </a:xfrm>
          <a:prstGeom prst="rect">
            <a:avLst/>
          </a:prstGeom>
          <a:noFill/>
          <a:ln/>
        </p:spPr>
        <p:txBody>
          <a:bodyPr wrap="square" lIns="0" tIns="0" rIns="0" bIns="0" rtlCol="0" anchor="ctr"/>
          <a:lstStyle/>
          <a:p>
            <a:pPr algn="ctr" indent="0" marL="0">
              <a:buNone/>
            </a:pPr>
            <a:r>
              <a:rPr lang="en-US" sz="1200" b="1" dirty="0">
                <a:solidFill>
                  <a:schemeClr val="tx2"/>
                </a:solidFill>
              </a:rPr>
              <a:t>Age</a:t>
            </a:r>
            <a:endParaRPr lang="en-US" sz="1200" dirty="0"/>
          </a:p>
        </p:txBody>
      </p:sp>
      <p:sp>
        <p:nvSpPr>
          <p:cNvPr id="47" name="Moderator Gender"/>
          <p:cNvSpPr/>
          <p:nvPr/>
        </p:nvSpPr>
        <p:spPr>
          <a:xfrm>
            <a:off x="6400800" y="1874520"/>
            <a:ext cx="1143000" cy="384048"/>
          </a:xfrm>
          <a:prstGeom prst="roundRect">
            <a:avLst>
              <a:gd name="adj" fmla="val 50000"/>
            </a:avLst>
          </a:prstGeom>
          <a:solidFill>
            <a:srgbClr val="E7E5F3"/>
          </a:solidFill>
          <a:ln/>
        </p:spPr>
      </p:sp>
      <p:sp>
        <p:nvSpPr>
          <p:cNvPr id="48" name="Moderator Gender teks"/>
          <p:cNvSpPr txBox="1"/>
          <p:nvPr/>
        </p:nvSpPr>
        <p:spPr>
          <a:xfrm>
            <a:off x="6400800" y="18745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Gender</a:t>
            </a:r>
            <a:endParaRPr lang="en-US" sz="1200" dirty="0"/>
          </a:p>
        </p:txBody>
      </p:sp>
      <p:sp>
        <p:nvSpPr>
          <p:cNvPr id="49" name="Moderator Experience"/>
          <p:cNvSpPr/>
          <p:nvPr/>
        </p:nvSpPr>
        <p:spPr>
          <a:xfrm>
            <a:off x="7680960" y="1874520"/>
            <a:ext cx="1417320" cy="384048"/>
          </a:xfrm>
          <a:prstGeom prst="roundRect">
            <a:avLst>
              <a:gd name="adj" fmla="val 50000"/>
            </a:avLst>
          </a:prstGeom>
          <a:solidFill>
            <a:srgbClr val="E7E5F3"/>
          </a:solidFill>
          <a:ln/>
        </p:spPr>
      </p:sp>
      <p:sp>
        <p:nvSpPr>
          <p:cNvPr id="50" name="Moderator Experience teks"/>
          <p:cNvSpPr txBox="1"/>
          <p:nvPr/>
        </p:nvSpPr>
        <p:spPr>
          <a:xfrm>
            <a:off x="7680960" y="1874520"/>
            <a:ext cx="1417320" cy="384048"/>
          </a:xfrm>
          <a:prstGeom prst="rect">
            <a:avLst/>
          </a:prstGeom>
          <a:noFill/>
          <a:ln/>
        </p:spPr>
        <p:txBody>
          <a:bodyPr wrap="square" lIns="0" tIns="0" rIns="0" bIns="0" rtlCol="0" anchor="ctr"/>
          <a:lstStyle/>
          <a:p>
            <a:pPr algn="ctr" indent="0" marL="0">
              <a:buNone/>
            </a:pPr>
            <a:r>
              <a:rPr lang="en-US" sz="1200" b="1" dirty="0">
                <a:solidFill>
                  <a:schemeClr val="tx2"/>
                </a:solidFill>
              </a:rPr>
              <a:t>Experience</a:t>
            </a:r>
            <a:endParaRPr lang="en-US" sz="1200" dirty="0"/>
          </a:p>
        </p:txBody>
      </p:sp>
      <p:sp>
        <p:nvSpPr>
          <p:cNvPr id="51" name="Moderator dihapus"/>
          <p:cNvSpPr/>
          <p:nvPr/>
        </p:nvSpPr>
        <p:spPr>
          <a:xfrm>
            <a:off x="9235440" y="1874520"/>
            <a:ext cx="2240280" cy="384048"/>
          </a:xfrm>
          <a:prstGeom prst="roundRect">
            <a:avLst>
              <a:gd name="adj" fmla="val 50000"/>
            </a:avLst>
          </a:prstGeom>
          <a:solidFill>
            <a:schemeClr val="bg1"/>
          </a:solidFill>
          <a:ln/>
        </p:spPr>
      </p:sp>
      <p:sp>
        <p:nvSpPr>
          <p:cNvPr id="52" name="Moderator dihapus teks"/>
          <p:cNvSpPr txBox="1"/>
          <p:nvPr/>
        </p:nvSpPr>
        <p:spPr>
          <a:xfrm>
            <a:off x="9235440" y="1874520"/>
            <a:ext cx="2240280" cy="384048"/>
          </a:xfrm>
          <a:prstGeom prst="rect">
            <a:avLst/>
          </a:prstGeom>
          <a:noFill/>
          <a:ln/>
        </p:spPr>
        <p:txBody>
          <a:bodyPr wrap="square" lIns="0" tIns="0" rIns="0" bIns="0" rtlCol="0" anchor="ctr"/>
          <a:lstStyle/>
          <a:p>
            <a:pPr algn="ctr" indent="0" marL="0">
              <a:buNone/>
            </a:pPr>
            <a:r>
              <a:rPr lang="en-US" sz="1200" b="1" dirty="0">
                <a:solidFill>
                  <a:schemeClr val="accent6"/>
                </a:solidFill>
              </a:rPr>
              <a:t>Voluntariness dihapus</a:t>
            </a:r>
            <a:endParaRPr lang="en-US" sz="1200" dirty="0"/>
          </a:p>
        </p:txBody>
      </p:sp>
      <p:sp>
        <p:nvSpPr>
          <p:cNvPr id="53" name="Coret voluntariness"/>
          <p:cNvSpPr/>
          <p:nvPr/>
        </p:nvSpPr>
        <p:spPr>
          <a:xfrm>
            <a:off x="9555480" y="2066544"/>
            <a:ext cx="1600200" cy="0"/>
          </a:xfrm>
          <a:prstGeom prst="line">
            <a:avLst/>
          </a:prstGeom>
          <a:noFill/>
          <a:ln w="12700">
            <a:solidFill>
              <a:schemeClr val="accent6"/>
            </a:solidFill>
            <a:prstDash val="solid"/>
          </a:ln>
        </p:spPr>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PETA MODERATOR UTAUT2</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Usia, gender, pengalaman tetap berperan</a:t>
            </a:r>
            <a:endParaRPr lang="en-US" sz="3400" dirty="0"/>
          </a:p>
        </p:txBody>
      </p:sp>
      <p:sp>
        <p:nvSpPr>
          <p:cNvPr id="4" name="Moderator Age lingkaran"/>
          <p:cNvSpPr/>
          <p:nvPr/>
        </p:nvSpPr>
        <p:spPr>
          <a:xfrm>
            <a:off x="2788920" y="1463040"/>
            <a:ext cx="502920" cy="502920"/>
          </a:xfrm>
          <a:prstGeom prst="ellipse">
            <a:avLst/>
          </a:prstGeom>
          <a:solidFill>
            <a:schemeClr val="tx2"/>
          </a:solidFill>
          <a:ln/>
        </p:spPr>
      </p:sp>
      <p:pic>
        <p:nvPicPr>
          <p:cNvPr id="5" name="Moderator Age ikon" descr="preencoded.png">    </p:cNvPr>
          <p:cNvPicPr>
            <a:picLocks noChangeAspect="1"/>
          </p:cNvPicPr>
          <p:nvPr/>
        </p:nvPicPr>
        <p:blipFill>
          <a:blip r:embed="rId1"/>
          <a:stretch>
            <a:fillRect/>
          </a:stretch>
        </p:blipFill>
        <p:spPr>
          <a:xfrm>
            <a:off x="2909621" y="1583741"/>
            <a:ext cx="261518" cy="261518"/>
          </a:xfrm>
          <a:prstGeom prst="rect">
            <a:avLst/>
          </a:prstGeom>
        </p:spPr>
      </p:pic>
      <p:sp>
        <p:nvSpPr>
          <p:cNvPr id="6" name="Text 3"/>
          <p:cNvSpPr txBox="1"/>
          <p:nvPr/>
        </p:nvSpPr>
        <p:spPr>
          <a:xfrm>
            <a:off x="2468880" y="2011680"/>
            <a:ext cx="1143000" cy="274320"/>
          </a:xfrm>
          <a:prstGeom prst="rect">
            <a:avLst/>
          </a:prstGeom>
          <a:noFill/>
          <a:ln/>
        </p:spPr>
        <p:txBody>
          <a:bodyPr wrap="square" lIns="0" tIns="0" rIns="0" bIns="0" rtlCol="0" anchor="t"/>
          <a:lstStyle/>
          <a:p>
            <a:pPr algn="ctr" indent="0" marL="0">
              <a:buNone/>
            </a:pPr>
            <a:r>
              <a:rPr lang="en-US" sz="1300" b="1" dirty="0">
                <a:solidFill>
                  <a:schemeClr val="tx2"/>
                </a:solidFill>
              </a:rPr>
              <a:t>Age</a:t>
            </a:r>
            <a:endParaRPr lang="en-US" sz="1300" dirty="0"/>
          </a:p>
        </p:txBody>
      </p:sp>
      <p:sp>
        <p:nvSpPr>
          <p:cNvPr id="7" name="Moderator Gender lingkaran"/>
          <p:cNvSpPr/>
          <p:nvPr/>
        </p:nvSpPr>
        <p:spPr>
          <a:xfrm>
            <a:off x="3931920" y="1463040"/>
            <a:ext cx="502920" cy="502920"/>
          </a:xfrm>
          <a:prstGeom prst="ellipse">
            <a:avLst/>
          </a:prstGeom>
          <a:solidFill>
            <a:schemeClr val="tx2"/>
          </a:solidFill>
          <a:ln/>
        </p:spPr>
      </p:sp>
      <p:pic>
        <p:nvPicPr>
          <p:cNvPr id="8" name="Moderator Gender ikon" descr="preencoded.png">    </p:cNvPr>
          <p:cNvPicPr>
            <a:picLocks noChangeAspect="1"/>
          </p:cNvPicPr>
          <p:nvPr/>
        </p:nvPicPr>
        <p:blipFill>
          <a:blip r:embed="rId2"/>
          <a:stretch>
            <a:fillRect/>
          </a:stretch>
        </p:blipFill>
        <p:spPr>
          <a:xfrm>
            <a:off x="4052621" y="1583741"/>
            <a:ext cx="261518" cy="261518"/>
          </a:xfrm>
          <a:prstGeom prst="rect">
            <a:avLst/>
          </a:prstGeom>
        </p:spPr>
      </p:pic>
      <p:sp>
        <p:nvSpPr>
          <p:cNvPr id="9" name="Text 5"/>
          <p:cNvSpPr txBox="1"/>
          <p:nvPr/>
        </p:nvSpPr>
        <p:spPr>
          <a:xfrm>
            <a:off x="3611880" y="2011680"/>
            <a:ext cx="1143000" cy="274320"/>
          </a:xfrm>
          <a:prstGeom prst="rect">
            <a:avLst/>
          </a:prstGeom>
          <a:noFill/>
          <a:ln/>
        </p:spPr>
        <p:txBody>
          <a:bodyPr wrap="square" lIns="0" tIns="0" rIns="0" bIns="0" rtlCol="0" anchor="t"/>
          <a:lstStyle/>
          <a:p>
            <a:pPr algn="ctr" indent="0" marL="0">
              <a:buNone/>
            </a:pPr>
            <a:r>
              <a:rPr lang="en-US" sz="1300" b="1" dirty="0">
                <a:solidFill>
                  <a:schemeClr val="tx2"/>
                </a:solidFill>
              </a:rPr>
              <a:t>Gender</a:t>
            </a:r>
            <a:endParaRPr lang="en-US" sz="1300" dirty="0"/>
          </a:p>
        </p:txBody>
      </p:sp>
      <p:sp>
        <p:nvSpPr>
          <p:cNvPr id="10" name="Moderator Experience lingkaran"/>
          <p:cNvSpPr/>
          <p:nvPr/>
        </p:nvSpPr>
        <p:spPr>
          <a:xfrm>
            <a:off x="5074920" y="1463040"/>
            <a:ext cx="502920" cy="502920"/>
          </a:xfrm>
          <a:prstGeom prst="ellipse">
            <a:avLst/>
          </a:prstGeom>
          <a:solidFill>
            <a:schemeClr val="tx2"/>
          </a:solidFill>
          <a:ln/>
        </p:spPr>
      </p:sp>
      <p:pic>
        <p:nvPicPr>
          <p:cNvPr id="11" name="Moderator Experience ikon" descr="preencoded.png">    </p:cNvPr>
          <p:cNvPicPr>
            <a:picLocks noChangeAspect="1"/>
          </p:cNvPicPr>
          <p:nvPr/>
        </p:nvPicPr>
        <p:blipFill>
          <a:blip r:embed="rId3"/>
          <a:stretch>
            <a:fillRect/>
          </a:stretch>
        </p:blipFill>
        <p:spPr>
          <a:xfrm>
            <a:off x="5195621" y="1583741"/>
            <a:ext cx="261518" cy="261518"/>
          </a:xfrm>
          <a:prstGeom prst="rect">
            <a:avLst/>
          </a:prstGeom>
        </p:spPr>
      </p:pic>
      <p:sp>
        <p:nvSpPr>
          <p:cNvPr id="12" name="Text 7"/>
          <p:cNvSpPr txBox="1"/>
          <p:nvPr/>
        </p:nvSpPr>
        <p:spPr>
          <a:xfrm>
            <a:off x="4754880" y="2011680"/>
            <a:ext cx="1143000" cy="274320"/>
          </a:xfrm>
          <a:prstGeom prst="rect">
            <a:avLst/>
          </a:prstGeom>
          <a:noFill/>
          <a:ln/>
        </p:spPr>
        <p:txBody>
          <a:bodyPr wrap="square" lIns="0" tIns="0" rIns="0" bIns="0" rtlCol="0" anchor="t"/>
          <a:lstStyle/>
          <a:p>
            <a:pPr algn="ctr" indent="0" marL="0">
              <a:buNone/>
            </a:pPr>
            <a:r>
              <a:rPr lang="en-US" sz="1300" b="1" dirty="0">
                <a:solidFill>
                  <a:schemeClr val="tx2"/>
                </a:solidFill>
              </a:rPr>
              <a:t>Experience</a:t>
            </a:r>
            <a:endParaRPr lang="en-US" sz="1300" dirty="0"/>
          </a:p>
        </p:txBody>
      </p:sp>
      <p:sp>
        <p:nvSpPr>
          <p:cNvPr id="13" name="Text 8"/>
          <p:cNvSpPr txBox="1"/>
          <p:nvPr/>
        </p:nvSpPr>
        <p:spPr>
          <a:xfrm>
            <a:off x="6126480" y="2011680"/>
            <a:ext cx="3200400" cy="274320"/>
          </a:xfrm>
          <a:prstGeom prst="rect">
            <a:avLst/>
          </a:prstGeom>
          <a:noFill/>
          <a:ln/>
        </p:spPr>
        <p:txBody>
          <a:bodyPr wrap="square" lIns="0" tIns="0" rIns="0" bIns="0" rtlCol="0" anchor="t"/>
          <a:lstStyle/>
          <a:p>
            <a:pPr indent="0" marL="0">
              <a:buNone/>
            </a:pPr>
            <a:r>
              <a:rPr lang="en-US" sz="1300" b="1" dirty="0">
                <a:solidFill>
                  <a:schemeClr val="tx2"/>
                </a:solidFill>
              </a:rPr>
              <a:t>Paling kuat pada…</a:t>
            </a:r>
            <a:endParaRPr lang="en-US" sz="1300" dirty="0"/>
          </a:p>
        </p:txBody>
      </p:sp>
      <p:sp>
        <p:nvSpPr>
          <p:cNvPr id="14" name="Baris FC → BI"/>
          <p:cNvSpPr/>
          <p:nvPr/>
        </p:nvSpPr>
        <p:spPr>
          <a:xfrm>
            <a:off x="548640" y="2423160"/>
            <a:ext cx="8778240" cy="566928"/>
          </a:xfrm>
          <a:prstGeom prst="roundRect">
            <a:avLst>
              <a:gd name="adj" fmla="val 19355"/>
            </a:avLst>
          </a:prstGeom>
          <a:solidFill>
            <a:schemeClr val="bg2"/>
          </a:solidFill>
          <a:ln/>
        </p:spPr>
      </p:sp>
      <p:sp>
        <p:nvSpPr>
          <p:cNvPr id="15" name="Text 10"/>
          <p:cNvSpPr txBox="1"/>
          <p:nvPr/>
        </p:nvSpPr>
        <p:spPr>
          <a:xfrm>
            <a:off x="731520" y="2423160"/>
            <a:ext cx="1737360" cy="566928"/>
          </a:xfrm>
          <a:prstGeom prst="rect">
            <a:avLst/>
          </a:prstGeom>
          <a:noFill/>
          <a:ln/>
        </p:spPr>
        <p:txBody>
          <a:bodyPr wrap="square" lIns="0" tIns="0" rIns="0" bIns="0" rtlCol="0" anchor="ctr"/>
          <a:lstStyle/>
          <a:p>
            <a:pPr indent="0" marL="0">
              <a:buNone/>
            </a:pPr>
            <a:r>
              <a:rPr lang="en-US" sz="1800" b="1" dirty="0">
                <a:solidFill>
                  <a:schemeClr val="tx2"/>
                </a:solidFill>
              </a:rPr>
              <a:t>FC → BI</a:t>
            </a:r>
            <a:endParaRPr lang="en-US" sz="1800" dirty="0"/>
          </a:p>
        </p:txBody>
      </p:sp>
      <p:sp>
        <p:nvSpPr>
          <p:cNvPr id="16" name="Titik FC → BI 0"/>
          <p:cNvSpPr/>
          <p:nvPr/>
        </p:nvSpPr>
        <p:spPr>
          <a:xfrm>
            <a:off x="2903220" y="2569464"/>
            <a:ext cx="274320" cy="274320"/>
          </a:xfrm>
          <a:prstGeom prst="ellipse">
            <a:avLst/>
          </a:prstGeom>
          <a:solidFill>
            <a:schemeClr val="accent2"/>
          </a:solidFill>
          <a:ln/>
        </p:spPr>
      </p:sp>
      <p:sp>
        <p:nvSpPr>
          <p:cNvPr id="17" name="Titik FC → BI 1"/>
          <p:cNvSpPr/>
          <p:nvPr/>
        </p:nvSpPr>
        <p:spPr>
          <a:xfrm>
            <a:off x="4046220" y="2569464"/>
            <a:ext cx="274320" cy="274320"/>
          </a:xfrm>
          <a:prstGeom prst="ellipse">
            <a:avLst/>
          </a:prstGeom>
          <a:solidFill>
            <a:schemeClr val="accent2"/>
          </a:solidFill>
          <a:ln/>
        </p:spPr>
      </p:sp>
      <p:sp>
        <p:nvSpPr>
          <p:cNvPr id="18" name="Titik FC → BI 2"/>
          <p:cNvSpPr/>
          <p:nvPr/>
        </p:nvSpPr>
        <p:spPr>
          <a:xfrm>
            <a:off x="5189220" y="2569464"/>
            <a:ext cx="274320" cy="274320"/>
          </a:xfrm>
          <a:prstGeom prst="ellipse">
            <a:avLst/>
          </a:prstGeom>
          <a:solidFill>
            <a:schemeClr val="accent2"/>
          </a:solidFill>
          <a:ln/>
        </p:spPr>
      </p:sp>
      <p:sp>
        <p:nvSpPr>
          <p:cNvPr id="19" name="Text 14"/>
          <p:cNvSpPr txBox="1"/>
          <p:nvPr/>
        </p:nvSpPr>
        <p:spPr>
          <a:xfrm>
            <a:off x="6126480" y="2423160"/>
            <a:ext cx="3108960" cy="566928"/>
          </a:xfrm>
          <a:prstGeom prst="rect">
            <a:avLst/>
          </a:prstGeom>
          <a:noFill/>
          <a:ln/>
        </p:spPr>
        <p:txBody>
          <a:bodyPr wrap="square" lIns="0" tIns="0" rIns="0" bIns="0" rtlCol="0" anchor="ctr"/>
          <a:lstStyle/>
          <a:p>
            <a:pPr indent="0" marL="0">
              <a:buNone/>
            </a:pPr>
            <a:r>
              <a:rPr lang="en-US" sz="1600" dirty="0">
                <a:solidFill>
                  <a:schemeClr val="tx1"/>
                </a:solidFill>
              </a:rPr>
              <a:t>Wanita, usia tua, pengguna baru</a:t>
            </a:r>
            <a:endParaRPr lang="en-US" sz="1600" dirty="0"/>
          </a:p>
        </p:txBody>
      </p:sp>
      <p:sp>
        <p:nvSpPr>
          <p:cNvPr id="20" name="Baris HM → BI"/>
          <p:cNvSpPr/>
          <p:nvPr/>
        </p:nvSpPr>
        <p:spPr>
          <a:xfrm>
            <a:off x="548640" y="3081528"/>
            <a:ext cx="8778240" cy="566928"/>
          </a:xfrm>
          <a:prstGeom prst="roundRect">
            <a:avLst>
              <a:gd name="adj" fmla="val 19355"/>
            </a:avLst>
          </a:prstGeom>
          <a:solidFill>
            <a:schemeClr val="bg1"/>
          </a:solidFill>
          <a:ln/>
        </p:spPr>
      </p:sp>
      <p:sp>
        <p:nvSpPr>
          <p:cNvPr id="21" name="Text 16"/>
          <p:cNvSpPr txBox="1"/>
          <p:nvPr/>
        </p:nvSpPr>
        <p:spPr>
          <a:xfrm>
            <a:off x="731520" y="3081528"/>
            <a:ext cx="1737360" cy="566928"/>
          </a:xfrm>
          <a:prstGeom prst="rect">
            <a:avLst/>
          </a:prstGeom>
          <a:noFill/>
          <a:ln/>
        </p:spPr>
        <p:txBody>
          <a:bodyPr wrap="square" lIns="0" tIns="0" rIns="0" bIns="0" rtlCol="0" anchor="ctr"/>
          <a:lstStyle/>
          <a:p>
            <a:pPr indent="0" marL="0">
              <a:buNone/>
            </a:pPr>
            <a:r>
              <a:rPr lang="en-US" sz="1800" b="1" dirty="0">
                <a:solidFill>
                  <a:schemeClr val="tx2"/>
                </a:solidFill>
              </a:rPr>
              <a:t>HM → BI</a:t>
            </a:r>
            <a:endParaRPr lang="en-US" sz="1800" dirty="0"/>
          </a:p>
        </p:txBody>
      </p:sp>
      <p:sp>
        <p:nvSpPr>
          <p:cNvPr id="22" name="Titik HM → BI 0"/>
          <p:cNvSpPr/>
          <p:nvPr/>
        </p:nvSpPr>
        <p:spPr>
          <a:xfrm>
            <a:off x="2903220" y="3227832"/>
            <a:ext cx="274320" cy="274320"/>
          </a:xfrm>
          <a:prstGeom prst="ellipse">
            <a:avLst/>
          </a:prstGeom>
          <a:solidFill>
            <a:schemeClr val="accent2"/>
          </a:solidFill>
          <a:ln/>
        </p:spPr>
      </p:sp>
      <p:sp>
        <p:nvSpPr>
          <p:cNvPr id="23" name="Titik HM → BI 1"/>
          <p:cNvSpPr/>
          <p:nvPr/>
        </p:nvSpPr>
        <p:spPr>
          <a:xfrm>
            <a:off x="4046220" y="3227832"/>
            <a:ext cx="274320" cy="274320"/>
          </a:xfrm>
          <a:prstGeom prst="ellipse">
            <a:avLst/>
          </a:prstGeom>
          <a:solidFill>
            <a:schemeClr val="accent2"/>
          </a:solidFill>
          <a:ln/>
        </p:spPr>
      </p:sp>
      <p:sp>
        <p:nvSpPr>
          <p:cNvPr id="24" name="Titik HM → BI 2"/>
          <p:cNvSpPr/>
          <p:nvPr/>
        </p:nvSpPr>
        <p:spPr>
          <a:xfrm>
            <a:off x="5189220" y="3227832"/>
            <a:ext cx="274320" cy="274320"/>
          </a:xfrm>
          <a:prstGeom prst="ellipse">
            <a:avLst/>
          </a:prstGeom>
          <a:solidFill>
            <a:schemeClr val="accent2"/>
          </a:solidFill>
          <a:ln/>
        </p:spPr>
      </p:sp>
      <p:sp>
        <p:nvSpPr>
          <p:cNvPr id="25" name="Text 20"/>
          <p:cNvSpPr txBox="1"/>
          <p:nvPr/>
        </p:nvSpPr>
        <p:spPr>
          <a:xfrm>
            <a:off x="6126480" y="3081528"/>
            <a:ext cx="3108960" cy="566928"/>
          </a:xfrm>
          <a:prstGeom prst="rect">
            <a:avLst/>
          </a:prstGeom>
          <a:noFill/>
          <a:ln/>
        </p:spPr>
        <p:txBody>
          <a:bodyPr wrap="square" lIns="0" tIns="0" rIns="0" bIns="0" rtlCol="0" anchor="ctr"/>
          <a:lstStyle/>
          <a:p>
            <a:pPr indent="0" marL="0">
              <a:buNone/>
            </a:pPr>
            <a:r>
              <a:rPr lang="en-US" sz="1600" dirty="0">
                <a:solidFill>
                  <a:schemeClr val="tx1"/>
                </a:solidFill>
              </a:rPr>
              <a:t>Pria, usia muda, pengguna baru</a:t>
            </a:r>
            <a:endParaRPr lang="en-US" sz="1600" dirty="0"/>
          </a:p>
        </p:txBody>
      </p:sp>
      <p:sp>
        <p:nvSpPr>
          <p:cNvPr id="26" name="Baris PV → BI"/>
          <p:cNvSpPr/>
          <p:nvPr/>
        </p:nvSpPr>
        <p:spPr>
          <a:xfrm>
            <a:off x="548640" y="3739896"/>
            <a:ext cx="8778240" cy="566928"/>
          </a:xfrm>
          <a:prstGeom prst="roundRect">
            <a:avLst>
              <a:gd name="adj" fmla="val 19355"/>
            </a:avLst>
          </a:prstGeom>
          <a:solidFill>
            <a:schemeClr val="bg2"/>
          </a:solidFill>
          <a:ln/>
        </p:spPr>
      </p:sp>
      <p:sp>
        <p:nvSpPr>
          <p:cNvPr id="27" name="Text 22"/>
          <p:cNvSpPr txBox="1"/>
          <p:nvPr/>
        </p:nvSpPr>
        <p:spPr>
          <a:xfrm>
            <a:off x="731520" y="3739896"/>
            <a:ext cx="1737360" cy="566928"/>
          </a:xfrm>
          <a:prstGeom prst="rect">
            <a:avLst/>
          </a:prstGeom>
          <a:noFill/>
          <a:ln/>
        </p:spPr>
        <p:txBody>
          <a:bodyPr wrap="square" lIns="0" tIns="0" rIns="0" bIns="0" rtlCol="0" anchor="ctr"/>
          <a:lstStyle/>
          <a:p>
            <a:pPr indent="0" marL="0">
              <a:buNone/>
            </a:pPr>
            <a:r>
              <a:rPr lang="en-US" sz="1800" b="1" dirty="0">
                <a:solidFill>
                  <a:schemeClr val="tx2"/>
                </a:solidFill>
              </a:rPr>
              <a:t>PV → BI</a:t>
            </a:r>
            <a:endParaRPr lang="en-US" sz="1800" dirty="0"/>
          </a:p>
        </p:txBody>
      </p:sp>
      <p:sp>
        <p:nvSpPr>
          <p:cNvPr id="28" name="Titik PV → BI 0"/>
          <p:cNvSpPr/>
          <p:nvPr/>
        </p:nvSpPr>
        <p:spPr>
          <a:xfrm>
            <a:off x="2903220" y="3886200"/>
            <a:ext cx="274320" cy="274320"/>
          </a:xfrm>
          <a:prstGeom prst="ellipse">
            <a:avLst/>
          </a:prstGeom>
          <a:solidFill>
            <a:schemeClr val="accent2"/>
          </a:solidFill>
          <a:ln/>
        </p:spPr>
      </p:sp>
      <p:sp>
        <p:nvSpPr>
          <p:cNvPr id="29" name="Titik PV → BI 1"/>
          <p:cNvSpPr/>
          <p:nvPr/>
        </p:nvSpPr>
        <p:spPr>
          <a:xfrm>
            <a:off x="4046220" y="3886200"/>
            <a:ext cx="274320" cy="274320"/>
          </a:xfrm>
          <a:prstGeom prst="ellipse">
            <a:avLst/>
          </a:prstGeom>
          <a:solidFill>
            <a:schemeClr val="accent2"/>
          </a:solidFill>
          <a:ln/>
        </p:spPr>
      </p:sp>
      <p:sp>
        <p:nvSpPr>
          <p:cNvPr id="30" name="Kosong PV → BI 2"/>
          <p:cNvSpPr/>
          <p:nvPr/>
        </p:nvSpPr>
        <p:spPr>
          <a:xfrm>
            <a:off x="5216652" y="4023360"/>
            <a:ext cx="219456" cy="0"/>
          </a:xfrm>
          <a:prstGeom prst="line">
            <a:avLst/>
          </a:prstGeom>
          <a:noFill/>
          <a:ln w="19050">
            <a:solidFill>
              <a:schemeClr val="accent6"/>
            </a:solidFill>
            <a:prstDash val="solid"/>
          </a:ln>
        </p:spPr>
      </p:sp>
      <p:sp>
        <p:nvSpPr>
          <p:cNvPr id="31" name="Text 26"/>
          <p:cNvSpPr txBox="1"/>
          <p:nvPr/>
        </p:nvSpPr>
        <p:spPr>
          <a:xfrm>
            <a:off x="6126480" y="3739896"/>
            <a:ext cx="3108960" cy="566928"/>
          </a:xfrm>
          <a:prstGeom prst="rect">
            <a:avLst/>
          </a:prstGeom>
          <a:noFill/>
          <a:ln/>
        </p:spPr>
        <p:txBody>
          <a:bodyPr wrap="square" lIns="0" tIns="0" rIns="0" bIns="0" rtlCol="0" anchor="ctr"/>
          <a:lstStyle/>
          <a:p>
            <a:pPr indent="0" marL="0">
              <a:buNone/>
            </a:pPr>
            <a:r>
              <a:rPr lang="en-US" sz="1600" dirty="0">
                <a:solidFill>
                  <a:schemeClr val="tx1"/>
                </a:solidFill>
              </a:rPr>
              <a:t>Wanita, usia tua</a:t>
            </a:r>
            <a:endParaRPr lang="en-US" sz="1600" dirty="0"/>
          </a:p>
        </p:txBody>
      </p:sp>
      <p:sp>
        <p:nvSpPr>
          <p:cNvPr id="32" name="Baris Habit → BI/UB"/>
          <p:cNvSpPr/>
          <p:nvPr/>
        </p:nvSpPr>
        <p:spPr>
          <a:xfrm>
            <a:off x="548640" y="4398264"/>
            <a:ext cx="8778240" cy="566928"/>
          </a:xfrm>
          <a:prstGeom prst="roundRect">
            <a:avLst>
              <a:gd name="adj" fmla="val 19355"/>
            </a:avLst>
          </a:prstGeom>
          <a:solidFill>
            <a:schemeClr val="bg1"/>
          </a:solidFill>
          <a:ln/>
        </p:spPr>
      </p:sp>
      <p:sp>
        <p:nvSpPr>
          <p:cNvPr id="33" name="Text 28"/>
          <p:cNvSpPr txBox="1"/>
          <p:nvPr/>
        </p:nvSpPr>
        <p:spPr>
          <a:xfrm>
            <a:off x="731520" y="4398264"/>
            <a:ext cx="1737360" cy="566928"/>
          </a:xfrm>
          <a:prstGeom prst="rect">
            <a:avLst/>
          </a:prstGeom>
          <a:noFill/>
          <a:ln/>
        </p:spPr>
        <p:txBody>
          <a:bodyPr wrap="square" lIns="0" tIns="0" rIns="0" bIns="0" rtlCol="0" anchor="ctr"/>
          <a:lstStyle/>
          <a:p>
            <a:pPr indent="0" marL="0">
              <a:buNone/>
            </a:pPr>
            <a:r>
              <a:rPr lang="en-US" sz="1800" b="1" dirty="0">
                <a:solidFill>
                  <a:schemeClr val="tx2"/>
                </a:solidFill>
              </a:rPr>
              <a:t>Habit → BI/UB</a:t>
            </a:r>
            <a:endParaRPr lang="en-US" sz="1800" dirty="0"/>
          </a:p>
        </p:txBody>
      </p:sp>
      <p:sp>
        <p:nvSpPr>
          <p:cNvPr id="34" name="Titik Habit → BI/UB 0"/>
          <p:cNvSpPr/>
          <p:nvPr/>
        </p:nvSpPr>
        <p:spPr>
          <a:xfrm>
            <a:off x="2903220" y="4544568"/>
            <a:ext cx="274320" cy="274320"/>
          </a:xfrm>
          <a:prstGeom prst="ellipse">
            <a:avLst/>
          </a:prstGeom>
          <a:solidFill>
            <a:schemeClr val="accent2"/>
          </a:solidFill>
          <a:ln/>
        </p:spPr>
      </p:sp>
      <p:sp>
        <p:nvSpPr>
          <p:cNvPr id="35" name="Titik Habit → BI/UB 1"/>
          <p:cNvSpPr/>
          <p:nvPr/>
        </p:nvSpPr>
        <p:spPr>
          <a:xfrm>
            <a:off x="4046220" y="4544568"/>
            <a:ext cx="274320" cy="274320"/>
          </a:xfrm>
          <a:prstGeom prst="ellipse">
            <a:avLst/>
          </a:prstGeom>
          <a:solidFill>
            <a:schemeClr val="accent2"/>
          </a:solidFill>
          <a:ln/>
        </p:spPr>
      </p:sp>
      <p:sp>
        <p:nvSpPr>
          <p:cNvPr id="36" name="Titik Habit → BI/UB 2"/>
          <p:cNvSpPr/>
          <p:nvPr/>
        </p:nvSpPr>
        <p:spPr>
          <a:xfrm>
            <a:off x="5189220" y="4544568"/>
            <a:ext cx="274320" cy="274320"/>
          </a:xfrm>
          <a:prstGeom prst="ellipse">
            <a:avLst/>
          </a:prstGeom>
          <a:solidFill>
            <a:schemeClr val="accent2"/>
          </a:solidFill>
          <a:ln/>
        </p:spPr>
      </p:sp>
      <p:sp>
        <p:nvSpPr>
          <p:cNvPr id="37" name="Text 32"/>
          <p:cNvSpPr txBox="1"/>
          <p:nvPr/>
        </p:nvSpPr>
        <p:spPr>
          <a:xfrm>
            <a:off x="6126480" y="4398264"/>
            <a:ext cx="3108960" cy="566928"/>
          </a:xfrm>
          <a:prstGeom prst="rect">
            <a:avLst/>
          </a:prstGeom>
          <a:noFill/>
          <a:ln/>
        </p:spPr>
        <p:txBody>
          <a:bodyPr wrap="square" lIns="0" tIns="0" rIns="0" bIns="0" rtlCol="0" anchor="ctr"/>
          <a:lstStyle/>
          <a:p>
            <a:pPr indent="0" marL="0">
              <a:buNone/>
            </a:pPr>
            <a:r>
              <a:rPr lang="en-US" sz="1600" dirty="0">
                <a:solidFill>
                  <a:schemeClr val="tx1"/>
                </a:solidFill>
              </a:rPr>
              <a:t>Pria, usia tua, berpengalaman</a:t>
            </a:r>
            <a:endParaRPr lang="en-US" sz="1600" dirty="0"/>
          </a:p>
        </p:txBody>
      </p:sp>
      <p:sp>
        <p:nvSpPr>
          <p:cNvPr id="38" name="Baris BI → UB"/>
          <p:cNvSpPr/>
          <p:nvPr/>
        </p:nvSpPr>
        <p:spPr>
          <a:xfrm>
            <a:off x="548640" y="5056632"/>
            <a:ext cx="8778240" cy="566928"/>
          </a:xfrm>
          <a:prstGeom prst="roundRect">
            <a:avLst>
              <a:gd name="adj" fmla="val 19355"/>
            </a:avLst>
          </a:prstGeom>
          <a:solidFill>
            <a:schemeClr val="bg2"/>
          </a:solidFill>
          <a:ln/>
        </p:spPr>
      </p:sp>
      <p:sp>
        <p:nvSpPr>
          <p:cNvPr id="39" name="Text 34"/>
          <p:cNvSpPr txBox="1"/>
          <p:nvPr/>
        </p:nvSpPr>
        <p:spPr>
          <a:xfrm>
            <a:off x="731520" y="5056632"/>
            <a:ext cx="1737360" cy="566928"/>
          </a:xfrm>
          <a:prstGeom prst="rect">
            <a:avLst/>
          </a:prstGeom>
          <a:noFill/>
          <a:ln/>
        </p:spPr>
        <p:txBody>
          <a:bodyPr wrap="square" lIns="0" tIns="0" rIns="0" bIns="0" rtlCol="0" anchor="ctr"/>
          <a:lstStyle/>
          <a:p>
            <a:pPr indent="0" marL="0">
              <a:buNone/>
            </a:pPr>
            <a:r>
              <a:rPr lang="en-US" sz="1800" b="1" dirty="0">
                <a:solidFill>
                  <a:schemeClr val="tx2"/>
                </a:solidFill>
              </a:rPr>
              <a:t>BI → UB</a:t>
            </a:r>
            <a:endParaRPr lang="en-US" sz="1800" dirty="0"/>
          </a:p>
        </p:txBody>
      </p:sp>
      <p:sp>
        <p:nvSpPr>
          <p:cNvPr id="40" name="Kosong BI → UB 0"/>
          <p:cNvSpPr/>
          <p:nvPr/>
        </p:nvSpPr>
        <p:spPr>
          <a:xfrm>
            <a:off x="2930652" y="5340096"/>
            <a:ext cx="219456" cy="0"/>
          </a:xfrm>
          <a:prstGeom prst="line">
            <a:avLst/>
          </a:prstGeom>
          <a:noFill/>
          <a:ln w="19050">
            <a:solidFill>
              <a:schemeClr val="accent6"/>
            </a:solidFill>
            <a:prstDash val="solid"/>
          </a:ln>
        </p:spPr>
      </p:sp>
      <p:sp>
        <p:nvSpPr>
          <p:cNvPr id="41" name="Kosong BI → UB 1"/>
          <p:cNvSpPr/>
          <p:nvPr/>
        </p:nvSpPr>
        <p:spPr>
          <a:xfrm>
            <a:off x="4073652" y="5340096"/>
            <a:ext cx="219456" cy="0"/>
          </a:xfrm>
          <a:prstGeom prst="line">
            <a:avLst/>
          </a:prstGeom>
          <a:noFill/>
          <a:ln w="19050">
            <a:solidFill>
              <a:schemeClr val="accent6"/>
            </a:solidFill>
            <a:prstDash val="solid"/>
          </a:ln>
        </p:spPr>
      </p:sp>
      <p:sp>
        <p:nvSpPr>
          <p:cNvPr id="42" name="Titik BI → UB 2"/>
          <p:cNvSpPr/>
          <p:nvPr/>
        </p:nvSpPr>
        <p:spPr>
          <a:xfrm>
            <a:off x="5189220" y="5202936"/>
            <a:ext cx="274320" cy="274320"/>
          </a:xfrm>
          <a:prstGeom prst="ellipse">
            <a:avLst/>
          </a:prstGeom>
          <a:solidFill>
            <a:schemeClr val="accent2"/>
          </a:solidFill>
          <a:ln/>
        </p:spPr>
      </p:sp>
      <p:sp>
        <p:nvSpPr>
          <p:cNvPr id="43" name="Text 38"/>
          <p:cNvSpPr txBox="1"/>
          <p:nvPr/>
        </p:nvSpPr>
        <p:spPr>
          <a:xfrm>
            <a:off x="6126480" y="5056632"/>
            <a:ext cx="3108960" cy="566928"/>
          </a:xfrm>
          <a:prstGeom prst="rect">
            <a:avLst/>
          </a:prstGeom>
          <a:noFill/>
          <a:ln/>
        </p:spPr>
        <p:txBody>
          <a:bodyPr wrap="square" lIns="0" tIns="0" rIns="0" bIns="0" rtlCol="0" anchor="ctr"/>
          <a:lstStyle/>
          <a:p>
            <a:pPr indent="0" marL="0">
              <a:buNone/>
            </a:pPr>
            <a:r>
              <a:rPr lang="en-US" sz="1600" dirty="0">
                <a:solidFill>
                  <a:schemeClr val="tx1"/>
                </a:solidFill>
              </a:rPr>
              <a:t>Melemah seiring pengalaman</a:t>
            </a:r>
            <a:endParaRPr lang="en-US" sz="1600" dirty="0"/>
          </a:p>
        </p:txBody>
      </p:sp>
      <p:sp>
        <p:nvSpPr>
          <p:cNvPr id="44" name="Kartu insight"/>
          <p:cNvSpPr/>
          <p:nvPr/>
        </p:nvSpPr>
        <p:spPr>
          <a:xfrm>
            <a:off x="9555480" y="1463040"/>
            <a:ext cx="2084832" cy="4572000"/>
          </a:xfrm>
          <a:prstGeom prst="roundRect">
            <a:avLst>
              <a:gd name="adj" fmla="val 5263"/>
            </a:avLst>
          </a:prstGeom>
          <a:solidFill>
            <a:schemeClr val="tx2"/>
          </a:solidFill>
          <a:ln/>
        </p:spPr>
      </p:sp>
      <p:sp>
        <p:nvSpPr>
          <p:cNvPr id="45" name="Insight lingkaran"/>
          <p:cNvSpPr/>
          <p:nvPr/>
        </p:nvSpPr>
        <p:spPr>
          <a:xfrm>
            <a:off x="9784080" y="1691640"/>
            <a:ext cx="640080" cy="640080"/>
          </a:xfrm>
          <a:prstGeom prst="ellipse">
            <a:avLst/>
          </a:prstGeom>
          <a:solidFill>
            <a:schemeClr val="accent2"/>
          </a:solidFill>
          <a:ln/>
        </p:spPr>
      </p:sp>
      <p:pic>
        <p:nvPicPr>
          <p:cNvPr id="46" name="Insight ikon" descr="preencoded.png">    </p:cNvPr>
          <p:cNvPicPr>
            <a:picLocks noChangeAspect="1"/>
          </p:cNvPicPr>
          <p:nvPr/>
        </p:nvPicPr>
        <p:blipFill>
          <a:blip r:embed="rId4"/>
          <a:stretch>
            <a:fillRect/>
          </a:stretch>
        </p:blipFill>
        <p:spPr>
          <a:xfrm>
            <a:off x="9937699" y="1845259"/>
            <a:ext cx="332842" cy="332842"/>
          </a:xfrm>
          <a:prstGeom prst="rect">
            <a:avLst/>
          </a:prstGeom>
        </p:spPr>
      </p:pic>
      <p:sp>
        <p:nvSpPr>
          <p:cNvPr id="47" name="Text 41"/>
          <p:cNvSpPr txBox="1"/>
          <p:nvPr/>
        </p:nvSpPr>
        <p:spPr>
          <a:xfrm>
            <a:off x="9784080" y="2514600"/>
            <a:ext cx="1691640" cy="3291840"/>
          </a:xfrm>
          <a:prstGeom prst="rect">
            <a:avLst/>
          </a:prstGeom>
          <a:noFill/>
          <a:ln/>
        </p:spPr>
        <p:txBody>
          <a:bodyPr wrap="square" lIns="0" tIns="0" rIns="0" bIns="0" rtlCol="0" anchor="t"/>
          <a:lstStyle/>
          <a:p>
            <a:pPr indent="0" marL="0">
              <a:buNone/>
            </a:pPr>
            <a:r>
              <a:rPr lang="en-US" sz="1800" b="1" dirty="0">
                <a:solidFill>
                  <a:schemeClr val="bg1"/>
                </a:solidFill>
              </a:rPr>
              <a:t>Makin berpengalaman, makin digerakkan kebiasaan, bukan niat.</a:t>
            </a:r>
            <a:endParaRPr lang="en-US" sz="18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STUDI KASUS UTAUT2</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Mengapa orang berlangganan Spotify Premium?</a:t>
            </a:r>
            <a:endParaRPr lang="en-US" sz="3400" dirty="0"/>
          </a:p>
        </p:txBody>
      </p:sp>
      <p:sp>
        <p:nvSpPr>
          <p:cNvPr id="4" name="Performance Expectancy"/>
          <p:cNvSpPr/>
          <p:nvPr/>
        </p:nvSpPr>
        <p:spPr>
          <a:xfrm>
            <a:off x="548640" y="155448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5" name="Performance Expectancy lingkaran"/>
          <p:cNvSpPr/>
          <p:nvPr/>
        </p:nvSpPr>
        <p:spPr>
          <a:xfrm>
            <a:off x="731520" y="1737360"/>
            <a:ext cx="457200" cy="457200"/>
          </a:xfrm>
          <a:prstGeom prst="ellipse">
            <a:avLst/>
          </a:prstGeom>
          <a:solidFill>
            <a:schemeClr val="accent1"/>
          </a:solidFill>
          <a:ln/>
        </p:spPr>
      </p:sp>
      <p:pic>
        <p:nvPicPr>
          <p:cNvPr id="6" name="Performance Expectancy ikon" descr="preencoded.png">    </p:cNvPr>
          <p:cNvPicPr>
            <a:picLocks noChangeAspect="1"/>
          </p:cNvPicPr>
          <p:nvPr/>
        </p:nvPicPr>
        <p:blipFill>
          <a:blip r:embed="rId1"/>
          <a:stretch>
            <a:fillRect/>
          </a:stretch>
        </p:blipFill>
        <p:spPr>
          <a:xfrm>
            <a:off x="841248" y="1847088"/>
            <a:ext cx="237744" cy="237744"/>
          </a:xfrm>
          <a:prstGeom prst="rect">
            <a:avLst/>
          </a:prstGeom>
        </p:spPr>
      </p:pic>
      <p:sp>
        <p:nvSpPr>
          <p:cNvPr id="7" name="Text 4"/>
          <p:cNvSpPr txBox="1"/>
          <p:nvPr/>
        </p:nvSpPr>
        <p:spPr>
          <a:xfrm>
            <a:off x="1280160" y="1737360"/>
            <a:ext cx="1737360" cy="457200"/>
          </a:xfrm>
          <a:prstGeom prst="rect">
            <a:avLst/>
          </a:prstGeom>
          <a:noFill/>
          <a:ln/>
        </p:spPr>
        <p:txBody>
          <a:bodyPr wrap="square" lIns="0" tIns="0" rIns="0" bIns="0" rtlCol="0" anchor="ctr"/>
          <a:lstStyle/>
          <a:p>
            <a:pPr indent="0" marL="0">
              <a:buNone/>
            </a:pPr>
            <a:r>
              <a:rPr lang="en-US" sz="1300" b="1" dirty="0">
                <a:solidFill>
                  <a:schemeClr val="accent1"/>
                </a:solidFill>
              </a:rPr>
              <a:t>Performance Expectancy</a:t>
            </a:r>
            <a:endParaRPr lang="en-US" sz="1300" dirty="0"/>
          </a:p>
        </p:txBody>
      </p:sp>
      <p:sp>
        <p:nvSpPr>
          <p:cNvPr id="8" name="Text 5"/>
          <p:cNvSpPr txBox="1"/>
          <p:nvPr/>
        </p:nvSpPr>
        <p:spPr>
          <a:xfrm>
            <a:off x="731520" y="2331720"/>
            <a:ext cx="2240280" cy="777240"/>
          </a:xfrm>
          <a:prstGeom prst="rect">
            <a:avLst/>
          </a:prstGeom>
          <a:noFill/>
          <a:ln/>
        </p:spPr>
        <p:txBody>
          <a:bodyPr wrap="square" lIns="0" tIns="0" rIns="0" bIns="0" rtlCol="0" anchor="t"/>
          <a:lstStyle/>
          <a:p>
            <a:pPr indent="0" marL="0">
              <a:buNone/>
            </a:pPr>
            <a:r>
              <a:rPr lang="en-US" sz="1900" i="1" dirty="0">
                <a:solidFill>
                  <a:schemeClr val="tx1"/>
                </a:solidFill>
              </a:rPr>
              <a:t>“Mudah cari musik.”</a:t>
            </a:r>
            <a:endParaRPr lang="en-US" sz="1900" dirty="0"/>
          </a:p>
        </p:txBody>
      </p:sp>
      <p:sp>
        <p:nvSpPr>
          <p:cNvPr id="9" name="Effort Expectancy"/>
          <p:cNvSpPr/>
          <p:nvPr/>
        </p:nvSpPr>
        <p:spPr>
          <a:xfrm>
            <a:off x="3376879" y="155448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10" name="Effort Expectancy lingkaran"/>
          <p:cNvSpPr/>
          <p:nvPr/>
        </p:nvSpPr>
        <p:spPr>
          <a:xfrm>
            <a:off x="3559759" y="1737360"/>
            <a:ext cx="457200" cy="457200"/>
          </a:xfrm>
          <a:prstGeom prst="ellipse">
            <a:avLst/>
          </a:prstGeom>
          <a:solidFill>
            <a:schemeClr val="accent1"/>
          </a:solidFill>
          <a:ln/>
        </p:spPr>
      </p:sp>
      <p:pic>
        <p:nvPicPr>
          <p:cNvPr id="11" name="Effort Expectancy ikon" descr="preencoded.png">    </p:cNvPr>
          <p:cNvPicPr>
            <a:picLocks noChangeAspect="1"/>
          </p:cNvPicPr>
          <p:nvPr/>
        </p:nvPicPr>
        <p:blipFill>
          <a:blip r:embed="rId2"/>
          <a:stretch>
            <a:fillRect/>
          </a:stretch>
        </p:blipFill>
        <p:spPr>
          <a:xfrm>
            <a:off x="3669487" y="1847088"/>
            <a:ext cx="237744" cy="237744"/>
          </a:xfrm>
          <a:prstGeom prst="rect">
            <a:avLst/>
          </a:prstGeom>
        </p:spPr>
      </p:pic>
      <p:sp>
        <p:nvSpPr>
          <p:cNvPr id="12" name="Text 8"/>
          <p:cNvSpPr txBox="1"/>
          <p:nvPr/>
        </p:nvSpPr>
        <p:spPr>
          <a:xfrm>
            <a:off x="4108399" y="1737360"/>
            <a:ext cx="1737360" cy="457200"/>
          </a:xfrm>
          <a:prstGeom prst="rect">
            <a:avLst/>
          </a:prstGeom>
          <a:noFill/>
          <a:ln/>
        </p:spPr>
        <p:txBody>
          <a:bodyPr wrap="square" lIns="0" tIns="0" rIns="0" bIns="0" rtlCol="0" anchor="ctr"/>
          <a:lstStyle/>
          <a:p>
            <a:pPr indent="0" marL="0">
              <a:buNone/>
            </a:pPr>
            <a:r>
              <a:rPr lang="en-US" sz="1300" b="1" dirty="0">
                <a:solidFill>
                  <a:schemeClr val="accent1"/>
                </a:solidFill>
              </a:rPr>
              <a:t>Effort Expectancy</a:t>
            </a:r>
            <a:endParaRPr lang="en-US" sz="1300" dirty="0"/>
          </a:p>
        </p:txBody>
      </p:sp>
      <p:sp>
        <p:nvSpPr>
          <p:cNvPr id="13" name="Text 9"/>
          <p:cNvSpPr txBox="1"/>
          <p:nvPr/>
        </p:nvSpPr>
        <p:spPr>
          <a:xfrm>
            <a:off x="3559759" y="2331720"/>
            <a:ext cx="2240280" cy="777240"/>
          </a:xfrm>
          <a:prstGeom prst="rect">
            <a:avLst/>
          </a:prstGeom>
          <a:noFill/>
          <a:ln/>
        </p:spPr>
        <p:txBody>
          <a:bodyPr wrap="square" lIns="0" tIns="0" rIns="0" bIns="0" rtlCol="0" anchor="t"/>
          <a:lstStyle/>
          <a:p>
            <a:pPr indent="0" marL="0">
              <a:buNone/>
            </a:pPr>
            <a:r>
              <a:rPr lang="en-US" sz="1900" i="1" dirty="0">
                <a:solidFill>
                  <a:schemeClr val="tx1"/>
                </a:solidFill>
              </a:rPr>
              <a:t>“Mudah digunakan.”</a:t>
            </a:r>
            <a:endParaRPr lang="en-US" sz="1900" dirty="0"/>
          </a:p>
        </p:txBody>
      </p:sp>
      <p:sp>
        <p:nvSpPr>
          <p:cNvPr id="14" name="Social Influence"/>
          <p:cNvSpPr/>
          <p:nvPr/>
        </p:nvSpPr>
        <p:spPr>
          <a:xfrm>
            <a:off x="6205118" y="155448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15" name="Social Influence lingkaran"/>
          <p:cNvSpPr/>
          <p:nvPr/>
        </p:nvSpPr>
        <p:spPr>
          <a:xfrm>
            <a:off x="6387998" y="1737360"/>
            <a:ext cx="457200" cy="457200"/>
          </a:xfrm>
          <a:prstGeom prst="ellipse">
            <a:avLst/>
          </a:prstGeom>
          <a:solidFill>
            <a:schemeClr val="accent1"/>
          </a:solidFill>
          <a:ln/>
        </p:spPr>
      </p:sp>
      <p:pic>
        <p:nvPicPr>
          <p:cNvPr id="16" name="Social Influence ikon" descr="preencoded.png">    </p:cNvPr>
          <p:cNvPicPr>
            <a:picLocks noChangeAspect="1"/>
          </p:cNvPicPr>
          <p:nvPr/>
        </p:nvPicPr>
        <p:blipFill>
          <a:blip r:embed="rId3"/>
          <a:stretch>
            <a:fillRect/>
          </a:stretch>
        </p:blipFill>
        <p:spPr>
          <a:xfrm>
            <a:off x="6497726" y="1847088"/>
            <a:ext cx="237744" cy="237744"/>
          </a:xfrm>
          <a:prstGeom prst="rect">
            <a:avLst/>
          </a:prstGeom>
        </p:spPr>
      </p:pic>
      <p:sp>
        <p:nvSpPr>
          <p:cNvPr id="17" name="Text 12"/>
          <p:cNvSpPr txBox="1"/>
          <p:nvPr/>
        </p:nvSpPr>
        <p:spPr>
          <a:xfrm>
            <a:off x="6936638" y="1737360"/>
            <a:ext cx="1737360" cy="457200"/>
          </a:xfrm>
          <a:prstGeom prst="rect">
            <a:avLst/>
          </a:prstGeom>
          <a:noFill/>
          <a:ln/>
        </p:spPr>
        <p:txBody>
          <a:bodyPr wrap="square" lIns="0" tIns="0" rIns="0" bIns="0" rtlCol="0" anchor="ctr"/>
          <a:lstStyle/>
          <a:p>
            <a:pPr indent="0" marL="0">
              <a:buNone/>
            </a:pPr>
            <a:r>
              <a:rPr lang="en-US" sz="1300" b="1" dirty="0">
                <a:solidFill>
                  <a:schemeClr val="accent1"/>
                </a:solidFill>
              </a:rPr>
              <a:t>Social Influence</a:t>
            </a:r>
            <a:endParaRPr lang="en-US" sz="1300" dirty="0"/>
          </a:p>
        </p:txBody>
      </p:sp>
      <p:sp>
        <p:nvSpPr>
          <p:cNvPr id="18" name="Text 13"/>
          <p:cNvSpPr txBox="1"/>
          <p:nvPr/>
        </p:nvSpPr>
        <p:spPr>
          <a:xfrm>
            <a:off x="6387998" y="2331720"/>
            <a:ext cx="2240280" cy="777240"/>
          </a:xfrm>
          <a:prstGeom prst="rect">
            <a:avLst/>
          </a:prstGeom>
          <a:noFill/>
          <a:ln/>
        </p:spPr>
        <p:txBody>
          <a:bodyPr wrap="square" lIns="0" tIns="0" rIns="0" bIns="0" rtlCol="0" anchor="t"/>
          <a:lstStyle/>
          <a:p>
            <a:pPr indent="0" marL="0">
              <a:buNone/>
            </a:pPr>
            <a:r>
              <a:rPr lang="en-US" sz="1900" i="1" dirty="0">
                <a:solidFill>
                  <a:schemeClr val="tx1"/>
                </a:solidFill>
              </a:rPr>
              <a:t>“Teman juga pakai.”</a:t>
            </a:r>
            <a:endParaRPr lang="en-US" sz="1900" dirty="0"/>
          </a:p>
        </p:txBody>
      </p:sp>
      <p:sp>
        <p:nvSpPr>
          <p:cNvPr id="19" name="Facilitating Conditions"/>
          <p:cNvSpPr/>
          <p:nvPr/>
        </p:nvSpPr>
        <p:spPr>
          <a:xfrm>
            <a:off x="9033358" y="155448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20" name="Facilitating Conditions lingkaran"/>
          <p:cNvSpPr/>
          <p:nvPr/>
        </p:nvSpPr>
        <p:spPr>
          <a:xfrm>
            <a:off x="9216238" y="1737360"/>
            <a:ext cx="457200" cy="457200"/>
          </a:xfrm>
          <a:prstGeom prst="ellipse">
            <a:avLst/>
          </a:prstGeom>
          <a:solidFill>
            <a:schemeClr val="accent1"/>
          </a:solidFill>
          <a:ln/>
        </p:spPr>
      </p:sp>
      <p:pic>
        <p:nvPicPr>
          <p:cNvPr id="21" name="Facilitating Conditions ikon" descr="preencoded.png">    </p:cNvPr>
          <p:cNvPicPr>
            <a:picLocks noChangeAspect="1"/>
          </p:cNvPicPr>
          <p:nvPr/>
        </p:nvPicPr>
        <p:blipFill>
          <a:blip r:embed="rId4"/>
          <a:stretch>
            <a:fillRect/>
          </a:stretch>
        </p:blipFill>
        <p:spPr>
          <a:xfrm>
            <a:off x="9325966" y="1847088"/>
            <a:ext cx="237744" cy="237744"/>
          </a:xfrm>
          <a:prstGeom prst="rect">
            <a:avLst/>
          </a:prstGeom>
        </p:spPr>
      </p:pic>
      <p:sp>
        <p:nvSpPr>
          <p:cNvPr id="22" name="Text 16"/>
          <p:cNvSpPr txBox="1"/>
          <p:nvPr/>
        </p:nvSpPr>
        <p:spPr>
          <a:xfrm>
            <a:off x="9764878" y="1737360"/>
            <a:ext cx="1737360" cy="457200"/>
          </a:xfrm>
          <a:prstGeom prst="rect">
            <a:avLst/>
          </a:prstGeom>
          <a:noFill/>
          <a:ln/>
        </p:spPr>
        <p:txBody>
          <a:bodyPr wrap="square" lIns="0" tIns="0" rIns="0" bIns="0" rtlCol="0" anchor="ctr"/>
          <a:lstStyle/>
          <a:p>
            <a:pPr indent="0" marL="0">
              <a:buNone/>
            </a:pPr>
            <a:r>
              <a:rPr lang="en-US" sz="1300" b="1" dirty="0">
                <a:solidFill>
                  <a:schemeClr val="accent1"/>
                </a:solidFill>
              </a:rPr>
              <a:t>Facilitating Conditions</a:t>
            </a:r>
            <a:endParaRPr lang="en-US" sz="1300" dirty="0"/>
          </a:p>
        </p:txBody>
      </p:sp>
      <p:sp>
        <p:nvSpPr>
          <p:cNvPr id="23" name="Text 17"/>
          <p:cNvSpPr txBox="1"/>
          <p:nvPr/>
        </p:nvSpPr>
        <p:spPr>
          <a:xfrm>
            <a:off x="9216238" y="2331720"/>
            <a:ext cx="2240280" cy="777240"/>
          </a:xfrm>
          <a:prstGeom prst="rect">
            <a:avLst/>
          </a:prstGeom>
          <a:noFill/>
          <a:ln/>
        </p:spPr>
        <p:txBody>
          <a:bodyPr wrap="square" lIns="0" tIns="0" rIns="0" bIns="0" rtlCol="0" anchor="t"/>
          <a:lstStyle/>
          <a:p>
            <a:pPr indent="0" marL="0">
              <a:buNone/>
            </a:pPr>
            <a:r>
              <a:rPr lang="en-US" sz="1900" i="1" dirty="0">
                <a:solidFill>
                  <a:schemeClr val="tx1"/>
                </a:solidFill>
              </a:rPr>
              <a:t>“HP dan internet mendukung.”</a:t>
            </a:r>
            <a:endParaRPr lang="en-US" sz="1900" dirty="0"/>
          </a:p>
        </p:txBody>
      </p:sp>
      <p:sp>
        <p:nvSpPr>
          <p:cNvPr id="24" name="Hedonic Motivation"/>
          <p:cNvSpPr/>
          <p:nvPr/>
        </p:nvSpPr>
        <p:spPr>
          <a:xfrm>
            <a:off x="548640" y="347472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25" name="Hedonic Motivation lingkaran"/>
          <p:cNvSpPr/>
          <p:nvPr/>
        </p:nvSpPr>
        <p:spPr>
          <a:xfrm>
            <a:off x="731520" y="3657600"/>
            <a:ext cx="457200" cy="457200"/>
          </a:xfrm>
          <a:prstGeom prst="ellipse">
            <a:avLst/>
          </a:prstGeom>
          <a:solidFill>
            <a:schemeClr val="accent2"/>
          </a:solidFill>
          <a:ln/>
        </p:spPr>
      </p:sp>
      <p:pic>
        <p:nvPicPr>
          <p:cNvPr id="26" name="Hedonic Motivation ikon" descr="preencoded.png">    </p:cNvPr>
          <p:cNvPicPr>
            <a:picLocks noChangeAspect="1"/>
          </p:cNvPicPr>
          <p:nvPr/>
        </p:nvPicPr>
        <p:blipFill>
          <a:blip r:embed="rId5"/>
          <a:stretch>
            <a:fillRect/>
          </a:stretch>
        </p:blipFill>
        <p:spPr>
          <a:xfrm>
            <a:off x="841248" y="3767328"/>
            <a:ext cx="237744" cy="237744"/>
          </a:xfrm>
          <a:prstGeom prst="rect">
            <a:avLst/>
          </a:prstGeom>
        </p:spPr>
      </p:pic>
      <p:sp>
        <p:nvSpPr>
          <p:cNvPr id="27" name="Text 20"/>
          <p:cNvSpPr txBox="1"/>
          <p:nvPr/>
        </p:nvSpPr>
        <p:spPr>
          <a:xfrm>
            <a:off x="1280160" y="3657600"/>
            <a:ext cx="1737360" cy="457200"/>
          </a:xfrm>
          <a:prstGeom prst="rect">
            <a:avLst/>
          </a:prstGeom>
          <a:noFill/>
          <a:ln/>
        </p:spPr>
        <p:txBody>
          <a:bodyPr wrap="square" lIns="0" tIns="0" rIns="0" bIns="0" rtlCol="0" anchor="ctr"/>
          <a:lstStyle/>
          <a:p>
            <a:pPr indent="0" marL="0">
              <a:buNone/>
            </a:pPr>
            <a:r>
              <a:rPr lang="en-US" sz="1300" b="1" dirty="0">
                <a:solidFill>
                  <a:schemeClr val="accent2"/>
                </a:solidFill>
              </a:rPr>
              <a:t>Hedonic Motivation</a:t>
            </a:r>
            <a:endParaRPr lang="en-US" sz="1300" dirty="0"/>
          </a:p>
        </p:txBody>
      </p:sp>
      <p:sp>
        <p:nvSpPr>
          <p:cNvPr id="28" name="Text 21"/>
          <p:cNvSpPr txBox="1"/>
          <p:nvPr/>
        </p:nvSpPr>
        <p:spPr>
          <a:xfrm>
            <a:off x="731520" y="4251960"/>
            <a:ext cx="2240280" cy="777240"/>
          </a:xfrm>
          <a:prstGeom prst="rect">
            <a:avLst/>
          </a:prstGeom>
          <a:noFill/>
          <a:ln/>
        </p:spPr>
        <p:txBody>
          <a:bodyPr wrap="square" lIns="0" tIns="0" rIns="0" bIns="0" rtlCol="0" anchor="t"/>
          <a:lstStyle/>
          <a:p>
            <a:pPr indent="0" marL="0">
              <a:buNone/>
            </a:pPr>
            <a:r>
              <a:rPr lang="en-US" sz="1900" i="1" dirty="0">
                <a:solidFill>
                  <a:schemeClr val="tx1"/>
                </a:solidFill>
              </a:rPr>
              <a:t>“Menyenangkan!”</a:t>
            </a:r>
            <a:endParaRPr lang="en-US" sz="1900" dirty="0"/>
          </a:p>
        </p:txBody>
      </p:sp>
      <p:sp>
        <p:nvSpPr>
          <p:cNvPr id="29" name="Price Value"/>
          <p:cNvSpPr/>
          <p:nvPr/>
        </p:nvSpPr>
        <p:spPr>
          <a:xfrm>
            <a:off x="3376879" y="347472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30" name="Price Value lingkaran"/>
          <p:cNvSpPr/>
          <p:nvPr/>
        </p:nvSpPr>
        <p:spPr>
          <a:xfrm>
            <a:off x="3559759" y="3657600"/>
            <a:ext cx="457200" cy="457200"/>
          </a:xfrm>
          <a:prstGeom prst="ellipse">
            <a:avLst/>
          </a:prstGeom>
          <a:solidFill>
            <a:schemeClr val="accent2"/>
          </a:solidFill>
          <a:ln/>
        </p:spPr>
      </p:sp>
      <p:pic>
        <p:nvPicPr>
          <p:cNvPr id="31" name="Price Value ikon" descr="preencoded.png">    </p:cNvPr>
          <p:cNvPicPr>
            <a:picLocks noChangeAspect="1"/>
          </p:cNvPicPr>
          <p:nvPr/>
        </p:nvPicPr>
        <p:blipFill>
          <a:blip r:embed="rId6"/>
          <a:stretch>
            <a:fillRect/>
          </a:stretch>
        </p:blipFill>
        <p:spPr>
          <a:xfrm>
            <a:off x="3669487" y="3767328"/>
            <a:ext cx="237744" cy="237744"/>
          </a:xfrm>
          <a:prstGeom prst="rect">
            <a:avLst/>
          </a:prstGeom>
        </p:spPr>
      </p:pic>
      <p:sp>
        <p:nvSpPr>
          <p:cNvPr id="32" name="Text 24"/>
          <p:cNvSpPr txBox="1"/>
          <p:nvPr/>
        </p:nvSpPr>
        <p:spPr>
          <a:xfrm>
            <a:off x="4108399" y="3657600"/>
            <a:ext cx="1737360" cy="457200"/>
          </a:xfrm>
          <a:prstGeom prst="rect">
            <a:avLst/>
          </a:prstGeom>
          <a:noFill/>
          <a:ln/>
        </p:spPr>
        <p:txBody>
          <a:bodyPr wrap="square" lIns="0" tIns="0" rIns="0" bIns="0" rtlCol="0" anchor="ctr"/>
          <a:lstStyle/>
          <a:p>
            <a:pPr indent="0" marL="0">
              <a:buNone/>
            </a:pPr>
            <a:r>
              <a:rPr lang="en-US" sz="1300" b="1" dirty="0">
                <a:solidFill>
                  <a:schemeClr val="accent2"/>
                </a:solidFill>
              </a:rPr>
              <a:t>Price Value</a:t>
            </a:r>
            <a:endParaRPr lang="en-US" sz="1300" dirty="0"/>
          </a:p>
        </p:txBody>
      </p:sp>
      <p:sp>
        <p:nvSpPr>
          <p:cNvPr id="33" name="Text 25"/>
          <p:cNvSpPr txBox="1"/>
          <p:nvPr/>
        </p:nvSpPr>
        <p:spPr>
          <a:xfrm>
            <a:off x="3559759" y="4251960"/>
            <a:ext cx="2240280" cy="777240"/>
          </a:xfrm>
          <a:prstGeom prst="rect">
            <a:avLst/>
          </a:prstGeom>
          <a:noFill/>
          <a:ln/>
        </p:spPr>
        <p:txBody>
          <a:bodyPr wrap="square" lIns="0" tIns="0" rIns="0" bIns="0" rtlCol="0" anchor="t"/>
          <a:lstStyle/>
          <a:p>
            <a:pPr indent="0" marL="0">
              <a:buNone/>
            </a:pPr>
            <a:r>
              <a:rPr lang="en-US" sz="1900" i="1" dirty="0">
                <a:solidFill>
                  <a:schemeClr val="tx1"/>
                </a:solidFill>
              </a:rPr>
              <a:t>“Harganya sepadan.”</a:t>
            </a:r>
            <a:endParaRPr lang="en-US" sz="1900" dirty="0"/>
          </a:p>
        </p:txBody>
      </p:sp>
      <p:sp>
        <p:nvSpPr>
          <p:cNvPr id="34" name="Habit"/>
          <p:cNvSpPr/>
          <p:nvPr/>
        </p:nvSpPr>
        <p:spPr>
          <a:xfrm>
            <a:off x="6205118" y="3474720"/>
            <a:ext cx="2606040" cy="1691640"/>
          </a:xfrm>
          <a:prstGeom prst="roundRect">
            <a:avLst>
              <a:gd name="adj" fmla="val 6486"/>
            </a:avLst>
          </a:prstGeom>
          <a:solidFill>
            <a:schemeClr val="bg1"/>
          </a:solidFill>
          <a:ln/>
          <a:effectLst>
            <a:outerShdw sx="100000" sy="100000" kx="0" ky="0" algn="bl" rotWithShape="0" blurRad="101600" dist="25400" dir="5400000">
              <a:srgbClr val="1C1A33">
                <a:alpha val="14000"/>
              </a:srgbClr>
            </a:outerShdw>
          </a:effectLst>
        </p:spPr>
      </p:sp>
      <p:sp>
        <p:nvSpPr>
          <p:cNvPr id="35" name="Habit lingkaran"/>
          <p:cNvSpPr/>
          <p:nvPr/>
        </p:nvSpPr>
        <p:spPr>
          <a:xfrm>
            <a:off x="6387998" y="3657600"/>
            <a:ext cx="457200" cy="457200"/>
          </a:xfrm>
          <a:prstGeom prst="ellipse">
            <a:avLst/>
          </a:prstGeom>
          <a:solidFill>
            <a:schemeClr val="accent2"/>
          </a:solidFill>
          <a:ln/>
        </p:spPr>
      </p:sp>
      <p:pic>
        <p:nvPicPr>
          <p:cNvPr id="36" name="Habit ikon" descr="preencoded.png">    </p:cNvPr>
          <p:cNvPicPr>
            <a:picLocks noChangeAspect="1"/>
          </p:cNvPicPr>
          <p:nvPr/>
        </p:nvPicPr>
        <p:blipFill>
          <a:blip r:embed="rId7"/>
          <a:stretch>
            <a:fillRect/>
          </a:stretch>
        </p:blipFill>
        <p:spPr>
          <a:xfrm>
            <a:off x="6497726" y="3767328"/>
            <a:ext cx="237744" cy="237744"/>
          </a:xfrm>
          <a:prstGeom prst="rect">
            <a:avLst/>
          </a:prstGeom>
        </p:spPr>
      </p:pic>
      <p:sp>
        <p:nvSpPr>
          <p:cNvPr id="37" name="Text 28"/>
          <p:cNvSpPr txBox="1"/>
          <p:nvPr/>
        </p:nvSpPr>
        <p:spPr>
          <a:xfrm>
            <a:off x="6936638" y="3657600"/>
            <a:ext cx="1737360" cy="457200"/>
          </a:xfrm>
          <a:prstGeom prst="rect">
            <a:avLst/>
          </a:prstGeom>
          <a:noFill/>
          <a:ln/>
        </p:spPr>
        <p:txBody>
          <a:bodyPr wrap="square" lIns="0" tIns="0" rIns="0" bIns="0" rtlCol="0" anchor="ctr"/>
          <a:lstStyle/>
          <a:p>
            <a:pPr indent="0" marL="0">
              <a:buNone/>
            </a:pPr>
            <a:r>
              <a:rPr lang="en-US" sz="1300" b="1" dirty="0">
                <a:solidFill>
                  <a:schemeClr val="accent2"/>
                </a:solidFill>
              </a:rPr>
              <a:t>Habit</a:t>
            </a:r>
            <a:endParaRPr lang="en-US" sz="1300" dirty="0"/>
          </a:p>
        </p:txBody>
      </p:sp>
      <p:sp>
        <p:nvSpPr>
          <p:cNvPr id="38" name="Text 29"/>
          <p:cNvSpPr txBox="1"/>
          <p:nvPr/>
        </p:nvSpPr>
        <p:spPr>
          <a:xfrm>
            <a:off x="6387998" y="4251960"/>
            <a:ext cx="2240280" cy="777240"/>
          </a:xfrm>
          <a:prstGeom prst="rect">
            <a:avLst/>
          </a:prstGeom>
          <a:noFill/>
          <a:ln/>
        </p:spPr>
        <p:txBody>
          <a:bodyPr wrap="square" lIns="0" tIns="0" rIns="0" bIns="0" rtlCol="0" anchor="t"/>
          <a:lstStyle/>
          <a:p>
            <a:pPr indent="0" marL="0">
              <a:buNone/>
            </a:pPr>
            <a:r>
              <a:rPr lang="en-US" sz="1900" i="1" dirty="0">
                <a:solidFill>
                  <a:schemeClr val="tx1"/>
                </a:solidFill>
              </a:rPr>
              <a:t>“Saya buka setiap hari.”</a:t>
            </a:r>
            <a:endParaRPr lang="en-US" sz="1900" dirty="0"/>
          </a:p>
        </p:txBody>
      </p:sp>
      <p:sp>
        <p:nvSpPr>
          <p:cNvPr id="39" name="Hasil BI dan UB"/>
          <p:cNvSpPr/>
          <p:nvPr/>
        </p:nvSpPr>
        <p:spPr>
          <a:xfrm>
            <a:off x="9033358" y="3474720"/>
            <a:ext cx="2606040" cy="1691640"/>
          </a:xfrm>
          <a:prstGeom prst="roundRect">
            <a:avLst>
              <a:gd name="adj" fmla="val 6486"/>
            </a:avLst>
          </a:prstGeom>
          <a:solidFill>
            <a:schemeClr val="tx2"/>
          </a:solidFill>
          <a:ln/>
          <a:effectLst>
            <a:outerShdw sx="100000" sy="100000" kx="0" ky="0" algn="bl" rotWithShape="0" blurRad="101600" dist="25400" dir="5400000">
              <a:srgbClr val="1C1A33">
                <a:alpha val="14000"/>
              </a:srgbClr>
            </a:outerShdw>
          </a:effectLst>
        </p:spPr>
      </p:sp>
      <p:pic>
        <p:nvPicPr>
          <p:cNvPr id="40" name="Ikon musik" descr="preencoded.png">    </p:cNvPr>
          <p:cNvPicPr>
            <a:picLocks noChangeAspect="1"/>
          </p:cNvPicPr>
          <p:nvPr/>
        </p:nvPicPr>
        <p:blipFill>
          <a:blip r:embed="rId8"/>
          <a:stretch>
            <a:fillRect/>
          </a:stretch>
        </p:blipFill>
        <p:spPr>
          <a:xfrm>
            <a:off x="9216238" y="3657600"/>
            <a:ext cx="411480" cy="411480"/>
          </a:xfrm>
          <a:prstGeom prst="rect">
            <a:avLst/>
          </a:prstGeom>
        </p:spPr>
      </p:pic>
      <p:sp>
        <p:nvSpPr>
          <p:cNvPr id="41" name="Text 31"/>
          <p:cNvSpPr txBox="1"/>
          <p:nvPr/>
        </p:nvSpPr>
        <p:spPr>
          <a:xfrm>
            <a:off x="9764878" y="3657600"/>
            <a:ext cx="1737360" cy="411480"/>
          </a:xfrm>
          <a:prstGeom prst="rect">
            <a:avLst/>
          </a:prstGeom>
          <a:noFill/>
          <a:ln/>
        </p:spPr>
        <p:txBody>
          <a:bodyPr wrap="square" lIns="0" tIns="0" rIns="0" bIns="0" rtlCol="0" anchor="ctr"/>
          <a:lstStyle/>
          <a:p>
            <a:pPr indent="0" marL="0">
              <a:buNone/>
            </a:pPr>
            <a:r>
              <a:rPr lang="en-US" sz="1600" b="1" dirty="0">
                <a:solidFill>
                  <a:schemeClr val="accent2"/>
                </a:solidFill>
              </a:rPr>
              <a:t>Hasilnya</a:t>
            </a:r>
            <a:endParaRPr lang="en-US" sz="1600" dirty="0"/>
          </a:p>
        </p:txBody>
      </p:sp>
      <p:sp>
        <p:nvSpPr>
          <p:cNvPr id="42" name="Text 32"/>
          <p:cNvSpPr txBox="1"/>
          <p:nvPr/>
        </p:nvSpPr>
        <p:spPr>
          <a:xfrm>
            <a:off x="9216238" y="4251960"/>
            <a:ext cx="2240280" cy="777240"/>
          </a:xfrm>
          <a:prstGeom prst="rect">
            <a:avLst/>
          </a:prstGeom>
          <a:noFill/>
          <a:ln/>
        </p:spPr>
        <p:txBody>
          <a:bodyPr wrap="square" lIns="0" tIns="0" rIns="0" bIns="0" rtlCol="0" anchor="t"/>
          <a:lstStyle/>
          <a:p>
            <a:pPr indent="0" marL="0">
              <a:buNone/>
            </a:pPr>
            <a:r>
              <a:rPr lang="en-US" sz="1700" b="1" dirty="0">
                <a:solidFill>
                  <a:schemeClr val="bg1"/>
                </a:solidFill>
              </a:rPr>
              <a:t>Ingin terus langganan</a:t>
            </a:r>
            <a:endParaRPr lang="en-US" sz="1700" dirty="0"/>
          </a:p>
          <a:p>
            <a:pPr indent="0" marL="0">
              <a:buNone/>
            </a:pPr>
            <a:r>
              <a:rPr lang="en-US" sz="1700" b="1" dirty="0">
                <a:solidFill>
                  <a:schemeClr val="bg1"/>
                </a:solidFill>
              </a:rPr>
              <a:t>dan memakainya rutin</a:t>
            </a:r>
            <a:endParaRPr lang="en-US" sz="1700" dirty="0"/>
          </a:p>
        </p:txBody>
      </p:sp>
      <p:sp>
        <p:nvSpPr>
          <p:cNvPr id="43" name="Pelajaran studi kasus"/>
          <p:cNvSpPr/>
          <p:nvPr/>
        </p:nvSpPr>
        <p:spPr>
          <a:xfrm>
            <a:off x="548640" y="5440680"/>
            <a:ext cx="11091672" cy="731520"/>
          </a:xfrm>
          <a:prstGeom prst="roundRect">
            <a:avLst>
              <a:gd name="adj" fmla="val 15000"/>
            </a:avLst>
          </a:prstGeom>
          <a:solidFill>
            <a:schemeClr val="bg2"/>
          </a:solidFill>
          <a:ln/>
        </p:spPr>
      </p:sp>
      <p:sp>
        <p:nvSpPr>
          <p:cNvPr id="44" name="Text 34"/>
          <p:cNvSpPr txBox="1"/>
          <p:nvPr/>
        </p:nvSpPr>
        <p:spPr>
          <a:xfrm>
            <a:off x="822960" y="5440680"/>
            <a:ext cx="10607040" cy="731520"/>
          </a:xfrm>
          <a:prstGeom prst="rect">
            <a:avLst/>
          </a:prstGeom>
          <a:noFill/>
          <a:ln/>
        </p:spPr>
        <p:txBody>
          <a:bodyPr wrap="square" lIns="0" tIns="0" rIns="0" bIns="0" rtlCol="0" anchor="ctr"/>
          <a:lstStyle/>
          <a:p>
            <a:pPr indent="0" marL="0">
              <a:buNone/>
            </a:pPr>
            <a:r>
              <a:rPr lang="en-US" sz="2000" dirty="0">
                <a:solidFill>
                  <a:schemeClr val="tx1"/>
                </a:solidFill>
              </a:rPr>
              <a:t>Untuk layanan berbayar, </a:t>
            </a:r>
            <a:pPr indent="0" marL="0">
              <a:buNone/>
            </a:pPr>
            <a:r>
              <a:rPr lang="en-US" sz="2000" b="1" dirty="0">
                <a:solidFill>
                  <a:schemeClr val="accent2"/>
                </a:solidFill>
              </a:rPr>
              <a:t>kesenangan, harga, dan kebiasaan</a:t>
            </a:r>
            <a:pPr indent="0" marL="0">
              <a:buNone/>
            </a:pPr>
            <a:r>
              <a:rPr lang="en-US" sz="2000" dirty="0">
                <a:solidFill>
                  <a:schemeClr val="tx1"/>
                </a:solidFill>
              </a:rPr>
              <a:t> sama pentingnya dengan manfaat.</a:t>
            </a:r>
            <a:endParaRPr lang="en-US" sz="2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PERBANDINGAN</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UTAUT vs UTAUT2</a:t>
            </a:r>
            <a:endParaRPr lang="en-US" sz="3400" dirty="0"/>
          </a:p>
        </p:txBody>
      </p:sp>
      <p:sp>
        <p:nvSpPr>
          <p:cNvPr id="4" name="UTAUT"/>
          <p:cNvSpPr/>
          <p:nvPr/>
        </p:nvSpPr>
        <p:spPr>
          <a:xfrm>
            <a:off x="548640" y="1508760"/>
            <a:ext cx="5120640" cy="4663440"/>
          </a:xfrm>
          <a:prstGeom prst="roundRect">
            <a:avLst>
              <a:gd name="adj" fmla="val 2353"/>
            </a:avLst>
          </a:prstGeom>
          <a:solidFill>
            <a:schemeClr val="bg2"/>
          </a:solidFill>
          <a:ln/>
        </p:spPr>
      </p:sp>
      <p:sp>
        <p:nvSpPr>
          <p:cNvPr id="5" name="Text 3"/>
          <p:cNvSpPr txBox="1"/>
          <p:nvPr/>
        </p:nvSpPr>
        <p:spPr>
          <a:xfrm>
            <a:off x="868680" y="1645920"/>
            <a:ext cx="219456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UTAUT</a:t>
            </a:r>
            <a:endParaRPr lang="en-US" sz="3000" dirty="0"/>
          </a:p>
        </p:txBody>
      </p:sp>
      <p:sp>
        <p:nvSpPr>
          <p:cNvPr id="6" name="Text 4"/>
          <p:cNvSpPr txBox="1"/>
          <p:nvPr/>
        </p:nvSpPr>
        <p:spPr>
          <a:xfrm>
            <a:off x="3017520" y="1645920"/>
            <a:ext cx="2377440" cy="548640"/>
          </a:xfrm>
          <a:prstGeom prst="rect">
            <a:avLst/>
          </a:prstGeom>
          <a:noFill/>
          <a:ln/>
        </p:spPr>
        <p:txBody>
          <a:bodyPr wrap="square" lIns="0" tIns="0" rIns="0" bIns="0" rtlCol="0" anchor="ctr"/>
          <a:lstStyle/>
          <a:p>
            <a:pPr algn="r" indent="0" marL="0">
              <a:buNone/>
            </a:pPr>
            <a:r>
              <a:rPr lang="en-US" sz="1800" b="1" dirty="0">
                <a:solidFill>
                  <a:schemeClr val="tx2"/>
                </a:solidFill>
              </a:rPr>
              <a:t>2003 · Organisasi</a:t>
            </a:r>
            <a:endParaRPr lang="en-US" sz="1800" dirty="0"/>
          </a:p>
        </p:txBody>
      </p:sp>
      <p:sp>
        <p:nvSpPr>
          <p:cNvPr id="7" name="UTAUT Performance Expectancy"/>
          <p:cNvSpPr/>
          <p:nvPr/>
        </p:nvSpPr>
        <p:spPr>
          <a:xfrm>
            <a:off x="868680" y="2331720"/>
            <a:ext cx="4480560" cy="384048"/>
          </a:xfrm>
          <a:prstGeom prst="roundRect">
            <a:avLst>
              <a:gd name="adj" fmla="val 28571"/>
            </a:avLst>
          </a:prstGeom>
          <a:solidFill>
            <a:schemeClr val="accent1"/>
          </a:solidFill>
          <a:ln/>
        </p:spPr>
      </p:sp>
      <p:pic>
        <p:nvPicPr>
          <p:cNvPr id="8" name="UTAUT ikon Performance Expectancy" descr="preencoded.png">    </p:cNvPr>
          <p:cNvPicPr>
            <a:picLocks noChangeAspect="1"/>
          </p:cNvPicPr>
          <p:nvPr/>
        </p:nvPicPr>
        <p:blipFill>
          <a:blip r:embed="rId1"/>
          <a:stretch>
            <a:fillRect/>
          </a:stretch>
        </p:blipFill>
        <p:spPr>
          <a:xfrm>
            <a:off x="1005840" y="2404872"/>
            <a:ext cx="237744" cy="237744"/>
          </a:xfrm>
          <a:prstGeom prst="rect">
            <a:avLst/>
          </a:prstGeom>
        </p:spPr>
      </p:pic>
      <p:sp>
        <p:nvSpPr>
          <p:cNvPr id="9" name="Text 6"/>
          <p:cNvSpPr txBox="1"/>
          <p:nvPr/>
        </p:nvSpPr>
        <p:spPr>
          <a:xfrm>
            <a:off x="1417320" y="23317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Performance Expectancy</a:t>
            </a:r>
            <a:endParaRPr lang="en-US" sz="1500" dirty="0"/>
          </a:p>
        </p:txBody>
      </p:sp>
      <p:sp>
        <p:nvSpPr>
          <p:cNvPr id="10" name="UTAUT Effort Expectancy"/>
          <p:cNvSpPr/>
          <p:nvPr/>
        </p:nvSpPr>
        <p:spPr>
          <a:xfrm>
            <a:off x="868680" y="2788920"/>
            <a:ext cx="4480560" cy="384048"/>
          </a:xfrm>
          <a:prstGeom prst="roundRect">
            <a:avLst>
              <a:gd name="adj" fmla="val 28571"/>
            </a:avLst>
          </a:prstGeom>
          <a:solidFill>
            <a:schemeClr val="accent1"/>
          </a:solidFill>
          <a:ln/>
        </p:spPr>
      </p:sp>
      <p:pic>
        <p:nvPicPr>
          <p:cNvPr id="11" name="UTAUT ikon Effort Expectancy" descr="preencoded.png">    </p:cNvPr>
          <p:cNvPicPr>
            <a:picLocks noChangeAspect="1"/>
          </p:cNvPicPr>
          <p:nvPr/>
        </p:nvPicPr>
        <p:blipFill>
          <a:blip r:embed="rId2"/>
          <a:stretch>
            <a:fillRect/>
          </a:stretch>
        </p:blipFill>
        <p:spPr>
          <a:xfrm>
            <a:off x="1005840" y="2862072"/>
            <a:ext cx="237744" cy="237744"/>
          </a:xfrm>
          <a:prstGeom prst="rect">
            <a:avLst/>
          </a:prstGeom>
        </p:spPr>
      </p:pic>
      <p:sp>
        <p:nvSpPr>
          <p:cNvPr id="12" name="Text 8"/>
          <p:cNvSpPr txBox="1"/>
          <p:nvPr/>
        </p:nvSpPr>
        <p:spPr>
          <a:xfrm>
            <a:off x="1417320" y="27889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Effort Expectancy</a:t>
            </a:r>
            <a:endParaRPr lang="en-US" sz="1500" dirty="0"/>
          </a:p>
        </p:txBody>
      </p:sp>
      <p:sp>
        <p:nvSpPr>
          <p:cNvPr id="13" name="UTAUT Social Influence"/>
          <p:cNvSpPr/>
          <p:nvPr/>
        </p:nvSpPr>
        <p:spPr>
          <a:xfrm>
            <a:off x="868680" y="3246120"/>
            <a:ext cx="4480560" cy="384048"/>
          </a:xfrm>
          <a:prstGeom prst="roundRect">
            <a:avLst>
              <a:gd name="adj" fmla="val 28571"/>
            </a:avLst>
          </a:prstGeom>
          <a:solidFill>
            <a:schemeClr val="accent1"/>
          </a:solidFill>
          <a:ln/>
        </p:spPr>
      </p:sp>
      <p:pic>
        <p:nvPicPr>
          <p:cNvPr id="14" name="UTAUT ikon Social Influence" descr="preencoded.png">    </p:cNvPr>
          <p:cNvPicPr>
            <a:picLocks noChangeAspect="1"/>
          </p:cNvPicPr>
          <p:nvPr/>
        </p:nvPicPr>
        <p:blipFill>
          <a:blip r:embed="rId3"/>
          <a:stretch>
            <a:fillRect/>
          </a:stretch>
        </p:blipFill>
        <p:spPr>
          <a:xfrm>
            <a:off x="1005840" y="3319272"/>
            <a:ext cx="237744" cy="237744"/>
          </a:xfrm>
          <a:prstGeom prst="rect">
            <a:avLst/>
          </a:prstGeom>
        </p:spPr>
      </p:pic>
      <p:sp>
        <p:nvSpPr>
          <p:cNvPr id="15" name="Text 10"/>
          <p:cNvSpPr txBox="1"/>
          <p:nvPr/>
        </p:nvSpPr>
        <p:spPr>
          <a:xfrm>
            <a:off x="1417320" y="32461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Social Influence</a:t>
            </a:r>
            <a:endParaRPr lang="en-US" sz="1500" dirty="0"/>
          </a:p>
        </p:txBody>
      </p:sp>
      <p:sp>
        <p:nvSpPr>
          <p:cNvPr id="16" name="UTAUT Facilitating Conditions"/>
          <p:cNvSpPr/>
          <p:nvPr/>
        </p:nvSpPr>
        <p:spPr>
          <a:xfrm>
            <a:off x="868680" y="3703320"/>
            <a:ext cx="4480560" cy="384048"/>
          </a:xfrm>
          <a:prstGeom prst="roundRect">
            <a:avLst>
              <a:gd name="adj" fmla="val 28571"/>
            </a:avLst>
          </a:prstGeom>
          <a:solidFill>
            <a:schemeClr val="accent1"/>
          </a:solidFill>
          <a:ln/>
        </p:spPr>
      </p:sp>
      <p:pic>
        <p:nvPicPr>
          <p:cNvPr id="17" name="UTAUT ikon Facilitating Conditions" descr="preencoded.png">    </p:cNvPr>
          <p:cNvPicPr>
            <a:picLocks noChangeAspect="1"/>
          </p:cNvPicPr>
          <p:nvPr/>
        </p:nvPicPr>
        <p:blipFill>
          <a:blip r:embed="rId4"/>
          <a:stretch>
            <a:fillRect/>
          </a:stretch>
        </p:blipFill>
        <p:spPr>
          <a:xfrm>
            <a:off x="1005840" y="3776472"/>
            <a:ext cx="237744" cy="237744"/>
          </a:xfrm>
          <a:prstGeom prst="rect">
            <a:avLst/>
          </a:prstGeom>
        </p:spPr>
      </p:pic>
      <p:sp>
        <p:nvSpPr>
          <p:cNvPr id="18" name="Text 12"/>
          <p:cNvSpPr txBox="1"/>
          <p:nvPr/>
        </p:nvSpPr>
        <p:spPr>
          <a:xfrm>
            <a:off x="1417320" y="37033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Facilitating Conditions</a:t>
            </a:r>
            <a:endParaRPr lang="en-US" sz="1500" dirty="0"/>
          </a:p>
        </p:txBody>
      </p:sp>
      <p:sp>
        <p:nvSpPr>
          <p:cNvPr id="19" name="UTAUT slot kosong 4"/>
          <p:cNvSpPr/>
          <p:nvPr/>
        </p:nvSpPr>
        <p:spPr>
          <a:xfrm>
            <a:off x="868680" y="4160520"/>
            <a:ext cx="4480560" cy="384048"/>
          </a:xfrm>
          <a:prstGeom prst="roundRect">
            <a:avLst>
              <a:gd name="adj" fmla="val 28571"/>
            </a:avLst>
          </a:prstGeom>
          <a:ln w="12700">
            <a:solidFill>
              <a:srgbClr val="C9C6E0"/>
            </a:solidFill>
            <a:prstDash val="dash"/>
          </a:ln>
        </p:spPr>
      </p:sp>
      <p:sp>
        <p:nvSpPr>
          <p:cNvPr id="20" name="Text 14"/>
          <p:cNvSpPr txBox="1"/>
          <p:nvPr/>
        </p:nvSpPr>
        <p:spPr>
          <a:xfrm>
            <a:off x="1417320" y="4160520"/>
            <a:ext cx="3840480" cy="384048"/>
          </a:xfrm>
          <a:prstGeom prst="rect">
            <a:avLst/>
          </a:prstGeom>
          <a:noFill/>
          <a:ln/>
        </p:spPr>
        <p:txBody>
          <a:bodyPr wrap="square" lIns="0" tIns="0" rIns="0" bIns="0" rtlCol="0" anchor="ctr"/>
          <a:lstStyle/>
          <a:p>
            <a:pPr indent="0" marL="0">
              <a:buNone/>
            </a:pPr>
            <a:r>
              <a:rPr lang="en-US" sz="1400" i="1" dirty="0">
                <a:solidFill>
                  <a:schemeClr val="accent6"/>
                </a:solidFill>
              </a:rPr>
              <a:t>belum ada</a:t>
            </a:r>
            <a:endParaRPr lang="en-US" sz="1400" dirty="0"/>
          </a:p>
        </p:txBody>
      </p:sp>
      <p:sp>
        <p:nvSpPr>
          <p:cNvPr id="21" name="UTAUT slot kosong 5"/>
          <p:cNvSpPr/>
          <p:nvPr/>
        </p:nvSpPr>
        <p:spPr>
          <a:xfrm>
            <a:off x="868680" y="4617720"/>
            <a:ext cx="4480560" cy="384048"/>
          </a:xfrm>
          <a:prstGeom prst="roundRect">
            <a:avLst>
              <a:gd name="adj" fmla="val 28571"/>
            </a:avLst>
          </a:prstGeom>
          <a:ln w="12700">
            <a:solidFill>
              <a:srgbClr val="C9C6E0"/>
            </a:solidFill>
            <a:prstDash val="dash"/>
          </a:ln>
        </p:spPr>
      </p:sp>
      <p:sp>
        <p:nvSpPr>
          <p:cNvPr id="22" name="Text 16"/>
          <p:cNvSpPr txBox="1"/>
          <p:nvPr/>
        </p:nvSpPr>
        <p:spPr>
          <a:xfrm>
            <a:off x="1417320" y="4617720"/>
            <a:ext cx="3840480" cy="384048"/>
          </a:xfrm>
          <a:prstGeom prst="rect">
            <a:avLst/>
          </a:prstGeom>
          <a:noFill/>
          <a:ln/>
        </p:spPr>
        <p:txBody>
          <a:bodyPr wrap="square" lIns="0" tIns="0" rIns="0" bIns="0" rtlCol="0" anchor="ctr"/>
          <a:lstStyle/>
          <a:p>
            <a:pPr indent="0" marL="0">
              <a:buNone/>
            </a:pPr>
            <a:r>
              <a:rPr lang="en-US" sz="1400" i="1" dirty="0">
                <a:solidFill>
                  <a:schemeClr val="accent6"/>
                </a:solidFill>
              </a:rPr>
              <a:t>belum ada</a:t>
            </a:r>
            <a:endParaRPr lang="en-US" sz="1400" dirty="0"/>
          </a:p>
        </p:txBody>
      </p:sp>
      <p:sp>
        <p:nvSpPr>
          <p:cNvPr id="23" name="UTAUT slot kosong 6"/>
          <p:cNvSpPr/>
          <p:nvPr/>
        </p:nvSpPr>
        <p:spPr>
          <a:xfrm>
            <a:off x="868680" y="5074920"/>
            <a:ext cx="4480560" cy="384048"/>
          </a:xfrm>
          <a:prstGeom prst="roundRect">
            <a:avLst>
              <a:gd name="adj" fmla="val 28571"/>
            </a:avLst>
          </a:prstGeom>
          <a:ln w="12700">
            <a:solidFill>
              <a:srgbClr val="C9C6E0"/>
            </a:solidFill>
            <a:prstDash val="dash"/>
          </a:ln>
        </p:spPr>
      </p:sp>
      <p:sp>
        <p:nvSpPr>
          <p:cNvPr id="24" name="Text 18"/>
          <p:cNvSpPr txBox="1"/>
          <p:nvPr/>
        </p:nvSpPr>
        <p:spPr>
          <a:xfrm>
            <a:off x="1417320" y="5074920"/>
            <a:ext cx="3840480" cy="384048"/>
          </a:xfrm>
          <a:prstGeom prst="rect">
            <a:avLst/>
          </a:prstGeom>
          <a:noFill/>
          <a:ln/>
        </p:spPr>
        <p:txBody>
          <a:bodyPr wrap="square" lIns="0" tIns="0" rIns="0" bIns="0" rtlCol="0" anchor="ctr"/>
          <a:lstStyle/>
          <a:p>
            <a:pPr indent="0" marL="0">
              <a:buNone/>
            </a:pPr>
            <a:r>
              <a:rPr lang="en-US" sz="1400" i="1" dirty="0">
                <a:solidFill>
                  <a:schemeClr val="accent6"/>
                </a:solidFill>
              </a:rPr>
              <a:t>belum ada</a:t>
            </a:r>
            <a:endParaRPr lang="en-US" sz="1400" dirty="0"/>
          </a:p>
        </p:txBody>
      </p:sp>
      <p:sp>
        <p:nvSpPr>
          <p:cNvPr id="25" name="Text 19"/>
          <p:cNvSpPr txBox="1"/>
          <p:nvPr/>
        </p:nvSpPr>
        <p:spPr>
          <a:xfrm>
            <a:off x="868680" y="5623560"/>
            <a:ext cx="4480560" cy="411480"/>
          </a:xfrm>
          <a:prstGeom prst="rect">
            <a:avLst/>
          </a:prstGeom>
          <a:noFill/>
          <a:ln/>
        </p:spPr>
        <p:txBody>
          <a:bodyPr wrap="square" lIns="0" tIns="0" rIns="0" bIns="0" rtlCol="0" anchor="ctr"/>
          <a:lstStyle/>
          <a:p>
            <a:pPr indent="0" marL="0">
              <a:buNone/>
            </a:pPr>
            <a:r>
              <a:rPr lang="en-US" sz="1500" dirty="0">
                <a:solidFill>
                  <a:schemeClr val="tx2"/>
                </a:solidFill>
              </a:rPr>
              <a:t>Moderator: Gender, Age, Experience, Voluntariness</a:t>
            </a:r>
            <a:endParaRPr lang="en-US" sz="1500" dirty="0"/>
          </a:p>
        </p:txBody>
      </p:sp>
      <p:sp>
        <p:nvSpPr>
          <p:cNvPr id="26" name="UTAUT2"/>
          <p:cNvSpPr/>
          <p:nvPr/>
        </p:nvSpPr>
        <p:spPr>
          <a:xfrm>
            <a:off x="6519672" y="1508760"/>
            <a:ext cx="5120640" cy="4663440"/>
          </a:xfrm>
          <a:prstGeom prst="roundRect">
            <a:avLst>
              <a:gd name="adj" fmla="val 2353"/>
            </a:avLst>
          </a:prstGeom>
          <a:solidFill>
            <a:schemeClr val="bg2"/>
          </a:solidFill>
          <a:ln/>
        </p:spPr>
      </p:sp>
      <p:sp>
        <p:nvSpPr>
          <p:cNvPr id="27" name="Text 21"/>
          <p:cNvSpPr txBox="1"/>
          <p:nvPr/>
        </p:nvSpPr>
        <p:spPr>
          <a:xfrm>
            <a:off x="6839712" y="1645920"/>
            <a:ext cx="219456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UTAUT2</a:t>
            </a:r>
            <a:endParaRPr lang="en-US" sz="3000" dirty="0"/>
          </a:p>
        </p:txBody>
      </p:sp>
      <p:sp>
        <p:nvSpPr>
          <p:cNvPr id="28" name="Text 22"/>
          <p:cNvSpPr txBox="1"/>
          <p:nvPr/>
        </p:nvSpPr>
        <p:spPr>
          <a:xfrm>
            <a:off x="8988552" y="1645920"/>
            <a:ext cx="2377440" cy="548640"/>
          </a:xfrm>
          <a:prstGeom prst="rect">
            <a:avLst/>
          </a:prstGeom>
          <a:noFill/>
          <a:ln/>
        </p:spPr>
        <p:txBody>
          <a:bodyPr wrap="square" lIns="0" tIns="0" rIns="0" bIns="0" rtlCol="0" anchor="ctr"/>
          <a:lstStyle/>
          <a:p>
            <a:pPr algn="r" indent="0" marL="0">
              <a:buNone/>
            </a:pPr>
            <a:r>
              <a:rPr lang="en-US" sz="1800" b="1" dirty="0">
                <a:solidFill>
                  <a:schemeClr val="tx2"/>
                </a:solidFill>
              </a:rPr>
              <a:t>2012 · Konsumen</a:t>
            </a:r>
            <a:endParaRPr lang="en-US" sz="1800" dirty="0"/>
          </a:p>
        </p:txBody>
      </p:sp>
      <p:sp>
        <p:nvSpPr>
          <p:cNvPr id="29" name="UTAUT2 Performance Expectancy"/>
          <p:cNvSpPr/>
          <p:nvPr/>
        </p:nvSpPr>
        <p:spPr>
          <a:xfrm>
            <a:off x="6839712" y="2331720"/>
            <a:ext cx="4480560" cy="384048"/>
          </a:xfrm>
          <a:prstGeom prst="roundRect">
            <a:avLst>
              <a:gd name="adj" fmla="val 28571"/>
            </a:avLst>
          </a:prstGeom>
          <a:solidFill>
            <a:schemeClr val="accent1"/>
          </a:solidFill>
          <a:ln/>
        </p:spPr>
      </p:sp>
      <p:pic>
        <p:nvPicPr>
          <p:cNvPr id="30" name="UTAUT2 ikon Performance Expectancy" descr="preencoded.png">    </p:cNvPr>
          <p:cNvPicPr>
            <a:picLocks noChangeAspect="1"/>
          </p:cNvPicPr>
          <p:nvPr/>
        </p:nvPicPr>
        <p:blipFill>
          <a:blip r:embed="rId5"/>
          <a:stretch>
            <a:fillRect/>
          </a:stretch>
        </p:blipFill>
        <p:spPr>
          <a:xfrm>
            <a:off x="6976872" y="2404872"/>
            <a:ext cx="237744" cy="237744"/>
          </a:xfrm>
          <a:prstGeom prst="rect">
            <a:avLst/>
          </a:prstGeom>
        </p:spPr>
      </p:pic>
      <p:sp>
        <p:nvSpPr>
          <p:cNvPr id="31" name="Text 24"/>
          <p:cNvSpPr txBox="1"/>
          <p:nvPr/>
        </p:nvSpPr>
        <p:spPr>
          <a:xfrm>
            <a:off x="7388352" y="23317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Performance Expectancy</a:t>
            </a:r>
            <a:endParaRPr lang="en-US" sz="1500" dirty="0"/>
          </a:p>
        </p:txBody>
      </p:sp>
      <p:sp>
        <p:nvSpPr>
          <p:cNvPr id="32" name="UTAUT2 Effort Expectancy"/>
          <p:cNvSpPr/>
          <p:nvPr/>
        </p:nvSpPr>
        <p:spPr>
          <a:xfrm>
            <a:off x="6839712" y="2788920"/>
            <a:ext cx="4480560" cy="384048"/>
          </a:xfrm>
          <a:prstGeom prst="roundRect">
            <a:avLst>
              <a:gd name="adj" fmla="val 28571"/>
            </a:avLst>
          </a:prstGeom>
          <a:solidFill>
            <a:schemeClr val="accent1"/>
          </a:solidFill>
          <a:ln/>
        </p:spPr>
      </p:sp>
      <p:pic>
        <p:nvPicPr>
          <p:cNvPr id="33" name="UTAUT2 ikon Effort Expectancy" descr="preencoded.png">    </p:cNvPr>
          <p:cNvPicPr>
            <a:picLocks noChangeAspect="1"/>
          </p:cNvPicPr>
          <p:nvPr/>
        </p:nvPicPr>
        <p:blipFill>
          <a:blip r:embed="rId6"/>
          <a:stretch>
            <a:fillRect/>
          </a:stretch>
        </p:blipFill>
        <p:spPr>
          <a:xfrm>
            <a:off x="6976872" y="2862072"/>
            <a:ext cx="237744" cy="237744"/>
          </a:xfrm>
          <a:prstGeom prst="rect">
            <a:avLst/>
          </a:prstGeom>
        </p:spPr>
      </p:pic>
      <p:sp>
        <p:nvSpPr>
          <p:cNvPr id="34" name="Text 26"/>
          <p:cNvSpPr txBox="1"/>
          <p:nvPr/>
        </p:nvSpPr>
        <p:spPr>
          <a:xfrm>
            <a:off x="7388352" y="27889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Effort Expectancy</a:t>
            </a:r>
            <a:endParaRPr lang="en-US" sz="1500" dirty="0"/>
          </a:p>
        </p:txBody>
      </p:sp>
      <p:sp>
        <p:nvSpPr>
          <p:cNvPr id="35" name="UTAUT2 Social Influence"/>
          <p:cNvSpPr/>
          <p:nvPr/>
        </p:nvSpPr>
        <p:spPr>
          <a:xfrm>
            <a:off x="6839712" y="3246120"/>
            <a:ext cx="4480560" cy="384048"/>
          </a:xfrm>
          <a:prstGeom prst="roundRect">
            <a:avLst>
              <a:gd name="adj" fmla="val 28571"/>
            </a:avLst>
          </a:prstGeom>
          <a:solidFill>
            <a:schemeClr val="accent1"/>
          </a:solidFill>
          <a:ln/>
        </p:spPr>
      </p:sp>
      <p:pic>
        <p:nvPicPr>
          <p:cNvPr id="36" name="UTAUT2 ikon Social Influence" descr="preencoded.png">    </p:cNvPr>
          <p:cNvPicPr>
            <a:picLocks noChangeAspect="1"/>
          </p:cNvPicPr>
          <p:nvPr/>
        </p:nvPicPr>
        <p:blipFill>
          <a:blip r:embed="rId7"/>
          <a:stretch>
            <a:fillRect/>
          </a:stretch>
        </p:blipFill>
        <p:spPr>
          <a:xfrm>
            <a:off x="6976872" y="3319272"/>
            <a:ext cx="237744" cy="237744"/>
          </a:xfrm>
          <a:prstGeom prst="rect">
            <a:avLst/>
          </a:prstGeom>
        </p:spPr>
      </p:pic>
      <p:sp>
        <p:nvSpPr>
          <p:cNvPr id="37" name="Text 28"/>
          <p:cNvSpPr txBox="1"/>
          <p:nvPr/>
        </p:nvSpPr>
        <p:spPr>
          <a:xfrm>
            <a:off x="7388352" y="32461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Social Influence</a:t>
            </a:r>
            <a:endParaRPr lang="en-US" sz="1500" dirty="0"/>
          </a:p>
        </p:txBody>
      </p:sp>
      <p:sp>
        <p:nvSpPr>
          <p:cNvPr id="38" name="UTAUT2 Facilitating Conditions"/>
          <p:cNvSpPr/>
          <p:nvPr/>
        </p:nvSpPr>
        <p:spPr>
          <a:xfrm>
            <a:off x="6839712" y="3703320"/>
            <a:ext cx="4480560" cy="384048"/>
          </a:xfrm>
          <a:prstGeom prst="roundRect">
            <a:avLst>
              <a:gd name="adj" fmla="val 28571"/>
            </a:avLst>
          </a:prstGeom>
          <a:solidFill>
            <a:schemeClr val="accent1"/>
          </a:solidFill>
          <a:ln/>
        </p:spPr>
      </p:sp>
      <p:pic>
        <p:nvPicPr>
          <p:cNvPr id="39" name="UTAUT2 ikon Facilitating Conditions" descr="preencoded.png">    </p:cNvPr>
          <p:cNvPicPr>
            <a:picLocks noChangeAspect="1"/>
          </p:cNvPicPr>
          <p:nvPr/>
        </p:nvPicPr>
        <p:blipFill>
          <a:blip r:embed="rId8"/>
          <a:stretch>
            <a:fillRect/>
          </a:stretch>
        </p:blipFill>
        <p:spPr>
          <a:xfrm>
            <a:off x="6976872" y="3776472"/>
            <a:ext cx="237744" cy="237744"/>
          </a:xfrm>
          <a:prstGeom prst="rect">
            <a:avLst/>
          </a:prstGeom>
        </p:spPr>
      </p:pic>
      <p:sp>
        <p:nvSpPr>
          <p:cNvPr id="40" name="Text 30"/>
          <p:cNvSpPr txBox="1"/>
          <p:nvPr/>
        </p:nvSpPr>
        <p:spPr>
          <a:xfrm>
            <a:off x="7388352" y="37033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Facilitating Conditions</a:t>
            </a:r>
            <a:endParaRPr lang="en-US" sz="1500" dirty="0"/>
          </a:p>
        </p:txBody>
      </p:sp>
      <p:sp>
        <p:nvSpPr>
          <p:cNvPr id="41" name="UTAUT2 Hedonic Motivation"/>
          <p:cNvSpPr/>
          <p:nvPr/>
        </p:nvSpPr>
        <p:spPr>
          <a:xfrm>
            <a:off x="6839712" y="4160520"/>
            <a:ext cx="4480560" cy="384048"/>
          </a:xfrm>
          <a:prstGeom prst="roundRect">
            <a:avLst>
              <a:gd name="adj" fmla="val 28571"/>
            </a:avLst>
          </a:prstGeom>
          <a:solidFill>
            <a:schemeClr val="accent2"/>
          </a:solidFill>
          <a:ln/>
        </p:spPr>
      </p:sp>
      <p:pic>
        <p:nvPicPr>
          <p:cNvPr id="42" name="UTAUT2 ikon Hedonic Motivation" descr="preencoded.png">    </p:cNvPr>
          <p:cNvPicPr>
            <a:picLocks noChangeAspect="1"/>
          </p:cNvPicPr>
          <p:nvPr/>
        </p:nvPicPr>
        <p:blipFill>
          <a:blip r:embed="rId9"/>
          <a:stretch>
            <a:fillRect/>
          </a:stretch>
        </p:blipFill>
        <p:spPr>
          <a:xfrm>
            <a:off x="6976872" y="4233672"/>
            <a:ext cx="237744" cy="237744"/>
          </a:xfrm>
          <a:prstGeom prst="rect">
            <a:avLst/>
          </a:prstGeom>
        </p:spPr>
      </p:pic>
      <p:sp>
        <p:nvSpPr>
          <p:cNvPr id="43" name="Text 32"/>
          <p:cNvSpPr txBox="1"/>
          <p:nvPr/>
        </p:nvSpPr>
        <p:spPr>
          <a:xfrm>
            <a:off x="7388352" y="41605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Hedonic Motivation</a:t>
            </a:r>
            <a:endParaRPr lang="en-US" sz="1500" dirty="0"/>
          </a:p>
        </p:txBody>
      </p:sp>
      <p:sp>
        <p:nvSpPr>
          <p:cNvPr id="44" name="UTAUT2 Price Value"/>
          <p:cNvSpPr/>
          <p:nvPr/>
        </p:nvSpPr>
        <p:spPr>
          <a:xfrm>
            <a:off x="6839712" y="4617720"/>
            <a:ext cx="4480560" cy="384048"/>
          </a:xfrm>
          <a:prstGeom prst="roundRect">
            <a:avLst>
              <a:gd name="adj" fmla="val 28571"/>
            </a:avLst>
          </a:prstGeom>
          <a:solidFill>
            <a:schemeClr val="accent2"/>
          </a:solidFill>
          <a:ln/>
        </p:spPr>
      </p:sp>
      <p:pic>
        <p:nvPicPr>
          <p:cNvPr id="45" name="UTAUT2 ikon Price Value" descr="preencoded.png">    </p:cNvPr>
          <p:cNvPicPr>
            <a:picLocks noChangeAspect="1"/>
          </p:cNvPicPr>
          <p:nvPr/>
        </p:nvPicPr>
        <p:blipFill>
          <a:blip r:embed="rId10"/>
          <a:stretch>
            <a:fillRect/>
          </a:stretch>
        </p:blipFill>
        <p:spPr>
          <a:xfrm>
            <a:off x="6976872" y="4690872"/>
            <a:ext cx="237744" cy="237744"/>
          </a:xfrm>
          <a:prstGeom prst="rect">
            <a:avLst/>
          </a:prstGeom>
        </p:spPr>
      </p:pic>
      <p:sp>
        <p:nvSpPr>
          <p:cNvPr id="46" name="Text 34"/>
          <p:cNvSpPr txBox="1"/>
          <p:nvPr/>
        </p:nvSpPr>
        <p:spPr>
          <a:xfrm>
            <a:off x="7388352" y="46177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Price Value</a:t>
            </a:r>
            <a:endParaRPr lang="en-US" sz="1500" dirty="0"/>
          </a:p>
        </p:txBody>
      </p:sp>
      <p:sp>
        <p:nvSpPr>
          <p:cNvPr id="47" name="UTAUT2 Habit"/>
          <p:cNvSpPr/>
          <p:nvPr/>
        </p:nvSpPr>
        <p:spPr>
          <a:xfrm>
            <a:off x="6839712" y="5074920"/>
            <a:ext cx="4480560" cy="384048"/>
          </a:xfrm>
          <a:prstGeom prst="roundRect">
            <a:avLst>
              <a:gd name="adj" fmla="val 28571"/>
            </a:avLst>
          </a:prstGeom>
          <a:solidFill>
            <a:schemeClr val="accent2"/>
          </a:solidFill>
          <a:ln/>
        </p:spPr>
      </p:sp>
      <p:pic>
        <p:nvPicPr>
          <p:cNvPr id="48" name="UTAUT2 ikon Habit" descr="preencoded.png">    </p:cNvPr>
          <p:cNvPicPr>
            <a:picLocks noChangeAspect="1"/>
          </p:cNvPicPr>
          <p:nvPr/>
        </p:nvPicPr>
        <p:blipFill>
          <a:blip r:embed="rId11"/>
          <a:stretch>
            <a:fillRect/>
          </a:stretch>
        </p:blipFill>
        <p:spPr>
          <a:xfrm>
            <a:off x="6976872" y="5148072"/>
            <a:ext cx="237744" cy="237744"/>
          </a:xfrm>
          <a:prstGeom prst="rect">
            <a:avLst/>
          </a:prstGeom>
        </p:spPr>
      </p:pic>
      <p:sp>
        <p:nvSpPr>
          <p:cNvPr id="49" name="Text 36"/>
          <p:cNvSpPr txBox="1"/>
          <p:nvPr/>
        </p:nvSpPr>
        <p:spPr>
          <a:xfrm>
            <a:off x="7388352" y="5074920"/>
            <a:ext cx="3840480" cy="384048"/>
          </a:xfrm>
          <a:prstGeom prst="rect">
            <a:avLst/>
          </a:prstGeom>
          <a:noFill/>
          <a:ln/>
        </p:spPr>
        <p:txBody>
          <a:bodyPr wrap="square" lIns="0" tIns="0" rIns="0" bIns="0" rtlCol="0" anchor="ctr"/>
          <a:lstStyle/>
          <a:p>
            <a:pPr indent="0" marL="0">
              <a:buNone/>
            </a:pPr>
            <a:r>
              <a:rPr lang="en-US" sz="1500" b="1" dirty="0">
                <a:solidFill>
                  <a:schemeClr val="bg1"/>
                </a:solidFill>
              </a:rPr>
              <a:t>Habit</a:t>
            </a:r>
            <a:endParaRPr lang="en-US" sz="1500" dirty="0"/>
          </a:p>
        </p:txBody>
      </p:sp>
      <p:sp>
        <p:nvSpPr>
          <p:cNvPr id="50" name="Text 37"/>
          <p:cNvSpPr txBox="1"/>
          <p:nvPr/>
        </p:nvSpPr>
        <p:spPr>
          <a:xfrm>
            <a:off x="6839712" y="5623560"/>
            <a:ext cx="4480560" cy="411480"/>
          </a:xfrm>
          <a:prstGeom prst="rect">
            <a:avLst/>
          </a:prstGeom>
          <a:noFill/>
          <a:ln/>
        </p:spPr>
        <p:txBody>
          <a:bodyPr wrap="square" lIns="0" tIns="0" rIns="0" bIns="0" rtlCol="0" anchor="ctr"/>
          <a:lstStyle/>
          <a:p>
            <a:pPr indent="0" marL="0">
              <a:buNone/>
            </a:pPr>
            <a:r>
              <a:rPr lang="en-US" sz="1500" dirty="0">
                <a:solidFill>
                  <a:schemeClr val="tx2"/>
                </a:solidFill>
              </a:rPr>
              <a:t>Moderator: Gender, Age, Experience</a:t>
            </a:r>
            <a:endParaRPr lang="en-US" sz="1500" dirty="0"/>
          </a:p>
        </p:txBody>
      </p:sp>
      <p:sp>
        <p:nvSpPr>
          <p:cNvPr id="51" name="Tambahan"/>
          <p:cNvSpPr/>
          <p:nvPr/>
        </p:nvSpPr>
        <p:spPr>
          <a:xfrm>
            <a:off x="5760720" y="3611880"/>
            <a:ext cx="685800" cy="548640"/>
          </a:xfrm>
          <a:prstGeom prst="roundRect">
            <a:avLst>
              <a:gd name="adj" fmla="val 50000"/>
            </a:avLst>
          </a:prstGeom>
          <a:solidFill>
            <a:schemeClr val="accent2"/>
          </a:solidFill>
          <a:ln/>
        </p:spPr>
      </p:sp>
      <p:sp>
        <p:nvSpPr>
          <p:cNvPr id="52" name="Tambahan teks"/>
          <p:cNvSpPr txBox="1"/>
          <p:nvPr/>
        </p:nvSpPr>
        <p:spPr>
          <a:xfrm>
            <a:off x="5760720" y="3611880"/>
            <a:ext cx="68580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HUBUNGAN DENGAN TAM</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Dari TAM ke UTAUT</a:t>
            </a:r>
            <a:endParaRPr lang="en-US" sz="3400" dirty="0"/>
          </a:p>
        </p:txBody>
      </p:sp>
      <p:sp>
        <p:nvSpPr>
          <p:cNvPr id="4" name="Text 2"/>
          <p:cNvSpPr txBox="1"/>
          <p:nvPr/>
        </p:nvSpPr>
        <p:spPr>
          <a:xfrm>
            <a:off x="548640" y="1508760"/>
            <a:ext cx="4206240" cy="365760"/>
          </a:xfrm>
          <a:prstGeom prst="rect">
            <a:avLst/>
          </a:prstGeom>
          <a:noFill/>
          <a:ln/>
        </p:spPr>
        <p:txBody>
          <a:bodyPr wrap="square" lIns="0" tIns="0" rIns="0" bIns="0" rtlCol="0" anchor="t"/>
          <a:lstStyle/>
          <a:p>
            <a:pPr indent="0" marL="0">
              <a:buNone/>
            </a:pPr>
            <a:r>
              <a:rPr lang="en-US" sz="1800" b="1" dirty="0">
                <a:solidFill>
                  <a:schemeClr val="accent6"/>
                </a:solidFill>
              </a:rPr>
              <a:t>TAM (Davis, 1989)</a:t>
            </a:r>
            <a:endParaRPr lang="en-US" sz="1800" dirty="0"/>
          </a:p>
        </p:txBody>
      </p:sp>
      <p:sp>
        <p:nvSpPr>
          <p:cNvPr id="5" name="Text 3"/>
          <p:cNvSpPr txBox="1"/>
          <p:nvPr/>
        </p:nvSpPr>
        <p:spPr>
          <a:xfrm>
            <a:off x="5440680" y="1508760"/>
            <a:ext cx="4023360" cy="365760"/>
          </a:xfrm>
          <a:prstGeom prst="rect">
            <a:avLst/>
          </a:prstGeom>
          <a:noFill/>
          <a:ln/>
        </p:spPr>
        <p:txBody>
          <a:bodyPr wrap="square" lIns="0" tIns="0" rIns="0" bIns="0" rtlCol="0" anchor="t"/>
          <a:lstStyle/>
          <a:p>
            <a:pPr indent="0" marL="0">
              <a:buNone/>
            </a:pPr>
            <a:r>
              <a:rPr lang="en-US" sz="1800" b="1" dirty="0">
                <a:solidFill>
                  <a:schemeClr val="accent1"/>
                </a:solidFill>
              </a:rPr>
              <a:t>UTAUT (2003)</a:t>
            </a:r>
            <a:endParaRPr lang="en-US" sz="1800" dirty="0"/>
          </a:p>
        </p:txBody>
      </p:sp>
      <p:sp>
        <p:nvSpPr>
          <p:cNvPr id="6" name="TAM 0"/>
          <p:cNvSpPr/>
          <p:nvPr/>
        </p:nvSpPr>
        <p:spPr>
          <a:xfrm>
            <a:off x="548640" y="1965960"/>
            <a:ext cx="4206240" cy="530352"/>
          </a:xfrm>
          <a:prstGeom prst="roundRect">
            <a:avLst>
              <a:gd name="adj" fmla="val 20690"/>
            </a:avLst>
          </a:prstGeom>
          <a:solidFill>
            <a:schemeClr val="bg2"/>
          </a:solidFill>
          <a:ln/>
        </p:spPr>
      </p:sp>
      <p:sp>
        <p:nvSpPr>
          <p:cNvPr id="7" name="Text 5"/>
          <p:cNvSpPr txBox="1"/>
          <p:nvPr/>
        </p:nvSpPr>
        <p:spPr>
          <a:xfrm>
            <a:off x="777240" y="1965960"/>
            <a:ext cx="3840480" cy="530352"/>
          </a:xfrm>
          <a:prstGeom prst="rect">
            <a:avLst/>
          </a:prstGeom>
          <a:noFill/>
          <a:ln/>
        </p:spPr>
        <p:txBody>
          <a:bodyPr wrap="square" lIns="0" tIns="0" rIns="0" bIns="0" rtlCol="0" anchor="ctr"/>
          <a:lstStyle/>
          <a:p>
            <a:pPr indent="0" marL="0">
              <a:buNone/>
            </a:pPr>
            <a:r>
              <a:rPr lang="en-US" sz="1800" b="1" dirty="0">
                <a:solidFill>
                  <a:schemeClr val="tx1"/>
                </a:solidFill>
              </a:rPr>
              <a:t>Perceived Usefulness</a:t>
            </a:r>
            <a:endParaRPr lang="en-US" sz="1800" dirty="0"/>
          </a:p>
        </p:txBody>
      </p:sp>
      <p:pic>
        <p:nvPicPr>
          <p:cNvPr id="8" name="Panah 0" descr="preencoded.png">    </p:cNvPr>
          <p:cNvPicPr>
            <a:picLocks noChangeAspect="1"/>
          </p:cNvPicPr>
          <p:nvPr/>
        </p:nvPicPr>
        <p:blipFill>
          <a:blip r:embed="rId1"/>
          <a:stretch>
            <a:fillRect/>
          </a:stretch>
        </p:blipFill>
        <p:spPr>
          <a:xfrm>
            <a:off x="4937760" y="2093976"/>
            <a:ext cx="274320" cy="274320"/>
          </a:xfrm>
          <a:prstGeom prst="rect">
            <a:avLst/>
          </a:prstGeom>
        </p:spPr>
      </p:pic>
      <p:sp>
        <p:nvSpPr>
          <p:cNvPr id="9" name="UTAUT 0"/>
          <p:cNvSpPr/>
          <p:nvPr/>
        </p:nvSpPr>
        <p:spPr>
          <a:xfrm>
            <a:off x="5440680" y="1965960"/>
            <a:ext cx="4023360" cy="530352"/>
          </a:xfrm>
          <a:prstGeom prst="roundRect">
            <a:avLst>
              <a:gd name="adj" fmla="val 20690"/>
            </a:avLst>
          </a:prstGeom>
          <a:solidFill>
            <a:schemeClr val="accent1"/>
          </a:solidFill>
          <a:ln/>
        </p:spPr>
      </p:sp>
      <p:sp>
        <p:nvSpPr>
          <p:cNvPr id="10" name="Text 7"/>
          <p:cNvSpPr txBox="1"/>
          <p:nvPr/>
        </p:nvSpPr>
        <p:spPr>
          <a:xfrm>
            <a:off x="5669280" y="1965960"/>
            <a:ext cx="3657600" cy="530352"/>
          </a:xfrm>
          <a:prstGeom prst="rect">
            <a:avLst/>
          </a:prstGeom>
          <a:noFill/>
          <a:ln/>
        </p:spPr>
        <p:txBody>
          <a:bodyPr wrap="square" lIns="0" tIns="0" rIns="0" bIns="0" rtlCol="0" anchor="ctr"/>
          <a:lstStyle/>
          <a:p>
            <a:pPr indent="0" marL="0">
              <a:buNone/>
            </a:pPr>
            <a:r>
              <a:rPr lang="en-US" sz="1800" b="1" dirty="0">
                <a:solidFill>
                  <a:schemeClr val="bg1"/>
                </a:solidFill>
              </a:rPr>
              <a:t>Performance Expectancy</a:t>
            </a:r>
            <a:endParaRPr lang="en-US" sz="1800" dirty="0"/>
          </a:p>
        </p:txBody>
      </p:sp>
      <p:sp>
        <p:nvSpPr>
          <p:cNvPr id="11" name="Label 0"/>
          <p:cNvSpPr/>
          <p:nvPr/>
        </p:nvSpPr>
        <p:spPr>
          <a:xfrm>
            <a:off x="9738360" y="2029968"/>
            <a:ext cx="1901952" cy="402336"/>
          </a:xfrm>
          <a:prstGeom prst="roundRect">
            <a:avLst>
              <a:gd name="adj" fmla="val 50000"/>
            </a:avLst>
          </a:prstGeom>
          <a:solidFill>
            <a:srgbClr val="D9F1EF"/>
          </a:solidFill>
          <a:ln/>
        </p:spPr>
      </p:sp>
      <p:sp>
        <p:nvSpPr>
          <p:cNvPr id="12" name="Label 0 teks"/>
          <p:cNvSpPr txBox="1"/>
          <p:nvPr/>
        </p:nvSpPr>
        <p:spPr>
          <a:xfrm>
            <a:off x="9738360" y="2029968"/>
            <a:ext cx="1901952" cy="402336"/>
          </a:xfrm>
          <a:prstGeom prst="rect">
            <a:avLst/>
          </a:prstGeom>
          <a:noFill/>
          <a:ln/>
        </p:spPr>
        <p:txBody>
          <a:bodyPr wrap="square" lIns="0" tIns="0" rIns="0" bIns="0" rtlCol="0" anchor="ctr"/>
          <a:lstStyle/>
          <a:p>
            <a:pPr algn="ctr" indent="0" marL="0">
              <a:buNone/>
            </a:pPr>
            <a:r>
              <a:rPr lang="en-US" sz="1500" b="1" dirty="0">
                <a:solidFill>
                  <a:schemeClr val="accent1"/>
                </a:solidFill>
              </a:rPr>
              <a:t>setara</a:t>
            </a:r>
            <a:endParaRPr lang="en-US" sz="1500" dirty="0"/>
          </a:p>
        </p:txBody>
      </p:sp>
      <p:sp>
        <p:nvSpPr>
          <p:cNvPr id="13" name="TAM 1"/>
          <p:cNvSpPr/>
          <p:nvPr/>
        </p:nvSpPr>
        <p:spPr>
          <a:xfrm>
            <a:off x="548640" y="2606040"/>
            <a:ext cx="4206240" cy="530352"/>
          </a:xfrm>
          <a:prstGeom prst="roundRect">
            <a:avLst>
              <a:gd name="adj" fmla="val 20690"/>
            </a:avLst>
          </a:prstGeom>
          <a:solidFill>
            <a:schemeClr val="bg2"/>
          </a:solidFill>
          <a:ln/>
        </p:spPr>
      </p:sp>
      <p:sp>
        <p:nvSpPr>
          <p:cNvPr id="14" name="Text 11"/>
          <p:cNvSpPr txBox="1"/>
          <p:nvPr/>
        </p:nvSpPr>
        <p:spPr>
          <a:xfrm>
            <a:off x="777240" y="2606040"/>
            <a:ext cx="3840480" cy="530352"/>
          </a:xfrm>
          <a:prstGeom prst="rect">
            <a:avLst/>
          </a:prstGeom>
          <a:noFill/>
          <a:ln/>
        </p:spPr>
        <p:txBody>
          <a:bodyPr wrap="square" lIns="0" tIns="0" rIns="0" bIns="0" rtlCol="0" anchor="ctr"/>
          <a:lstStyle/>
          <a:p>
            <a:pPr indent="0" marL="0">
              <a:buNone/>
            </a:pPr>
            <a:r>
              <a:rPr lang="en-US" sz="1800" b="1" dirty="0">
                <a:solidFill>
                  <a:schemeClr val="tx1"/>
                </a:solidFill>
              </a:rPr>
              <a:t>Perceived Ease of Use</a:t>
            </a:r>
            <a:endParaRPr lang="en-US" sz="1800" dirty="0"/>
          </a:p>
        </p:txBody>
      </p:sp>
      <p:pic>
        <p:nvPicPr>
          <p:cNvPr id="15" name="Panah 1" descr="preencoded.png">    </p:cNvPr>
          <p:cNvPicPr>
            <a:picLocks noChangeAspect="1"/>
          </p:cNvPicPr>
          <p:nvPr/>
        </p:nvPicPr>
        <p:blipFill>
          <a:blip r:embed="rId2"/>
          <a:stretch>
            <a:fillRect/>
          </a:stretch>
        </p:blipFill>
        <p:spPr>
          <a:xfrm>
            <a:off x="4937760" y="2734056"/>
            <a:ext cx="274320" cy="274320"/>
          </a:xfrm>
          <a:prstGeom prst="rect">
            <a:avLst/>
          </a:prstGeom>
        </p:spPr>
      </p:pic>
      <p:sp>
        <p:nvSpPr>
          <p:cNvPr id="16" name="UTAUT 1"/>
          <p:cNvSpPr/>
          <p:nvPr/>
        </p:nvSpPr>
        <p:spPr>
          <a:xfrm>
            <a:off x="5440680" y="2606040"/>
            <a:ext cx="4023360" cy="530352"/>
          </a:xfrm>
          <a:prstGeom prst="roundRect">
            <a:avLst>
              <a:gd name="adj" fmla="val 20690"/>
            </a:avLst>
          </a:prstGeom>
          <a:solidFill>
            <a:schemeClr val="accent1"/>
          </a:solidFill>
          <a:ln/>
        </p:spPr>
      </p:sp>
      <p:sp>
        <p:nvSpPr>
          <p:cNvPr id="17" name="Text 13"/>
          <p:cNvSpPr txBox="1"/>
          <p:nvPr/>
        </p:nvSpPr>
        <p:spPr>
          <a:xfrm>
            <a:off x="5669280" y="2606040"/>
            <a:ext cx="3657600" cy="530352"/>
          </a:xfrm>
          <a:prstGeom prst="rect">
            <a:avLst/>
          </a:prstGeom>
          <a:noFill/>
          <a:ln/>
        </p:spPr>
        <p:txBody>
          <a:bodyPr wrap="square" lIns="0" tIns="0" rIns="0" bIns="0" rtlCol="0" anchor="ctr"/>
          <a:lstStyle/>
          <a:p>
            <a:pPr indent="0" marL="0">
              <a:buNone/>
            </a:pPr>
            <a:r>
              <a:rPr lang="en-US" sz="1800" b="1" dirty="0">
                <a:solidFill>
                  <a:schemeClr val="bg1"/>
                </a:solidFill>
              </a:rPr>
              <a:t>Effort Expectancy</a:t>
            </a:r>
            <a:endParaRPr lang="en-US" sz="1800" dirty="0"/>
          </a:p>
        </p:txBody>
      </p:sp>
      <p:sp>
        <p:nvSpPr>
          <p:cNvPr id="18" name="Label 1"/>
          <p:cNvSpPr/>
          <p:nvPr/>
        </p:nvSpPr>
        <p:spPr>
          <a:xfrm>
            <a:off x="9738360" y="2670048"/>
            <a:ext cx="1901952" cy="402336"/>
          </a:xfrm>
          <a:prstGeom prst="roundRect">
            <a:avLst>
              <a:gd name="adj" fmla="val 50000"/>
            </a:avLst>
          </a:prstGeom>
          <a:solidFill>
            <a:srgbClr val="D9F1EF"/>
          </a:solidFill>
          <a:ln/>
        </p:spPr>
      </p:sp>
      <p:sp>
        <p:nvSpPr>
          <p:cNvPr id="19" name="Label 1 teks"/>
          <p:cNvSpPr txBox="1"/>
          <p:nvPr/>
        </p:nvSpPr>
        <p:spPr>
          <a:xfrm>
            <a:off x="9738360" y="2670048"/>
            <a:ext cx="1901952" cy="402336"/>
          </a:xfrm>
          <a:prstGeom prst="rect">
            <a:avLst/>
          </a:prstGeom>
          <a:noFill/>
          <a:ln/>
        </p:spPr>
        <p:txBody>
          <a:bodyPr wrap="square" lIns="0" tIns="0" rIns="0" bIns="0" rtlCol="0" anchor="ctr"/>
          <a:lstStyle/>
          <a:p>
            <a:pPr algn="ctr" indent="0" marL="0">
              <a:buNone/>
            </a:pPr>
            <a:r>
              <a:rPr lang="en-US" sz="1500" b="1" dirty="0">
                <a:solidFill>
                  <a:schemeClr val="accent1"/>
                </a:solidFill>
              </a:rPr>
              <a:t>setara</a:t>
            </a:r>
            <a:endParaRPr lang="en-US" sz="1500" dirty="0"/>
          </a:p>
        </p:txBody>
      </p:sp>
      <p:sp>
        <p:nvSpPr>
          <p:cNvPr id="20" name="TAM 2"/>
          <p:cNvSpPr/>
          <p:nvPr/>
        </p:nvSpPr>
        <p:spPr>
          <a:xfrm>
            <a:off x="548640" y="3246120"/>
            <a:ext cx="4206240" cy="530352"/>
          </a:xfrm>
          <a:prstGeom prst="roundRect">
            <a:avLst>
              <a:gd name="adj" fmla="val 20690"/>
            </a:avLst>
          </a:prstGeom>
          <a:solidFill>
            <a:schemeClr val="bg2"/>
          </a:solidFill>
          <a:ln/>
        </p:spPr>
      </p:sp>
      <p:sp>
        <p:nvSpPr>
          <p:cNvPr id="21" name="Text 17"/>
          <p:cNvSpPr txBox="1"/>
          <p:nvPr/>
        </p:nvSpPr>
        <p:spPr>
          <a:xfrm>
            <a:off x="777240" y="3246120"/>
            <a:ext cx="3840480" cy="530352"/>
          </a:xfrm>
          <a:prstGeom prst="rect">
            <a:avLst/>
          </a:prstGeom>
          <a:noFill/>
          <a:ln/>
        </p:spPr>
        <p:txBody>
          <a:bodyPr wrap="square" lIns="0" tIns="0" rIns="0" bIns="0" rtlCol="0" anchor="ctr"/>
          <a:lstStyle/>
          <a:p>
            <a:pPr indent="0" marL="0">
              <a:buNone/>
            </a:pPr>
            <a:r>
              <a:rPr lang="en-US" sz="1800" b="1" dirty="0">
                <a:solidFill>
                  <a:schemeClr val="tx1"/>
                </a:solidFill>
              </a:rPr>
              <a:t>Subjective Norm (TAM2)</a:t>
            </a:r>
            <a:endParaRPr lang="en-US" sz="1800" dirty="0"/>
          </a:p>
        </p:txBody>
      </p:sp>
      <p:pic>
        <p:nvPicPr>
          <p:cNvPr id="22" name="Panah 2" descr="preencoded.png">    </p:cNvPr>
          <p:cNvPicPr>
            <a:picLocks noChangeAspect="1"/>
          </p:cNvPicPr>
          <p:nvPr/>
        </p:nvPicPr>
        <p:blipFill>
          <a:blip r:embed="rId3"/>
          <a:stretch>
            <a:fillRect/>
          </a:stretch>
        </p:blipFill>
        <p:spPr>
          <a:xfrm>
            <a:off x="4937760" y="3374136"/>
            <a:ext cx="274320" cy="274320"/>
          </a:xfrm>
          <a:prstGeom prst="rect">
            <a:avLst/>
          </a:prstGeom>
        </p:spPr>
      </p:pic>
      <p:sp>
        <p:nvSpPr>
          <p:cNvPr id="23" name="UTAUT 2"/>
          <p:cNvSpPr/>
          <p:nvPr/>
        </p:nvSpPr>
        <p:spPr>
          <a:xfrm>
            <a:off x="5440680" y="3246120"/>
            <a:ext cx="4023360" cy="530352"/>
          </a:xfrm>
          <a:prstGeom prst="roundRect">
            <a:avLst>
              <a:gd name="adj" fmla="val 20690"/>
            </a:avLst>
          </a:prstGeom>
          <a:solidFill>
            <a:schemeClr val="accent1"/>
          </a:solidFill>
          <a:ln/>
        </p:spPr>
      </p:sp>
      <p:sp>
        <p:nvSpPr>
          <p:cNvPr id="24" name="Text 19"/>
          <p:cNvSpPr txBox="1"/>
          <p:nvPr/>
        </p:nvSpPr>
        <p:spPr>
          <a:xfrm>
            <a:off x="5669280" y="3246120"/>
            <a:ext cx="3657600" cy="530352"/>
          </a:xfrm>
          <a:prstGeom prst="rect">
            <a:avLst/>
          </a:prstGeom>
          <a:noFill/>
          <a:ln/>
        </p:spPr>
        <p:txBody>
          <a:bodyPr wrap="square" lIns="0" tIns="0" rIns="0" bIns="0" rtlCol="0" anchor="ctr"/>
          <a:lstStyle/>
          <a:p>
            <a:pPr indent="0" marL="0">
              <a:buNone/>
            </a:pPr>
            <a:r>
              <a:rPr lang="en-US" sz="1800" b="1" dirty="0">
                <a:solidFill>
                  <a:schemeClr val="bg1"/>
                </a:solidFill>
              </a:rPr>
              <a:t>Social Influence</a:t>
            </a:r>
            <a:endParaRPr lang="en-US" sz="1800" dirty="0"/>
          </a:p>
        </p:txBody>
      </p:sp>
      <p:sp>
        <p:nvSpPr>
          <p:cNvPr id="25" name="Label 2"/>
          <p:cNvSpPr/>
          <p:nvPr/>
        </p:nvSpPr>
        <p:spPr>
          <a:xfrm>
            <a:off x="9738360" y="3310128"/>
            <a:ext cx="1901952" cy="402336"/>
          </a:xfrm>
          <a:prstGeom prst="roundRect">
            <a:avLst>
              <a:gd name="adj" fmla="val 50000"/>
            </a:avLst>
          </a:prstGeom>
          <a:solidFill>
            <a:srgbClr val="D9F1EF"/>
          </a:solidFill>
          <a:ln/>
        </p:spPr>
      </p:sp>
      <p:sp>
        <p:nvSpPr>
          <p:cNvPr id="26" name="Label 2 teks"/>
          <p:cNvSpPr txBox="1"/>
          <p:nvPr/>
        </p:nvSpPr>
        <p:spPr>
          <a:xfrm>
            <a:off x="9738360" y="3310128"/>
            <a:ext cx="1901952" cy="402336"/>
          </a:xfrm>
          <a:prstGeom prst="rect">
            <a:avLst/>
          </a:prstGeom>
          <a:noFill/>
          <a:ln/>
        </p:spPr>
        <p:txBody>
          <a:bodyPr wrap="square" lIns="0" tIns="0" rIns="0" bIns="0" rtlCol="0" anchor="ctr"/>
          <a:lstStyle/>
          <a:p>
            <a:pPr algn="ctr" indent="0" marL="0">
              <a:buNone/>
            </a:pPr>
            <a:r>
              <a:rPr lang="en-US" sz="1500" b="1" dirty="0">
                <a:solidFill>
                  <a:schemeClr val="accent1"/>
                </a:solidFill>
              </a:rPr>
              <a:t>diperluas</a:t>
            </a:r>
            <a:endParaRPr lang="en-US" sz="1500" dirty="0"/>
          </a:p>
        </p:txBody>
      </p:sp>
      <p:sp>
        <p:nvSpPr>
          <p:cNvPr id="27" name="TAM kosong 3"/>
          <p:cNvSpPr/>
          <p:nvPr/>
        </p:nvSpPr>
        <p:spPr>
          <a:xfrm>
            <a:off x="548640" y="3886200"/>
            <a:ext cx="4206240" cy="530352"/>
          </a:xfrm>
          <a:prstGeom prst="roundRect">
            <a:avLst>
              <a:gd name="adj" fmla="val 20690"/>
            </a:avLst>
          </a:prstGeom>
          <a:ln w="12700">
            <a:solidFill>
              <a:srgbClr val="C9C6E0"/>
            </a:solidFill>
            <a:prstDash val="dash"/>
          </a:ln>
        </p:spPr>
      </p:sp>
      <p:sp>
        <p:nvSpPr>
          <p:cNvPr id="28" name="Text 23"/>
          <p:cNvSpPr txBox="1"/>
          <p:nvPr/>
        </p:nvSpPr>
        <p:spPr>
          <a:xfrm>
            <a:off x="777240" y="3886200"/>
            <a:ext cx="3840480" cy="530352"/>
          </a:xfrm>
          <a:prstGeom prst="rect">
            <a:avLst/>
          </a:prstGeom>
          <a:noFill/>
          <a:ln/>
        </p:spPr>
        <p:txBody>
          <a:bodyPr wrap="square" lIns="0" tIns="0" rIns="0" bIns="0" rtlCol="0" anchor="ctr"/>
          <a:lstStyle/>
          <a:p>
            <a:pPr indent="0" marL="0">
              <a:buNone/>
            </a:pPr>
            <a:r>
              <a:rPr lang="en-US" sz="1800" i="1" dirty="0">
                <a:solidFill>
                  <a:schemeClr val="accent6"/>
                </a:solidFill>
              </a:rPr>
              <a:t>(tidak ada)</a:t>
            </a:r>
            <a:endParaRPr lang="en-US" sz="1800" dirty="0"/>
          </a:p>
        </p:txBody>
      </p:sp>
      <p:pic>
        <p:nvPicPr>
          <p:cNvPr id="29" name="Panah 3" descr="preencoded.png">    </p:cNvPr>
          <p:cNvPicPr>
            <a:picLocks noChangeAspect="1"/>
          </p:cNvPicPr>
          <p:nvPr/>
        </p:nvPicPr>
        <p:blipFill>
          <a:blip r:embed="rId4"/>
          <a:stretch>
            <a:fillRect/>
          </a:stretch>
        </p:blipFill>
        <p:spPr>
          <a:xfrm>
            <a:off x="4937760" y="4014216"/>
            <a:ext cx="274320" cy="274320"/>
          </a:xfrm>
          <a:prstGeom prst="rect">
            <a:avLst/>
          </a:prstGeom>
        </p:spPr>
      </p:pic>
      <p:sp>
        <p:nvSpPr>
          <p:cNvPr id="30" name="UTAUT 3"/>
          <p:cNvSpPr/>
          <p:nvPr/>
        </p:nvSpPr>
        <p:spPr>
          <a:xfrm>
            <a:off x="5440680" y="3886200"/>
            <a:ext cx="4023360" cy="530352"/>
          </a:xfrm>
          <a:prstGeom prst="roundRect">
            <a:avLst>
              <a:gd name="adj" fmla="val 20690"/>
            </a:avLst>
          </a:prstGeom>
          <a:solidFill>
            <a:schemeClr val="accent1"/>
          </a:solidFill>
          <a:ln/>
        </p:spPr>
      </p:sp>
      <p:sp>
        <p:nvSpPr>
          <p:cNvPr id="31" name="Text 25"/>
          <p:cNvSpPr txBox="1"/>
          <p:nvPr/>
        </p:nvSpPr>
        <p:spPr>
          <a:xfrm>
            <a:off x="5669280" y="3886200"/>
            <a:ext cx="3657600" cy="530352"/>
          </a:xfrm>
          <a:prstGeom prst="rect">
            <a:avLst/>
          </a:prstGeom>
          <a:noFill/>
          <a:ln/>
        </p:spPr>
        <p:txBody>
          <a:bodyPr wrap="square" lIns="0" tIns="0" rIns="0" bIns="0" rtlCol="0" anchor="ctr"/>
          <a:lstStyle/>
          <a:p>
            <a:pPr indent="0" marL="0">
              <a:buNone/>
            </a:pPr>
            <a:r>
              <a:rPr lang="en-US" sz="1800" b="1" dirty="0">
                <a:solidFill>
                  <a:schemeClr val="bg1"/>
                </a:solidFill>
              </a:rPr>
              <a:t>Facilitating Conditions</a:t>
            </a:r>
            <a:endParaRPr lang="en-US" sz="1800" dirty="0"/>
          </a:p>
        </p:txBody>
      </p:sp>
      <p:sp>
        <p:nvSpPr>
          <p:cNvPr id="32" name="Label 3"/>
          <p:cNvSpPr/>
          <p:nvPr/>
        </p:nvSpPr>
        <p:spPr>
          <a:xfrm>
            <a:off x="9738360" y="3950208"/>
            <a:ext cx="1901952" cy="402336"/>
          </a:xfrm>
          <a:prstGeom prst="roundRect">
            <a:avLst>
              <a:gd name="adj" fmla="val 50000"/>
            </a:avLst>
          </a:prstGeom>
          <a:solidFill>
            <a:srgbClr val="FCEBD3"/>
          </a:solidFill>
          <a:ln/>
        </p:spPr>
      </p:sp>
      <p:sp>
        <p:nvSpPr>
          <p:cNvPr id="33" name="Label 3 teks"/>
          <p:cNvSpPr txBox="1"/>
          <p:nvPr/>
        </p:nvSpPr>
        <p:spPr>
          <a:xfrm>
            <a:off x="9738360" y="3950208"/>
            <a:ext cx="1901952" cy="402336"/>
          </a:xfrm>
          <a:prstGeom prst="rect">
            <a:avLst/>
          </a:prstGeom>
          <a:noFill/>
          <a:ln/>
        </p:spPr>
        <p:txBody>
          <a:bodyPr wrap="square" lIns="0" tIns="0" rIns="0" bIns="0" rtlCol="0" anchor="ctr"/>
          <a:lstStyle/>
          <a:p>
            <a:pPr algn="ctr" indent="0" marL="0">
              <a:buNone/>
            </a:pPr>
            <a:r>
              <a:rPr lang="en-US" sz="1500" b="1" dirty="0">
                <a:solidFill>
                  <a:schemeClr val="accent2"/>
                </a:solidFill>
              </a:rPr>
              <a:t>baru</a:t>
            </a:r>
            <a:endParaRPr lang="en-US" sz="1500" dirty="0"/>
          </a:p>
        </p:txBody>
      </p:sp>
      <p:sp>
        <p:nvSpPr>
          <p:cNvPr id="34" name="TAM 4"/>
          <p:cNvSpPr/>
          <p:nvPr/>
        </p:nvSpPr>
        <p:spPr>
          <a:xfrm>
            <a:off x="548640" y="4526280"/>
            <a:ext cx="4206240" cy="530352"/>
          </a:xfrm>
          <a:prstGeom prst="roundRect">
            <a:avLst>
              <a:gd name="adj" fmla="val 20690"/>
            </a:avLst>
          </a:prstGeom>
          <a:solidFill>
            <a:schemeClr val="bg2"/>
          </a:solidFill>
          <a:ln/>
        </p:spPr>
      </p:sp>
      <p:sp>
        <p:nvSpPr>
          <p:cNvPr id="35" name="Text 29"/>
          <p:cNvSpPr txBox="1"/>
          <p:nvPr/>
        </p:nvSpPr>
        <p:spPr>
          <a:xfrm>
            <a:off x="777240" y="4526280"/>
            <a:ext cx="3840480" cy="530352"/>
          </a:xfrm>
          <a:prstGeom prst="rect">
            <a:avLst/>
          </a:prstGeom>
          <a:noFill/>
          <a:ln/>
        </p:spPr>
        <p:txBody>
          <a:bodyPr wrap="square" lIns="0" tIns="0" rIns="0" bIns="0" rtlCol="0" anchor="ctr"/>
          <a:lstStyle/>
          <a:p>
            <a:pPr indent="0" marL="0">
              <a:buNone/>
            </a:pPr>
            <a:r>
              <a:rPr lang="en-US" sz="1800" b="1" dirty="0">
                <a:solidFill>
                  <a:schemeClr val="tx1"/>
                </a:solidFill>
              </a:rPr>
              <a:t>Attitude</a:t>
            </a:r>
            <a:endParaRPr lang="en-US" sz="1800" dirty="0"/>
          </a:p>
        </p:txBody>
      </p:sp>
      <p:pic>
        <p:nvPicPr>
          <p:cNvPr id="36" name="Panah 4" descr="preencoded.png">    </p:cNvPr>
          <p:cNvPicPr>
            <a:picLocks noChangeAspect="1"/>
          </p:cNvPicPr>
          <p:nvPr/>
        </p:nvPicPr>
        <p:blipFill>
          <a:blip r:embed="rId5"/>
          <a:stretch>
            <a:fillRect/>
          </a:stretch>
        </p:blipFill>
        <p:spPr>
          <a:xfrm>
            <a:off x="4937760" y="4654296"/>
            <a:ext cx="274320" cy="274320"/>
          </a:xfrm>
          <a:prstGeom prst="rect">
            <a:avLst/>
          </a:prstGeom>
        </p:spPr>
      </p:pic>
      <p:sp>
        <p:nvSpPr>
          <p:cNvPr id="37" name="UTAUT 4"/>
          <p:cNvSpPr/>
          <p:nvPr/>
        </p:nvSpPr>
        <p:spPr>
          <a:xfrm>
            <a:off x="5440680" y="4526280"/>
            <a:ext cx="4023360" cy="530352"/>
          </a:xfrm>
          <a:prstGeom prst="roundRect">
            <a:avLst>
              <a:gd name="adj" fmla="val 20690"/>
            </a:avLst>
          </a:prstGeom>
          <a:solidFill>
            <a:schemeClr val="accent6"/>
          </a:solidFill>
          <a:ln/>
        </p:spPr>
      </p:sp>
      <p:sp>
        <p:nvSpPr>
          <p:cNvPr id="38" name="Text 31"/>
          <p:cNvSpPr txBox="1"/>
          <p:nvPr/>
        </p:nvSpPr>
        <p:spPr>
          <a:xfrm>
            <a:off x="5669280" y="4526280"/>
            <a:ext cx="3657600" cy="530352"/>
          </a:xfrm>
          <a:prstGeom prst="rect">
            <a:avLst/>
          </a:prstGeom>
          <a:noFill/>
          <a:ln/>
        </p:spPr>
        <p:txBody>
          <a:bodyPr wrap="square" lIns="0" tIns="0" rIns="0" bIns="0" rtlCol="0" anchor="ctr"/>
          <a:lstStyle/>
          <a:p>
            <a:pPr indent="0" marL="0">
              <a:buNone/>
            </a:pPr>
            <a:r>
              <a:rPr lang="en-US" sz="1800" b="1" dirty="0">
                <a:solidFill>
                  <a:schemeClr val="bg1"/>
                </a:solidFill>
              </a:rPr>
              <a:t>Tidak dipakai</a:t>
            </a:r>
            <a:endParaRPr lang="en-US" sz="1800" dirty="0"/>
          </a:p>
        </p:txBody>
      </p:sp>
      <p:sp>
        <p:nvSpPr>
          <p:cNvPr id="39" name="Label 4"/>
          <p:cNvSpPr/>
          <p:nvPr/>
        </p:nvSpPr>
        <p:spPr>
          <a:xfrm>
            <a:off x="9738360" y="4590288"/>
            <a:ext cx="1901952" cy="402336"/>
          </a:xfrm>
          <a:prstGeom prst="roundRect">
            <a:avLst>
              <a:gd name="adj" fmla="val 50000"/>
            </a:avLst>
          </a:prstGeom>
          <a:solidFill>
            <a:srgbClr val="E7E5F3"/>
          </a:solidFill>
          <a:ln/>
        </p:spPr>
      </p:sp>
      <p:sp>
        <p:nvSpPr>
          <p:cNvPr id="40" name="Label 4 teks"/>
          <p:cNvSpPr txBox="1"/>
          <p:nvPr/>
        </p:nvSpPr>
        <p:spPr>
          <a:xfrm>
            <a:off x="9738360" y="4590288"/>
            <a:ext cx="1901952" cy="402336"/>
          </a:xfrm>
          <a:prstGeom prst="rect">
            <a:avLst/>
          </a:prstGeom>
          <a:noFill/>
          <a:ln/>
        </p:spPr>
        <p:txBody>
          <a:bodyPr wrap="square" lIns="0" tIns="0" rIns="0" bIns="0" rtlCol="0" anchor="ctr"/>
          <a:lstStyle/>
          <a:p>
            <a:pPr algn="ctr" indent="0" marL="0">
              <a:buNone/>
            </a:pPr>
            <a:r>
              <a:rPr lang="en-US" sz="1500" b="1" dirty="0">
                <a:solidFill>
                  <a:schemeClr val="accent6"/>
                </a:solidFill>
              </a:rPr>
              <a:t>dihapus</a:t>
            </a:r>
            <a:endParaRPr lang="en-US" sz="1500" dirty="0"/>
          </a:p>
        </p:txBody>
      </p:sp>
      <p:sp>
        <p:nvSpPr>
          <p:cNvPr id="41" name="TAM kosong 5"/>
          <p:cNvSpPr/>
          <p:nvPr/>
        </p:nvSpPr>
        <p:spPr>
          <a:xfrm>
            <a:off x="548640" y="5166360"/>
            <a:ext cx="4206240" cy="530352"/>
          </a:xfrm>
          <a:prstGeom prst="roundRect">
            <a:avLst>
              <a:gd name="adj" fmla="val 20690"/>
            </a:avLst>
          </a:prstGeom>
          <a:ln w="12700">
            <a:solidFill>
              <a:srgbClr val="C9C6E0"/>
            </a:solidFill>
            <a:prstDash val="dash"/>
          </a:ln>
        </p:spPr>
      </p:sp>
      <p:sp>
        <p:nvSpPr>
          <p:cNvPr id="42" name="Text 35"/>
          <p:cNvSpPr txBox="1"/>
          <p:nvPr/>
        </p:nvSpPr>
        <p:spPr>
          <a:xfrm>
            <a:off x="777240" y="5166360"/>
            <a:ext cx="3840480" cy="530352"/>
          </a:xfrm>
          <a:prstGeom prst="rect">
            <a:avLst/>
          </a:prstGeom>
          <a:noFill/>
          <a:ln/>
        </p:spPr>
        <p:txBody>
          <a:bodyPr wrap="square" lIns="0" tIns="0" rIns="0" bIns="0" rtlCol="0" anchor="ctr"/>
          <a:lstStyle/>
          <a:p>
            <a:pPr indent="0" marL="0">
              <a:buNone/>
            </a:pPr>
            <a:r>
              <a:rPr lang="en-US" sz="1800" i="1" dirty="0">
                <a:solidFill>
                  <a:schemeClr val="accent6"/>
                </a:solidFill>
              </a:rPr>
              <a:t>(tidak ada)</a:t>
            </a:r>
            <a:endParaRPr lang="en-US" sz="1800" dirty="0"/>
          </a:p>
        </p:txBody>
      </p:sp>
      <p:pic>
        <p:nvPicPr>
          <p:cNvPr id="43" name="Panah 5" descr="preencoded.png">    </p:cNvPr>
          <p:cNvPicPr>
            <a:picLocks noChangeAspect="1"/>
          </p:cNvPicPr>
          <p:nvPr/>
        </p:nvPicPr>
        <p:blipFill>
          <a:blip r:embed="rId6"/>
          <a:stretch>
            <a:fillRect/>
          </a:stretch>
        </p:blipFill>
        <p:spPr>
          <a:xfrm>
            <a:off x="4937760" y="5294376"/>
            <a:ext cx="274320" cy="274320"/>
          </a:xfrm>
          <a:prstGeom prst="rect">
            <a:avLst/>
          </a:prstGeom>
        </p:spPr>
      </p:pic>
      <p:sp>
        <p:nvSpPr>
          <p:cNvPr id="44" name="UTAUT 5"/>
          <p:cNvSpPr/>
          <p:nvPr/>
        </p:nvSpPr>
        <p:spPr>
          <a:xfrm>
            <a:off x="5440680" y="5166360"/>
            <a:ext cx="4023360" cy="530352"/>
          </a:xfrm>
          <a:prstGeom prst="roundRect">
            <a:avLst>
              <a:gd name="adj" fmla="val 20690"/>
            </a:avLst>
          </a:prstGeom>
          <a:solidFill>
            <a:schemeClr val="accent1"/>
          </a:solidFill>
          <a:ln/>
        </p:spPr>
      </p:sp>
      <p:sp>
        <p:nvSpPr>
          <p:cNvPr id="45" name="Text 37"/>
          <p:cNvSpPr txBox="1"/>
          <p:nvPr/>
        </p:nvSpPr>
        <p:spPr>
          <a:xfrm>
            <a:off x="5669280" y="5166360"/>
            <a:ext cx="3657600" cy="530352"/>
          </a:xfrm>
          <a:prstGeom prst="rect">
            <a:avLst/>
          </a:prstGeom>
          <a:noFill/>
          <a:ln/>
        </p:spPr>
        <p:txBody>
          <a:bodyPr wrap="square" lIns="0" tIns="0" rIns="0" bIns="0" rtlCol="0" anchor="ctr"/>
          <a:lstStyle/>
          <a:p>
            <a:pPr indent="0" marL="0">
              <a:buNone/>
            </a:pPr>
            <a:r>
              <a:rPr lang="en-US" sz="1800" b="1" dirty="0">
                <a:solidFill>
                  <a:schemeClr val="bg1"/>
                </a:solidFill>
              </a:rPr>
              <a:t>4 moderator</a:t>
            </a:r>
            <a:endParaRPr lang="en-US" sz="1800" dirty="0"/>
          </a:p>
        </p:txBody>
      </p:sp>
      <p:sp>
        <p:nvSpPr>
          <p:cNvPr id="46" name="Label 5"/>
          <p:cNvSpPr/>
          <p:nvPr/>
        </p:nvSpPr>
        <p:spPr>
          <a:xfrm>
            <a:off x="9738360" y="5230368"/>
            <a:ext cx="1901952" cy="402336"/>
          </a:xfrm>
          <a:prstGeom prst="roundRect">
            <a:avLst>
              <a:gd name="adj" fmla="val 50000"/>
            </a:avLst>
          </a:prstGeom>
          <a:solidFill>
            <a:srgbClr val="FCEBD3"/>
          </a:solidFill>
          <a:ln/>
        </p:spPr>
      </p:sp>
      <p:sp>
        <p:nvSpPr>
          <p:cNvPr id="47" name="Label 5 teks"/>
          <p:cNvSpPr txBox="1"/>
          <p:nvPr/>
        </p:nvSpPr>
        <p:spPr>
          <a:xfrm>
            <a:off x="9738360" y="5230368"/>
            <a:ext cx="1901952" cy="402336"/>
          </a:xfrm>
          <a:prstGeom prst="rect">
            <a:avLst/>
          </a:prstGeom>
          <a:noFill/>
          <a:ln/>
        </p:spPr>
        <p:txBody>
          <a:bodyPr wrap="square" lIns="0" tIns="0" rIns="0" bIns="0" rtlCol="0" anchor="ctr"/>
          <a:lstStyle/>
          <a:p>
            <a:pPr algn="ctr" indent="0" marL="0">
              <a:buNone/>
            </a:pPr>
            <a:r>
              <a:rPr lang="en-US" sz="1500" b="1" dirty="0">
                <a:solidFill>
                  <a:schemeClr val="accent2"/>
                </a:solidFill>
              </a:rPr>
              <a:t>baru</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CARA MUDAH MENGINGAT</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Tujuh pertanyaan sederhana</a:t>
            </a:r>
            <a:endParaRPr lang="en-US" sz="3400" dirty="0"/>
          </a:p>
        </p:txBody>
      </p:sp>
      <p:sp>
        <p:nvSpPr>
          <p:cNvPr id="4" name="Text 2"/>
          <p:cNvSpPr txBox="1"/>
          <p:nvPr/>
        </p:nvSpPr>
        <p:spPr>
          <a:xfrm>
            <a:off x="548640" y="1554480"/>
            <a:ext cx="27432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UTAUT</a:t>
            </a:r>
            <a:endParaRPr lang="en-US" sz="2600" dirty="0"/>
          </a:p>
        </p:txBody>
      </p:sp>
      <p:sp>
        <p:nvSpPr>
          <p:cNvPr id="5" name="Performance Expectancy"/>
          <p:cNvSpPr/>
          <p:nvPr/>
        </p:nvSpPr>
        <p:spPr>
          <a:xfrm>
            <a:off x="548640" y="210312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6" name="Performance Expectancy lingkaran"/>
          <p:cNvSpPr/>
          <p:nvPr/>
        </p:nvSpPr>
        <p:spPr>
          <a:xfrm>
            <a:off x="777240" y="2377440"/>
            <a:ext cx="594360" cy="594360"/>
          </a:xfrm>
          <a:prstGeom prst="ellipse">
            <a:avLst/>
          </a:prstGeom>
          <a:solidFill>
            <a:schemeClr val="accent1"/>
          </a:solidFill>
          <a:ln/>
        </p:spPr>
      </p:sp>
      <p:pic>
        <p:nvPicPr>
          <p:cNvPr id="7" name="Performance Expectancy ikon" descr="preencoded.png">    </p:cNvPr>
          <p:cNvPicPr>
            <a:picLocks noChangeAspect="1"/>
          </p:cNvPicPr>
          <p:nvPr/>
        </p:nvPicPr>
        <p:blipFill>
          <a:blip r:embed="rId1"/>
          <a:stretch>
            <a:fillRect/>
          </a:stretch>
        </p:blipFill>
        <p:spPr>
          <a:xfrm>
            <a:off x="919886" y="2520086"/>
            <a:ext cx="309067" cy="309067"/>
          </a:xfrm>
          <a:prstGeom prst="rect">
            <a:avLst/>
          </a:prstGeom>
        </p:spPr>
      </p:pic>
      <p:sp>
        <p:nvSpPr>
          <p:cNvPr id="8" name="Text 5"/>
          <p:cNvSpPr txBox="1"/>
          <p:nvPr/>
        </p:nvSpPr>
        <p:spPr>
          <a:xfrm>
            <a:off x="1508760" y="233172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Berguna?</a:t>
            </a:r>
            <a:endParaRPr lang="en-US" sz="1600" dirty="0"/>
          </a:p>
        </p:txBody>
      </p:sp>
      <p:sp>
        <p:nvSpPr>
          <p:cNvPr id="9" name="Text 6"/>
          <p:cNvSpPr txBox="1"/>
          <p:nvPr/>
        </p:nvSpPr>
        <p:spPr>
          <a:xfrm>
            <a:off x="777240" y="320040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Performance Expectancy</a:t>
            </a:r>
            <a:endParaRPr lang="en-US" sz="1300" dirty="0"/>
          </a:p>
        </p:txBody>
      </p:sp>
      <p:sp>
        <p:nvSpPr>
          <p:cNvPr id="10" name="Effort Expectancy"/>
          <p:cNvSpPr/>
          <p:nvPr/>
        </p:nvSpPr>
        <p:spPr>
          <a:xfrm>
            <a:off x="3376879" y="210312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11" name="Effort Expectancy lingkaran"/>
          <p:cNvSpPr/>
          <p:nvPr/>
        </p:nvSpPr>
        <p:spPr>
          <a:xfrm>
            <a:off x="3605479" y="2377440"/>
            <a:ext cx="594360" cy="594360"/>
          </a:xfrm>
          <a:prstGeom prst="ellipse">
            <a:avLst/>
          </a:prstGeom>
          <a:solidFill>
            <a:schemeClr val="accent1"/>
          </a:solidFill>
          <a:ln/>
        </p:spPr>
      </p:sp>
      <p:pic>
        <p:nvPicPr>
          <p:cNvPr id="12" name="Effort Expectancy ikon" descr="preencoded.png">    </p:cNvPr>
          <p:cNvPicPr>
            <a:picLocks noChangeAspect="1"/>
          </p:cNvPicPr>
          <p:nvPr/>
        </p:nvPicPr>
        <p:blipFill>
          <a:blip r:embed="rId2"/>
          <a:stretch>
            <a:fillRect/>
          </a:stretch>
        </p:blipFill>
        <p:spPr>
          <a:xfrm>
            <a:off x="3748126" y="2520086"/>
            <a:ext cx="309067" cy="309067"/>
          </a:xfrm>
          <a:prstGeom prst="rect">
            <a:avLst/>
          </a:prstGeom>
        </p:spPr>
      </p:pic>
      <p:sp>
        <p:nvSpPr>
          <p:cNvPr id="13" name="Text 9"/>
          <p:cNvSpPr txBox="1"/>
          <p:nvPr/>
        </p:nvSpPr>
        <p:spPr>
          <a:xfrm>
            <a:off x="4336999" y="233172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Mudah?</a:t>
            </a:r>
            <a:endParaRPr lang="en-US" sz="1600" dirty="0"/>
          </a:p>
        </p:txBody>
      </p:sp>
      <p:sp>
        <p:nvSpPr>
          <p:cNvPr id="14" name="Text 10"/>
          <p:cNvSpPr txBox="1"/>
          <p:nvPr/>
        </p:nvSpPr>
        <p:spPr>
          <a:xfrm>
            <a:off x="3605479" y="320040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Effort Expectancy</a:t>
            </a:r>
            <a:endParaRPr lang="en-US" sz="1300" dirty="0"/>
          </a:p>
        </p:txBody>
      </p:sp>
      <p:sp>
        <p:nvSpPr>
          <p:cNvPr id="15" name="Social Influence"/>
          <p:cNvSpPr/>
          <p:nvPr/>
        </p:nvSpPr>
        <p:spPr>
          <a:xfrm>
            <a:off x="6205118" y="210312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16" name="Social Influence lingkaran"/>
          <p:cNvSpPr/>
          <p:nvPr/>
        </p:nvSpPr>
        <p:spPr>
          <a:xfrm>
            <a:off x="6433718" y="2377440"/>
            <a:ext cx="594360" cy="594360"/>
          </a:xfrm>
          <a:prstGeom prst="ellipse">
            <a:avLst/>
          </a:prstGeom>
          <a:solidFill>
            <a:schemeClr val="accent1"/>
          </a:solidFill>
          <a:ln/>
        </p:spPr>
      </p:sp>
      <p:pic>
        <p:nvPicPr>
          <p:cNvPr id="17" name="Social Influence ikon" descr="preencoded.png">    </p:cNvPr>
          <p:cNvPicPr>
            <a:picLocks noChangeAspect="1"/>
          </p:cNvPicPr>
          <p:nvPr/>
        </p:nvPicPr>
        <p:blipFill>
          <a:blip r:embed="rId3"/>
          <a:stretch>
            <a:fillRect/>
          </a:stretch>
        </p:blipFill>
        <p:spPr>
          <a:xfrm>
            <a:off x="6576365" y="2520086"/>
            <a:ext cx="309067" cy="309067"/>
          </a:xfrm>
          <a:prstGeom prst="rect">
            <a:avLst/>
          </a:prstGeom>
        </p:spPr>
      </p:pic>
      <p:sp>
        <p:nvSpPr>
          <p:cNvPr id="18" name="Text 13"/>
          <p:cNvSpPr txBox="1"/>
          <p:nvPr/>
        </p:nvSpPr>
        <p:spPr>
          <a:xfrm>
            <a:off x="7165238" y="233172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Didorong orang lain?</a:t>
            </a:r>
            <a:endParaRPr lang="en-US" sz="1600" dirty="0"/>
          </a:p>
        </p:txBody>
      </p:sp>
      <p:sp>
        <p:nvSpPr>
          <p:cNvPr id="19" name="Text 14"/>
          <p:cNvSpPr txBox="1"/>
          <p:nvPr/>
        </p:nvSpPr>
        <p:spPr>
          <a:xfrm>
            <a:off x="6433718" y="320040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Social Influence</a:t>
            </a:r>
            <a:endParaRPr lang="en-US" sz="1300" dirty="0"/>
          </a:p>
        </p:txBody>
      </p:sp>
      <p:sp>
        <p:nvSpPr>
          <p:cNvPr id="20" name="Facilitating Conditions"/>
          <p:cNvSpPr/>
          <p:nvPr/>
        </p:nvSpPr>
        <p:spPr>
          <a:xfrm>
            <a:off x="9033358" y="210312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21" name="Facilitating Conditions lingkaran"/>
          <p:cNvSpPr/>
          <p:nvPr/>
        </p:nvSpPr>
        <p:spPr>
          <a:xfrm>
            <a:off x="9261958" y="2377440"/>
            <a:ext cx="594360" cy="594360"/>
          </a:xfrm>
          <a:prstGeom prst="ellipse">
            <a:avLst/>
          </a:prstGeom>
          <a:solidFill>
            <a:schemeClr val="accent1"/>
          </a:solidFill>
          <a:ln/>
        </p:spPr>
      </p:sp>
      <p:pic>
        <p:nvPicPr>
          <p:cNvPr id="22" name="Facilitating Conditions ikon" descr="preencoded.png">    </p:cNvPr>
          <p:cNvPicPr>
            <a:picLocks noChangeAspect="1"/>
          </p:cNvPicPr>
          <p:nvPr/>
        </p:nvPicPr>
        <p:blipFill>
          <a:blip r:embed="rId4"/>
          <a:stretch>
            <a:fillRect/>
          </a:stretch>
        </p:blipFill>
        <p:spPr>
          <a:xfrm>
            <a:off x="9404604" y="2520086"/>
            <a:ext cx="309067" cy="309067"/>
          </a:xfrm>
          <a:prstGeom prst="rect">
            <a:avLst/>
          </a:prstGeom>
        </p:spPr>
      </p:pic>
      <p:sp>
        <p:nvSpPr>
          <p:cNvPr id="23" name="Text 17"/>
          <p:cNvSpPr txBox="1"/>
          <p:nvPr/>
        </p:nvSpPr>
        <p:spPr>
          <a:xfrm>
            <a:off x="9993478" y="233172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Fasilitas mendukung?</a:t>
            </a:r>
            <a:endParaRPr lang="en-US" sz="1600" dirty="0"/>
          </a:p>
        </p:txBody>
      </p:sp>
      <p:sp>
        <p:nvSpPr>
          <p:cNvPr id="24" name="Text 18"/>
          <p:cNvSpPr txBox="1"/>
          <p:nvPr/>
        </p:nvSpPr>
        <p:spPr>
          <a:xfrm>
            <a:off x="9261958" y="320040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Facilitating Conditions</a:t>
            </a:r>
            <a:endParaRPr lang="en-US" sz="1300" dirty="0"/>
          </a:p>
        </p:txBody>
      </p:sp>
      <p:sp>
        <p:nvSpPr>
          <p:cNvPr id="25" name="Text 19"/>
          <p:cNvSpPr txBox="1"/>
          <p:nvPr/>
        </p:nvSpPr>
        <p:spPr>
          <a:xfrm>
            <a:off x="548640" y="3886200"/>
            <a:ext cx="5486400" cy="45720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UTAUT2</a:t>
            </a:r>
            <a:pPr indent="0" marL="0">
              <a:buNone/>
            </a:pPr>
            <a:r>
              <a:rPr lang="en-US" sz="2600" b="1" dirty="0">
                <a:solidFill>
                  <a:schemeClr val="tx2"/>
                </a:solidFill>
                <a:latin typeface="Cambria" pitchFamily="34" charset="0"/>
                <a:ea typeface="Cambria" pitchFamily="34" charset="-122"/>
                <a:cs typeface="Cambria" pitchFamily="34" charset="-120"/>
              </a:rPr>
              <a:t>  =  UTAUT  +</a:t>
            </a:r>
            <a:endParaRPr lang="en-US" sz="2600" dirty="0"/>
          </a:p>
        </p:txBody>
      </p:sp>
      <p:sp>
        <p:nvSpPr>
          <p:cNvPr id="26" name="Hedonic Motivation"/>
          <p:cNvSpPr/>
          <p:nvPr/>
        </p:nvSpPr>
        <p:spPr>
          <a:xfrm>
            <a:off x="548640" y="443484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27" name="Hedonic Motivation lingkaran"/>
          <p:cNvSpPr/>
          <p:nvPr/>
        </p:nvSpPr>
        <p:spPr>
          <a:xfrm>
            <a:off x="777240" y="4709160"/>
            <a:ext cx="594360" cy="594360"/>
          </a:xfrm>
          <a:prstGeom prst="ellipse">
            <a:avLst/>
          </a:prstGeom>
          <a:solidFill>
            <a:schemeClr val="accent2"/>
          </a:solidFill>
          <a:ln/>
        </p:spPr>
      </p:sp>
      <p:pic>
        <p:nvPicPr>
          <p:cNvPr id="28" name="Hedonic Motivation ikon" descr="preencoded.png">    </p:cNvPr>
          <p:cNvPicPr>
            <a:picLocks noChangeAspect="1"/>
          </p:cNvPicPr>
          <p:nvPr/>
        </p:nvPicPr>
        <p:blipFill>
          <a:blip r:embed="rId5"/>
          <a:stretch>
            <a:fillRect/>
          </a:stretch>
        </p:blipFill>
        <p:spPr>
          <a:xfrm>
            <a:off x="919886" y="4851806"/>
            <a:ext cx="309067" cy="309067"/>
          </a:xfrm>
          <a:prstGeom prst="rect">
            <a:avLst/>
          </a:prstGeom>
        </p:spPr>
      </p:pic>
      <p:sp>
        <p:nvSpPr>
          <p:cNvPr id="29" name="Text 22"/>
          <p:cNvSpPr txBox="1"/>
          <p:nvPr/>
        </p:nvSpPr>
        <p:spPr>
          <a:xfrm>
            <a:off x="1508760" y="466344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Menyenangkan?</a:t>
            </a:r>
            <a:endParaRPr lang="en-US" sz="1600" dirty="0"/>
          </a:p>
        </p:txBody>
      </p:sp>
      <p:sp>
        <p:nvSpPr>
          <p:cNvPr id="30" name="Text 23"/>
          <p:cNvSpPr txBox="1"/>
          <p:nvPr/>
        </p:nvSpPr>
        <p:spPr>
          <a:xfrm>
            <a:off x="777240" y="5532120"/>
            <a:ext cx="2240280" cy="320040"/>
          </a:xfrm>
          <a:prstGeom prst="rect">
            <a:avLst/>
          </a:prstGeom>
          <a:noFill/>
          <a:ln/>
        </p:spPr>
        <p:txBody>
          <a:bodyPr wrap="square" lIns="0" tIns="0" rIns="0" bIns="0" rtlCol="0" anchor="t"/>
          <a:lstStyle/>
          <a:p>
            <a:pPr indent="0" marL="0">
              <a:buNone/>
            </a:pPr>
            <a:r>
              <a:rPr lang="en-US" sz="1300" b="1" dirty="0">
                <a:solidFill>
                  <a:schemeClr val="accent2"/>
                </a:solidFill>
              </a:rPr>
              <a:t>Hedonic Motivation</a:t>
            </a:r>
            <a:endParaRPr lang="en-US" sz="1300" dirty="0"/>
          </a:p>
        </p:txBody>
      </p:sp>
      <p:sp>
        <p:nvSpPr>
          <p:cNvPr id="31" name="Price Value"/>
          <p:cNvSpPr/>
          <p:nvPr/>
        </p:nvSpPr>
        <p:spPr>
          <a:xfrm>
            <a:off x="3376879" y="443484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32" name="Price Value lingkaran"/>
          <p:cNvSpPr/>
          <p:nvPr/>
        </p:nvSpPr>
        <p:spPr>
          <a:xfrm>
            <a:off x="3605479" y="4709160"/>
            <a:ext cx="594360" cy="594360"/>
          </a:xfrm>
          <a:prstGeom prst="ellipse">
            <a:avLst/>
          </a:prstGeom>
          <a:solidFill>
            <a:schemeClr val="accent2"/>
          </a:solidFill>
          <a:ln/>
        </p:spPr>
      </p:sp>
      <p:pic>
        <p:nvPicPr>
          <p:cNvPr id="33" name="Price Value ikon" descr="preencoded.png">    </p:cNvPr>
          <p:cNvPicPr>
            <a:picLocks noChangeAspect="1"/>
          </p:cNvPicPr>
          <p:nvPr/>
        </p:nvPicPr>
        <p:blipFill>
          <a:blip r:embed="rId6"/>
          <a:stretch>
            <a:fillRect/>
          </a:stretch>
        </p:blipFill>
        <p:spPr>
          <a:xfrm>
            <a:off x="3748126" y="4851806"/>
            <a:ext cx="309067" cy="309067"/>
          </a:xfrm>
          <a:prstGeom prst="rect">
            <a:avLst/>
          </a:prstGeom>
        </p:spPr>
      </p:pic>
      <p:sp>
        <p:nvSpPr>
          <p:cNvPr id="34" name="Text 26"/>
          <p:cNvSpPr txBox="1"/>
          <p:nvPr/>
        </p:nvSpPr>
        <p:spPr>
          <a:xfrm>
            <a:off x="4336999" y="466344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Harganya sepadan?</a:t>
            </a:r>
            <a:endParaRPr lang="en-US" sz="1600" dirty="0"/>
          </a:p>
        </p:txBody>
      </p:sp>
      <p:sp>
        <p:nvSpPr>
          <p:cNvPr id="35" name="Text 27"/>
          <p:cNvSpPr txBox="1"/>
          <p:nvPr/>
        </p:nvSpPr>
        <p:spPr>
          <a:xfrm>
            <a:off x="3605479" y="5532120"/>
            <a:ext cx="2240280" cy="320040"/>
          </a:xfrm>
          <a:prstGeom prst="rect">
            <a:avLst/>
          </a:prstGeom>
          <a:noFill/>
          <a:ln/>
        </p:spPr>
        <p:txBody>
          <a:bodyPr wrap="square" lIns="0" tIns="0" rIns="0" bIns="0" rtlCol="0" anchor="t"/>
          <a:lstStyle/>
          <a:p>
            <a:pPr indent="0" marL="0">
              <a:buNone/>
            </a:pPr>
            <a:r>
              <a:rPr lang="en-US" sz="1300" b="1" dirty="0">
                <a:solidFill>
                  <a:schemeClr val="accent2"/>
                </a:solidFill>
              </a:rPr>
              <a:t>Price Value</a:t>
            </a:r>
            <a:endParaRPr lang="en-US" sz="1300" dirty="0"/>
          </a:p>
        </p:txBody>
      </p:sp>
      <p:sp>
        <p:nvSpPr>
          <p:cNvPr id="36" name="Habit"/>
          <p:cNvSpPr/>
          <p:nvPr/>
        </p:nvSpPr>
        <p:spPr>
          <a:xfrm>
            <a:off x="6205118" y="4434840"/>
            <a:ext cx="2606040" cy="1600200"/>
          </a:xfrm>
          <a:prstGeom prst="roundRect">
            <a:avLst>
              <a:gd name="adj" fmla="val 6857"/>
            </a:avLst>
          </a:prstGeom>
          <a:solidFill>
            <a:schemeClr val="bg1"/>
          </a:solidFill>
          <a:ln/>
          <a:effectLst>
            <a:outerShdw sx="100000" sy="100000" kx="0" ky="0" algn="bl" rotWithShape="0" blurRad="101600" dist="25400" dir="5400000">
              <a:srgbClr val="1C1A33">
                <a:alpha val="14000"/>
              </a:srgbClr>
            </a:outerShdw>
          </a:effectLst>
        </p:spPr>
      </p:sp>
      <p:sp>
        <p:nvSpPr>
          <p:cNvPr id="37" name="Habit lingkaran"/>
          <p:cNvSpPr/>
          <p:nvPr/>
        </p:nvSpPr>
        <p:spPr>
          <a:xfrm>
            <a:off x="6433718" y="4709160"/>
            <a:ext cx="594360" cy="594360"/>
          </a:xfrm>
          <a:prstGeom prst="ellipse">
            <a:avLst/>
          </a:prstGeom>
          <a:solidFill>
            <a:schemeClr val="accent2"/>
          </a:solidFill>
          <a:ln/>
        </p:spPr>
      </p:sp>
      <p:pic>
        <p:nvPicPr>
          <p:cNvPr id="38" name="Habit ikon" descr="preencoded.png">    </p:cNvPr>
          <p:cNvPicPr>
            <a:picLocks noChangeAspect="1"/>
          </p:cNvPicPr>
          <p:nvPr/>
        </p:nvPicPr>
        <p:blipFill>
          <a:blip r:embed="rId7"/>
          <a:stretch>
            <a:fillRect/>
          </a:stretch>
        </p:blipFill>
        <p:spPr>
          <a:xfrm>
            <a:off x="6576365" y="4851806"/>
            <a:ext cx="309067" cy="309067"/>
          </a:xfrm>
          <a:prstGeom prst="rect">
            <a:avLst/>
          </a:prstGeom>
        </p:spPr>
      </p:pic>
      <p:sp>
        <p:nvSpPr>
          <p:cNvPr id="39" name="Text 30"/>
          <p:cNvSpPr txBox="1"/>
          <p:nvPr/>
        </p:nvSpPr>
        <p:spPr>
          <a:xfrm>
            <a:off x="7165238" y="4663440"/>
            <a:ext cx="1508760" cy="731520"/>
          </a:xfrm>
          <a:prstGeom prst="rect">
            <a:avLst/>
          </a:prstGeom>
          <a:noFill/>
          <a:ln/>
        </p:spPr>
        <p:txBody>
          <a:bodyPr wrap="square" lIns="0" tIns="0" rIns="0" bIns="0" rtlCol="0" anchor="ctr"/>
          <a:lstStyle/>
          <a:p>
            <a:pPr indent="0" marL="0">
              <a:buNone/>
            </a:pPr>
            <a:r>
              <a:rPr lang="en-US" sz="1600" b="1" dirty="0">
                <a:solidFill>
                  <a:schemeClr val="tx1"/>
                </a:solidFill>
              </a:rPr>
              <a:t>Sudah kebiasaan?</a:t>
            </a:r>
            <a:endParaRPr lang="en-US" sz="1600" dirty="0"/>
          </a:p>
        </p:txBody>
      </p:sp>
      <p:sp>
        <p:nvSpPr>
          <p:cNvPr id="40" name="Text 31"/>
          <p:cNvSpPr txBox="1"/>
          <p:nvPr/>
        </p:nvSpPr>
        <p:spPr>
          <a:xfrm>
            <a:off x="6433718" y="5532120"/>
            <a:ext cx="2240280" cy="320040"/>
          </a:xfrm>
          <a:prstGeom prst="rect">
            <a:avLst/>
          </a:prstGeom>
          <a:noFill/>
          <a:ln/>
        </p:spPr>
        <p:txBody>
          <a:bodyPr wrap="square" lIns="0" tIns="0" rIns="0" bIns="0" rtlCol="0" anchor="t"/>
          <a:lstStyle/>
          <a:p>
            <a:pPr indent="0" marL="0">
              <a:buNone/>
            </a:pPr>
            <a:r>
              <a:rPr lang="en-US" sz="1300" b="1" dirty="0">
                <a:solidFill>
                  <a:schemeClr val="accent2"/>
                </a:solidFill>
              </a:rPr>
              <a:t>Habit</a:t>
            </a:r>
            <a:endParaRPr lang="en-US" sz="1300" dirty="0"/>
          </a:p>
        </p:txBody>
      </p:sp>
      <p:sp>
        <p:nvSpPr>
          <p:cNvPr id="41" name="Hasil"/>
          <p:cNvSpPr/>
          <p:nvPr/>
        </p:nvSpPr>
        <p:spPr>
          <a:xfrm>
            <a:off x="9033358" y="4434840"/>
            <a:ext cx="2606040" cy="1600200"/>
          </a:xfrm>
          <a:prstGeom prst="roundRect">
            <a:avLst>
              <a:gd name="adj" fmla="val 6857"/>
            </a:avLst>
          </a:prstGeom>
          <a:solidFill>
            <a:schemeClr val="tx2"/>
          </a:solidFill>
          <a:ln/>
        </p:spPr>
      </p:sp>
      <p:sp>
        <p:nvSpPr>
          <p:cNvPr id="42" name="Text 33"/>
          <p:cNvSpPr txBox="1"/>
          <p:nvPr/>
        </p:nvSpPr>
        <p:spPr>
          <a:xfrm>
            <a:off x="9261958" y="4434840"/>
            <a:ext cx="2148840" cy="1600200"/>
          </a:xfrm>
          <a:prstGeom prst="rect">
            <a:avLst/>
          </a:prstGeom>
          <a:noFill/>
          <a:ln/>
        </p:spPr>
        <p:txBody>
          <a:bodyPr wrap="square" lIns="0" tIns="0" rIns="0" bIns="0" rtlCol="0" anchor="ctr"/>
          <a:lstStyle/>
          <a:p>
            <a:pPr indent="0" marL="0">
              <a:buNone/>
            </a:pPr>
            <a:r>
              <a:rPr lang="en-US" sz="1600" dirty="0">
                <a:solidFill>
                  <a:schemeClr val="bg2"/>
                </a:solidFill>
              </a:rPr>
              <a:t>Jika semuanya “ya”:</a:t>
            </a:r>
            <a:endParaRPr lang="en-US" sz="1600" dirty="0"/>
          </a:p>
          <a:p>
            <a:pPr indent="0" marL="0">
              <a:buNone/>
            </a:pPr>
            <a:r>
              <a:rPr lang="en-US" sz="2200" b="1" dirty="0">
                <a:solidFill>
                  <a:schemeClr val="bg1"/>
                </a:solidFill>
              </a:rPr>
              <a:t>Niat  →  Pakai</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583680" cy="365760"/>
          </a:xfrm>
          <a:prstGeom prst="rect">
            <a:avLst/>
          </a:prstGeom>
          <a:noFill/>
          <a:ln/>
        </p:spPr>
        <p:txBody>
          <a:bodyPr wrap="square" lIns="0" tIns="0" rIns="0" bIns="0" rtlCol="0"/>
          <a:lstStyle/>
          <a:p>
            <a:pPr indent="0" marL="0">
              <a:buNone/>
            </a:pPr>
            <a:r>
              <a:rPr lang="en-US" sz="1400" b="1" spc="200" kern="0" dirty="0">
                <a:solidFill>
                  <a:schemeClr val="accent1"/>
                </a:solidFill>
              </a:rPr>
              <a:t>KESIMPULAN</a:t>
            </a:r>
            <a:endParaRPr lang="en-US" sz="1400" dirty="0"/>
          </a:p>
        </p:txBody>
      </p:sp>
      <p:sp>
        <p:nvSpPr>
          <p:cNvPr id="3" name="Text 0"/>
          <p:cNvSpPr/>
          <p:nvPr>
            <p:ph idx="101" type="title" hasCustomPrompt="1"/>
          </p:nvPr>
        </p:nvSpPr>
        <p:spPr>
          <a:xfrm>
            <a:off x="731520" y="1828800"/>
            <a:ext cx="10698480" cy="1463040"/>
          </a:xfrm>
          <a:prstGeom prst="rect">
            <a:avLst/>
          </a:prstGeom>
          <a:noFill/>
          <a:ln/>
        </p:spPr>
        <p:txBody>
          <a:bodyPr wrap="square" lIns="0" tIns="0" rIns="0" bIns="0" rtlCol="0" anchor="ctr"/>
          <a:lstStyle/>
          <a:p>
            <a:pPr algn="l" indent="0" marL="0">
              <a:buNone/>
            </a:pPr>
            <a:r>
              <a:rPr lang="en-US" sz="6000" b="1" dirty="0">
                <a:solidFill>
                  <a:schemeClr val="bg1"/>
                </a:solidFill>
              </a:rPr>
              <a:t>Inti yang perlu diingat</a:t>
            </a:r>
            <a:endParaRPr lang="en-US" sz="6000" dirty="0"/>
          </a:p>
        </p:txBody>
      </p:sp>
      <p:sp>
        <p:nvSpPr>
          <p:cNvPr id="4" name="Text 2"/>
          <p:cNvSpPr txBox="1"/>
          <p:nvPr/>
        </p:nvSpPr>
        <p:spPr>
          <a:xfrm>
            <a:off x="731520" y="3429000"/>
            <a:ext cx="54864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1371600" y="3474720"/>
            <a:ext cx="9966960" cy="685800"/>
          </a:xfrm>
          <a:prstGeom prst="rect">
            <a:avLst/>
          </a:prstGeom>
          <a:noFill/>
          <a:ln/>
        </p:spPr>
        <p:txBody>
          <a:bodyPr wrap="square" lIns="0" tIns="0" rIns="0" bIns="0" rtlCol="0" anchor="ctr"/>
          <a:lstStyle/>
          <a:p>
            <a:pPr indent="0" marL="0">
              <a:buNone/>
            </a:pPr>
            <a:r>
              <a:rPr lang="en-US" sz="2400" b="1" dirty="0">
                <a:solidFill>
                  <a:schemeClr val="accent1"/>
                </a:solidFill>
              </a:rPr>
              <a:t>UTAUT</a:t>
            </a:r>
            <a:pPr indent="0" marL="0">
              <a:buNone/>
            </a:pPr>
            <a:r>
              <a:rPr lang="en-US" sz="2400" dirty="0">
                <a:solidFill>
                  <a:schemeClr val="bg2"/>
                </a:solidFill>
              </a:rPr>
              <a:t> = manfaat + kemudahan + sosial + fasilitas</a:t>
            </a:r>
            <a:endParaRPr lang="en-US" sz="2400" dirty="0"/>
          </a:p>
        </p:txBody>
      </p:sp>
      <p:sp>
        <p:nvSpPr>
          <p:cNvPr id="6" name="Text 4"/>
          <p:cNvSpPr txBox="1"/>
          <p:nvPr/>
        </p:nvSpPr>
        <p:spPr>
          <a:xfrm>
            <a:off x="731520" y="4297680"/>
            <a:ext cx="548640" cy="73152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2</a:t>
            </a:r>
            <a:endParaRPr lang="en-US" sz="3600" dirty="0"/>
          </a:p>
        </p:txBody>
      </p:sp>
      <p:sp>
        <p:nvSpPr>
          <p:cNvPr id="7" name="Text 5"/>
          <p:cNvSpPr txBox="1"/>
          <p:nvPr/>
        </p:nvSpPr>
        <p:spPr>
          <a:xfrm>
            <a:off x="1371600" y="4343400"/>
            <a:ext cx="9966960" cy="685800"/>
          </a:xfrm>
          <a:prstGeom prst="rect">
            <a:avLst/>
          </a:prstGeom>
          <a:noFill/>
          <a:ln/>
        </p:spPr>
        <p:txBody>
          <a:bodyPr wrap="square" lIns="0" tIns="0" rIns="0" bIns="0" rtlCol="0" anchor="ctr"/>
          <a:lstStyle/>
          <a:p>
            <a:pPr indent="0" marL="0">
              <a:buNone/>
            </a:pPr>
            <a:r>
              <a:rPr lang="en-US" sz="2400" b="1" dirty="0">
                <a:solidFill>
                  <a:schemeClr val="accent2"/>
                </a:solidFill>
              </a:rPr>
              <a:t>UTAUT2</a:t>
            </a:r>
            <a:pPr indent="0" marL="0">
              <a:buNone/>
            </a:pPr>
            <a:r>
              <a:rPr lang="en-US" sz="2400" dirty="0">
                <a:solidFill>
                  <a:schemeClr val="bg2"/>
                </a:solidFill>
              </a:rPr>
              <a:t> = UTAUT + kesenangan + harga + kebiasaan</a:t>
            </a:r>
            <a:endParaRPr lang="en-US" sz="2400" dirty="0"/>
          </a:p>
        </p:txBody>
      </p:sp>
      <p:sp>
        <p:nvSpPr>
          <p:cNvPr id="8" name="Text 6"/>
          <p:cNvSpPr txBox="1"/>
          <p:nvPr/>
        </p:nvSpPr>
        <p:spPr>
          <a:xfrm>
            <a:off x="731520" y="5166360"/>
            <a:ext cx="548640" cy="73152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3</a:t>
            </a:r>
            <a:endParaRPr lang="en-US" sz="3600" dirty="0"/>
          </a:p>
        </p:txBody>
      </p:sp>
      <p:sp>
        <p:nvSpPr>
          <p:cNvPr id="9" name="Text 7"/>
          <p:cNvSpPr txBox="1"/>
          <p:nvPr/>
        </p:nvSpPr>
        <p:spPr>
          <a:xfrm>
            <a:off x="1371600" y="5212080"/>
            <a:ext cx="9966960" cy="685800"/>
          </a:xfrm>
          <a:prstGeom prst="rect">
            <a:avLst/>
          </a:prstGeom>
          <a:noFill/>
          <a:ln/>
        </p:spPr>
        <p:txBody>
          <a:bodyPr wrap="square" lIns="0" tIns="0" rIns="0" bIns="0" rtlCol="0" anchor="ctr"/>
          <a:lstStyle/>
          <a:p>
            <a:pPr indent="0" marL="0">
              <a:buNone/>
            </a:pPr>
            <a:r>
              <a:rPr lang="en-US" sz="2400" dirty="0">
                <a:solidFill>
                  <a:schemeClr val="bg2"/>
                </a:solidFill>
              </a:rPr>
              <a:t>Alurnya selalu: </a:t>
            </a:r>
            <a:pPr indent="0" marL="0">
              <a:buNone/>
            </a:pPr>
            <a:r>
              <a:rPr lang="en-US" sz="2400" b="1" dirty="0">
                <a:solidFill>
                  <a:schemeClr val="bg1"/>
                </a:solidFill>
              </a:rPr>
              <a:t>faktor → niat → penggunaan nyata</a:t>
            </a:r>
            <a:endParaRPr lang="en-US" sz="2400" dirty="0"/>
          </a:p>
        </p:txBody>
      </p:sp>
      <p:sp>
        <p:nvSpPr>
          <p:cNvPr id="11" name="Text 0"/>
          <p:cNvSpPr/>
          <p:nvPr>
            <p:ph idx="102" type="body" hasCustomPrompt="1"/>
          </p:nvPr>
        </p:nvSpPr>
        <p:spPr>
          <a:xfrm>
            <a:off x="731520" y="3383280"/>
            <a:ext cx="6035040" cy="1005840"/>
          </a:xfrm>
          <a:prstGeom prst="rect">
            <a:avLst/>
          </a:prstGeom>
          <a:noFill/>
          <a:ln/>
        </p:spPr>
        <p:txBody>
          <a:bodyPr wrap="square" lIns="0" tIns="0" rIns="0" bIns="0" rtlCol="0" anchor="t"/>
          <a:lstStyle/>
          <a:p>
            <a:pPr indent="0" marL="0">
              <a:buNone/>
            </a:pP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731520" y="1188720"/>
            <a:ext cx="10698480" cy="365760"/>
          </a:xfrm>
          <a:prstGeom prst="rect">
            <a:avLst/>
          </a:prstGeom>
          <a:noFill/>
          <a:ln/>
        </p:spPr>
        <p:txBody>
          <a:bodyPr wrap="square" lIns="0" tIns="0" rIns="0" bIns="0" rtlCol="0"/>
          <a:lstStyle/>
          <a:p>
            <a:pPr indent="0" marL="0">
              <a:buNone/>
            </a:pPr>
            <a:r>
              <a:rPr lang="en-US" sz="1400" b="1" spc="200" kern="0" dirty="0">
                <a:solidFill>
                  <a:schemeClr val="accent2"/>
                </a:solidFill>
              </a:rPr>
              <a:t>TERIMA KASIH</a:t>
            </a:r>
            <a:endParaRPr lang="en-US" sz="1400" dirty="0"/>
          </a:p>
        </p:txBody>
      </p:sp>
      <p:sp>
        <p:nvSpPr>
          <p:cNvPr id="3" name="Text 0"/>
          <p:cNvSpPr/>
          <p:nvPr>
            <p:ph idx="101" type="title" hasCustomPrompt="1"/>
          </p:nvPr>
        </p:nvSpPr>
        <p:spPr>
          <a:xfrm>
            <a:off x="731520" y="1645920"/>
            <a:ext cx="7315200" cy="2377440"/>
          </a:xfrm>
          <a:prstGeom prst="rect">
            <a:avLst/>
          </a:prstGeom>
          <a:noFill/>
          <a:ln/>
        </p:spPr>
        <p:txBody>
          <a:bodyPr wrap="square" lIns="0" tIns="0" rIns="0" bIns="0" rtlCol="0" anchor="t"/>
          <a:lstStyle/>
          <a:p>
            <a:pPr algn="l" indent="0" marL="0">
              <a:buNone/>
            </a:pPr>
            <a:r>
              <a:rPr lang="en-US" sz="4400" b="1" dirty="0">
                <a:solidFill>
                  <a:schemeClr val="bg1"/>
                </a:solidFill>
              </a:rPr>
              <a:t>Aplikasi apa yang kamu buka hari ini hanya karena kebiasaan?</a:t>
            </a:r>
            <a:endParaRPr lang="en-US" sz="4400" dirty="0"/>
          </a:p>
        </p:txBody>
      </p:sp>
      <p:sp>
        <p:nvSpPr>
          <p:cNvPr id="4" name="Text 0"/>
          <p:cNvSpPr/>
          <p:nvPr>
            <p:ph idx="102" type="body" hasCustomPrompt="1"/>
          </p:nvPr>
        </p:nvSpPr>
        <p:spPr>
          <a:xfrm>
            <a:off x="731520" y="4206240"/>
            <a:ext cx="6949440" cy="1097280"/>
          </a:xfrm>
          <a:prstGeom prst="rect">
            <a:avLst/>
          </a:prstGeom>
          <a:noFill/>
          <a:ln/>
        </p:spPr>
        <p:txBody>
          <a:bodyPr wrap="square" lIns="0" tIns="0" rIns="0" bIns="0" rtlCol="0" anchor="t"/>
          <a:lstStyle/>
          <a:p>
            <a:pPr indent="0" marL="0">
              <a:buNone/>
            </a:pPr>
            <a:r>
              <a:rPr lang="en-US" sz="2200" dirty="0">
                <a:solidFill>
                  <a:schemeClr val="bg2"/>
                </a:solidFill>
              </a:rPr>
              <a:t>Coba analisis dengan 7 faktor UTAUT2, lalu tulis jawabanmu di kolom komentar.</a:t>
            </a:r>
            <a:endParaRPr lang="en-US" sz="2200" dirty="0"/>
          </a:p>
        </p:txBody>
      </p:sp>
      <p:sp>
        <p:nvSpPr>
          <p:cNvPr id="5" name="Kebiasaan lingkaran"/>
          <p:cNvSpPr/>
          <p:nvPr/>
        </p:nvSpPr>
        <p:spPr>
          <a:xfrm>
            <a:off x="8595360" y="1737360"/>
            <a:ext cx="2560320" cy="2560320"/>
          </a:xfrm>
          <a:prstGeom prst="ellipse">
            <a:avLst/>
          </a:prstGeom>
          <a:solidFill>
            <a:schemeClr val="accent2"/>
          </a:solidFill>
          <a:ln/>
        </p:spPr>
      </p:sp>
      <p:pic>
        <p:nvPicPr>
          <p:cNvPr id="6" name="Kebiasaan ikon" descr="preencoded.png">    </p:cNvPr>
          <p:cNvPicPr>
            <a:picLocks noChangeAspect="1"/>
          </p:cNvPicPr>
          <p:nvPr/>
        </p:nvPicPr>
        <p:blipFill>
          <a:blip r:embed="rId1"/>
          <a:stretch>
            <a:fillRect/>
          </a:stretch>
        </p:blipFill>
        <p:spPr>
          <a:xfrm>
            <a:off x="9209837" y="2351837"/>
            <a:ext cx="1331366" cy="1331366"/>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LAMPIRAN</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Contoh butir kuesioner (skala Likert 1–7)</a:t>
            </a:r>
            <a:endParaRPr lang="en-US" sz="3400" dirty="0"/>
          </a:p>
        </p:txBody>
      </p:sp>
      <p:graphicFrame>
        <p:nvGraphicFramePr>
          <p:cNvPr id="32" name="Tabel indikator"/>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822960"/>
                <a:gridCol w="2651760"/>
                <a:gridCol w="7616952"/>
              </a:tblGrid>
              <a:tr h="502920">
                <a:tc>
                  <a:txBody>
                    <a:bodyPr/>
                    <a:lstStyle/>
                    <a:p>
                      <a:pPr indent="0" marL="0">
                        <a:buNone/>
                      </a:pPr>
                      <a:r>
                        <a:rPr lang="en-US" sz="1500" b="1" dirty="0">
                          <a:solidFill>
                            <a:schemeClr val="bg1"/>
                          </a:solidFill>
                        </a:rPr>
                        <a:t>Kode</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Konstruk</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Contoh pernyataan (adaptasi Venkatesh dkk., 2012)</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tx1"/>
                    </a:solidFill>
                  </a:tcPr>
                </a:tc>
              </a:tr>
              <a:tr h="502920">
                <a:tc>
                  <a:txBody>
                    <a:bodyPr/>
                    <a:lstStyle/>
                    <a:p>
                      <a:pPr algn="ctr" indent="0" marL="0">
                        <a:buNone/>
                      </a:pPr>
                      <a:r>
                        <a:rPr lang="en-US" sz="1500" b="1" dirty="0">
                          <a:solidFill>
                            <a:schemeClr val="accent1"/>
                          </a:solidFill>
                        </a:rPr>
                        <a:t>PE</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Performance Expectancy</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Saya merasa [aplikasi] berguna dalam kehidupan sehari-hari.</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r>
              <a:tr h="502920">
                <a:tc>
                  <a:txBody>
                    <a:bodyPr/>
                    <a:lstStyle/>
                    <a:p>
                      <a:pPr algn="ctr" indent="0" marL="0">
                        <a:buNone/>
                      </a:pPr>
                      <a:r>
                        <a:rPr lang="en-US" sz="1500" b="1" dirty="0">
                          <a:solidFill>
                            <a:schemeClr val="accent1"/>
                          </a:solidFill>
                        </a:rPr>
                        <a:t>EE</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Effort Expectancy</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Mempelajari cara menggunakan [aplikasi] mudah bagi saya.</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r>
              <a:tr h="502920">
                <a:tc>
                  <a:txBody>
                    <a:bodyPr/>
                    <a:lstStyle/>
                    <a:p>
                      <a:pPr algn="ctr" indent="0" marL="0">
                        <a:buNone/>
                      </a:pPr>
                      <a:r>
                        <a:rPr lang="en-US" sz="1500" b="1" dirty="0">
                          <a:solidFill>
                            <a:schemeClr val="accent1"/>
                          </a:solidFill>
                        </a:rPr>
                        <a:t>SI</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Social Influence</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Orang-orang yang penting bagi saya menyarankan saya menggunakan [aplikasi].</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r>
              <a:tr h="502920">
                <a:tc>
                  <a:txBody>
                    <a:bodyPr/>
                    <a:lstStyle/>
                    <a:p>
                      <a:pPr algn="ctr" indent="0" marL="0">
                        <a:buNone/>
                      </a:pPr>
                      <a:r>
                        <a:rPr lang="en-US" sz="1500" b="1" dirty="0">
                          <a:solidFill>
                            <a:schemeClr val="accent1"/>
                          </a:solidFill>
                        </a:rPr>
                        <a:t>FC</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Facilitating Conditions</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Saya memiliki sumber daya yang diperlukan untuk menggunakan [aplikasi].</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r>
              <a:tr h="502920">
                <a:tc>
                  <a:txBody>
                    <a:bodyPr/>
                    <a:lstStyle/>
                    <a:p>
                      <a:pPr algn="ctr" indent="0" marL="0">
                        <a:buNone/>
                      </a:pPr>
                      <a:r>
                        <a:rPr lang="en-US" sz="1500" b="1" dirty="0">
                          <a:solidFill>
                            <a:schemeClr val="accent2"/>
                          </a:solidFill>
                        </a:rPr>
                        <a:t>HM</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Hedonic Motivation</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Menggunakan [aplikasi] itu menyenangkan.</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r>
              <a:tr h="502920">
                <a:tc>
                  <a:txBody>
                    <a:bodyPr/>
                    <a:lstStyle/>
                    <a:p>
                      <a:pPr algn="ctr" indent="0" marL="0">
                        <a:buNone/>
                      </a:pPr>
                      <a:r>
                        <a:rPr lang="en-US" sz="1500" b="1" dirty="0">
                          <a:solidFill>
                            <a:schemeClr val="accent2"/>
                          </a:solidFill>
                        </a:rPr>
                        <a:t>PV</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Price Value</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[Aplikasi] memberikan nilai yang baik sesuai dengan harganya.</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r>
              <a:tr h="502920">
                <a:tc>
                  <a:txBody>
                    <a:bodyPr/>
                    <a:lstStyle/>
                    <a:p>
                      <a:pPr algn="ctr" indent="0" marL="0">
                        <a:buNone/>
                      </a:pPr>
                      <a:r>
                        <a:rPr lang="en-US" sz="1500" b="1" dirty="0">
                          <a:solidFill>
                            <a:schemeClr val="accent2"/>
                          </a:solidFill>
                        </a:rPr>
                        <a:t>HT</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rPr>
                        <a:t>Habit</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Menggunakan [aplikasi] sudah menjadi kebiasaan bagi saya.</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2"/>
                    </a:solidFill>
                  </a:tcPr>
                </a:tc>
              </a:tr>
              <a:tr h="502920">
                <a:tc>
                  <a:txBody>
                    <a:bodyPr/>
                    <a:lstStyle/>
                    <a:p>
                      <a:pPr algn="ctr" indent="0" marL="0">
                        <a:buNone/>
                      </a:pPr>
                      <a:r>
                        <a:rPr lang="en-US" sz="1500" b="1" dirty="0">
                          <a:solidFill>
                            <a:schemeClr val="tx2"/>
                          </a:solidFill>
                        </a:rPr>
                        <a:t>BI</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Behavioral Intention</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Saya berniat terus menggunakan [aplikasi] di masa mendatang.</a:t>
                      </a:r>
                      <a:endParaRPr lang="en-US" sz="1500" dirty="0"/>
                    </a:p>
                  </a:txBody>
                  <a:tcPr marL="109728" marR="109728" marT="36576" marB="36576" anchor="ctr">
                    <a:lnL w="9525" cap="flat" cmpd="sng" algn="ctr">
                      <a:solidFill>
                        <a:srgbClr val="D9D7E8"/>
                      </a:solidFill>
                      <a:prstDash val="solid"/>
                      <a:round/>
                      <a:headEnd type="none" w="med" len="med"/>
                      <a:tailEnd type="none" w="med" len="med"/>
                    </a:lnL>
                    <a:lnR w="9525" cap="flat" cmpd="sng" algn="ctr">
                      <a:solidFill>
                        <a:srgbClr val="D9D7E8"/>
                      </a:solidFill>
                      <a:prstDash val="solid"/>
                      <a:round/>
                      <a:headEnd type="none" w="med" len="med"/>
                      <a:tailEnd type="none" w="med" len="med"/>
                    </a:lnR>
                    <a:lnT w="9525" cap="flat" cmpd="sng" algn="ctr">
                      <a:solidFill>
                        <a:srgbClr val="D9D7E8"/>
                      </a:solidFill>
                      <a:prstDash val="solid"/>
                      <a:round/>
                      <a:headEnd type="none" w="med" len="med"/>
                      <a:tailEnd type="none" w="med" len="med"/>
                    </a:lnT>
                    <a:lnB w="9525" cap="flat" cmpd="sng" algn="ctr">
                      <a:solidFill>
                        <a:srgbClr val="D9D7E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11064240" cy="292608"/>
          </a:xfrm>
          <a:prstGeom prst="rect">
            <a:avLst/>
          </a:prstGeom>
          <a:noFill/>
          <a:ln/>
        </p:spPr>
        <p:txBody>
          <a:bodyPr wrap="square" lIns="0" tIns="0" rIns="0" bIns="0" rtlCol="0"/>
          <a:lstStyle/>
          <a:p>
            <a:pPr indent="0" marL="0">
              <a:buNone/>
            </a:pPr>
            <a:r>
              <a:rPr lang="en-US" sz="1200" b="1" spc="200" kern="0" dirty="0">
                <a:solidFill>
                  <a:schemeClr val="accent1"/>
                </a:solidFill>
              </a:rPr>
              <a:t>REFERENSI</a:t>
            </a:r>
            <a:endParaRPr lang="en-US" sz="1200" dirty="0"/>
          </a:p>
        </p:txBody>
      </p:sp>
      <p:sp>
        <p:nvSpPr>
          <p:cNvPr id="3" name="Text 1"/>
          <p:cNvSpPr/>
          <p:nvPr>
            <p:ph idx="102" type="title" hasCustomPrompt="1"/>
          </p:nvPr>
        </p:nvSpPr>
        <p:spPr>
          <a:xfrm>
            <a:off x="548640" y="640080"/>
            <a:ext cx="11064240" cy="685800"/>
          </a:xfrm>
          <a:prstGeom prst="rect">
            <a:avLst/>
          </a:prstGeom>
          <a:noFill/>
          <a:ln/>
        </p:spPr>
        <p:txBody>
          <a:bodyPr wrap="square" lIns="0" tIns="0" rIns="0" bIns="0" rtlCol="0" anchor="ctr"/>
          <a:lstStyle/>
          <a:p>
            <a:pPr algn="l" indent="0" marL="0">
              <a:buNone/>
            </a:pPr>
            <a:r>
              <a:rPr lang="en-US" sz="3400" b="1" dirty="0">
                <a:solidFill>
                  <a:schemeClr val="tx1"/>
                </a:solidFill>
              </a:rPr>
              <a:t>Daftar pustaka</a:t>
            </a:r>
            <a:endParaRPr lang="en-US" sz="3400" dirty="0"/>
          </a:p>
        </p:txBody>
      </p:sp>
      <p:sp>
        <p:nvSpPr>
          <p:cNvPr id="4" name="Referensi lingkaran"/>
          <p:cNvSpPr/>
          <p:nvPr/>
        </p:nvSpPr>
        <p:spPr>
          <a:xfrm>
            <a:off x="548640" y="1600200"/>
            <a:ext cx="640080" cy="640080"/>
          </a:xfrm>
          <a:prstGeom prst="ellipse">
            <a:avLst/>
          </a:prstGeom>
          <a:solidFill>
            <a:schemeClr val="tx2"/>
          </a:solidFill>
          <a:ln/>
        </p:spPr>
      </p:sp>
      <p:pic>
        <p:nvPicPr>
          <p:cNvPr id="5" name="Referensi ikon" descr="preencoded.png">    </p:cNvPr>
          <p:cNvPicPr>
            <a:picLocks noChangeAspect="1"/>
          </p:cNvPicPr>
          <p:nvPr/>
        </p:nvPicPr>
        <p:blipFill>
          <a:blip r:embed="rId1"/>
          <a:stretch>
            <a:fillRect/>
          </a:stretch>
        </p:blipFill>
        <p:spPr>
          <a:xfrm>
            <a:off x="702259" y="1753819"/>
            <a:ext cx="332842" cy="332842"/>
          </a:xfrm>
          <a:prstGeom prst="rect">
            <a:avLst/>
          </a:prstGeom>
        </p:spPr>
      </p:pic>
      <p:sp>
        <p:nvSpPr>
          <p:cNvPr id="6" name="Text 3"/>
          <p:cNvSpPr txBox="1"/>
          <p:nvPr/>
        </p:nvSpPr>
        <p:spPr>
          <a:xfrm>
            <a:off x="1463040" y="1600200"/>
            <a:ext cx="10149840" cy="44805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Venkatesh, V., Morris, M. G., Davis, G. B., &amp; Davis, F. D. (2003). User acceptance of information technology: Toward a unified view. MIS Quarterly, 27(3), 425–478.</a:t>
            </a:r>
            <a:endParaRPr lang="en-US" sz="1500" dirty="0"/>
          </a:p>
          <a:p>
            <a:pPr indent="0" marL="0">
              <a:spcAft>
                <a:spcPts val="1000"/>
              </a:spcAft>
              <a:buNone/>
            </a:pPr>
            <a:r>
              <a:rPr lang="en-US" sz="1500" dirty="0">
                <a:solidFill>
                  <a:schemeClr val="tx1"/>
                </a:solidFill>
              </a:rPr>
              <a:t>Venkatesh, V., Thong, J. Y. L., &amp; Xu, X. (2012). Consumer acceptance and use of information technology: Extending the unified theory of acceptance and use of technology. MIS Quarterly, 36(1), 157–178.</a:t>
            </a:r>
            <a:endParaRPr lang="en-US" sz="1500" dirty="0"/>
          </a:p>
          <a:p>
            <a:pPr indent="0" marL="0">
              <a:spcAft>
                <a:spcPts val="1000"/>
              </a:spcAft>
              <a:buNone/>
            </a:pPr>
            <a:r>
              <a:rPr lang="en-US" sz="1500" dirty="0">
                <a:solidFill>
                  <a:schemeClr val="tx1"/>
                </a:solidFill>
              </a:rPr>
              <a:t>Davis, F. D. (1989). Perceived usefulness, perceived ease of use, and user acceptance of information technology. MIS Quarterly, 13(3), 319–340.</a:t>
            </a:r>
            <a:endParaRPr lang="en-US" sz="1500" dirty="0"/>
          </a:p>
          <a:p>
            <a:pPr indent="0" marL="0">
              <a:spcAft>
                <a:spcPts val="1000"/>
              </a:spcAft>
              <a:buNone/>
            </a:pPr>
            <a:r>
              <a:rPr lang="en-US" sz="1500" dirty="0">
                <a:solidFill>
                  <a:schemeClr val="tx1"/>
                </a:solidFill>
              </a:rPr>
              <a:t>Ajzen, I. (1991). The theory of planned behavior. Organizational Behavior and Human Decision Processes, 50(2), 179–211.</a:t>
            </a:r>
            <a:endParaRPr lang="en-US" sz="1500" dirty="0"/>
          </a:p>
          <a:p>
            <a:pPr indent="0" marL="0">
              <a:spcAft>
                <a:spcPts val="1000"/>
              </a:spcAft>
              <a:buNone/>
            </a:pPr>
            <a:r>
              <a:rPr lang="en-US" sz="1500" dirty="0">
                <a:solidFill>
                  <a:schemeClr val="tx1"/>
                </a:solidFill>
              </a:rPr>
              <a:t>Rogers, E. M. (1995). Diffusion of Innovations (4th ed.). New York: Free Press.</a:t>
            </a:r>
            <a:endParaRPr lang="en-US" sz="1500" dirty="0"/>
          </a:p>
          <a:p>
            <a:pPr indent="0" marL="0">
              <a:spcAft>
                <a:spcPts val="1000"/>
              </a:spcAft>
              <a:buNone/>
            </a:pPr>
            <a:r>
              <a:rPr lang="en-US" sz="1500" dirty="0">
                <a:solidFill>
                  <a:schemeClr val="tx1"/>
                </a:solidFill>
              </a:rPr>
              <a:t>Compeau, D. R., &amp; Higgins, C. A. (1995). Computer self-efficacy: Development of a measure and initial test. MIS Quarterly, 19(2), 189–211.</a:t>
            </a:r>
            <a:endParaRPr lang="en-US" sz="15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UTAUT Ink">
  <a:themeElements>
    <a:clrScheme name="UTAUT Ink">
      <a:dk1>
        <a:srgbClr val="1C1A33"/>
      </a:dk1>
      <a:lt1>
        <a:srgbClr val="FFFFFF"/>
      </a:lt1>
      <a:dk2>
        <a:srgbClr val="2E2A5A"/>
      </a:dk2>
      <a:lt2>
        <a:srgbClr val="F1F0F7"/>
      </a:lt2>
      <a:accent1>
        <a:srgbClr val="0E9F9A"/>
      </a:accent1>
      <a:accent2>
        <a:srgbClr val="E8962E"/>
      </a:accent2>
      <a:accent3>
        <a:srgbClr val="E85D4A"/>
      </a:accent3>
      <a:accent4>
        <a:srgbClr val="6C5CE7"/>
      </a:accent4>
      <a:accent5>
        <a:srgbClr val="3FA34D"/>
      </a:accent5>
      <a:accent6>
        <a:srgbClr val="8A8AA3"/>
      </a:accent6>
      <a:hlink>
        <a:srgbClr val="0E9F9A"/>
      </a:hlink>
      <a:folHlink>
        <a:srgbClr val="6C5CE7"/>
      </a:folHlink>
    </a:clrScheme>
    <a:fontScheme name="UTAUT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UTAUT dan UTAUT2</dc:title>
  <dc:subject>Teori Penerimaan dan Penggunaan Teknologi</dc:subject>
  <dc:creator>S-Enigma</dc:creator>
  <cp:lastModifiedBy>S-Enigma</cp:lastModifiedBy>
  <cp:revision>1</cp:revision>
  <dcterms:created xsi:type="dcterms:W3CDTF">2026-10-07T13:37:58Z</dcterms:created>
  <dcterms:modified xsi:type="dcterms:W3CDTF">2026-10-07T13:37:58Z</dcterms:modified>
</cp:coreProperties>
</file>