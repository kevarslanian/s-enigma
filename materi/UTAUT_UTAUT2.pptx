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a02cf54-9cc1-ac9a-5dd5-69466bf20602}">
          <p14:sldIdLst>
            <p14:sldId id="256"/>
            <p14:sldId id="257"/>
          </p14:sldIdLst>
        </p14:section>
        <p14:section name="Pengantar" id="{74fcf520-b1ae-20ab-ff88-c29203cf7935}">
          <p14:sldIdLst>
            <p14:sldId id="258"/>
          </p14:sldIdLst>
        </p14:section>
        <p14:section name="UTAUT" id="{a953e500-6270-4bd7-d3a5-7cf033441ca7}">
          <p14:sldIdLst>
            <p14:sldId id="259"/>
            <p14:sldId id="260"/>
            <p14:sldId id="261"/>
            <p14:sldId id="262"/>
            <p14:sldId id="263"/>
            <p14:sldId id="264"/>
            <p14:sldId id="265"/>
            <p14:sldId id="266"/>
            <p14:sldId id="267"/>
          </p14:sldIdLst>
        </p14:section>
        <p14:section name="UTAUT2" id="{381d20db-8420-39eb-7900-af4426a60ae8}">
          <p14:sldIdLst>
            <p14:sldId id="268"/>
            <p14:sldId id="269"/>
            <p14:sldId id="270"/>
            <p14:sldId id="271"/>
            <p14:sldId id="272"/>
            <p14:sldId id="273"/>
          </p14:sldIdLst>
        </p14:section>
        <p14:section name="Perbandingan" id="{acbfde06-4b18-8780-6ace-13dfaf43f935}">
          <p14:sldIdLst>
            <p14:sldId id="274"/>
            <p14:sldId id="275"/>
            <p14:sldId id="276"/>
          </p14:sldIdLst>
        </p14:section>
        <p14:section name="Penutup" id="{c13d7cc8-5440-3f06-6271-36cc1f298177}">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1A33"/>
                </a:solidFill>
                <a:latin typeface="+mn-lt"/>
              </a:defRPr>
            </a:pPr>
            <a:r>
              <a:rPr sz="1400" b="0" i="0" u="none" strike="noStrike">
                <a:solidFill>
                  <a:srgbClr val="1C1A33"/>
                </a:solidFill>
                <a:latin typeface="+mn-lt"/>
              </a:rPr>
              <a:t>Varians yang dijelaskan (%)</a:t>
            </a:r>
          </a:p>
        </c:rich>
      </c:tx>
      <c:layout/>
      <c:overlay val="0"/>
    </c:title>
    <c:autoTitleDeleted val="0"/>
    <c:plotArea>
      <c:layout/>
      <c:barChart>
        <c:barDir val="col"/>
        <c:grouping val="clustered"/>
        <c:varyColors val="0"/>
        <c:ser>
          <c:idx val="0"/>
          <c:order val="0"/>
          <c:tx>
            <c:strRef>
              <c:f>Sheet1!$B$1</c:f>
              <c:strCache>
                <c:ptCount val="1"/>
                <c:pt idx="0">
                  <c:v>UTAUT</c:v>
                </c:pt>
              </c:strCache>
            </c:strRef>
          </c:tx>
          <c:spPr>
            <a:solidFill>
              <a:srgbClr val="8A8AA3"/>
            </a:solidFill>
            <a:effectLst/>
          </c:spPr>
          <c:invertIfNegative val="0"/>
          <c:dLbls>
            <c:numFmt formatCode="0&quot;%&quot;" sourceLinked="0"/>
            <c:txPr>
              <a:bodyPr/>
              <a:lstStyle/>
              <a:p>
                <a:pPr>
                  <a:defRPr b="1" i="0" strike="noStrike" sz="1400" u="none">
                    <a:solidFill>
                      <a:srgbClr val="1C1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Behavioral Intention</c:v>
                  </c:pt>
                  <c:pt idx="1">
                    <c:v>Use Behavior</c:v>
                  </c:pt>
                </c:lvl>
              </c:multiLvlStrCache>
            </c:multiLvlStrRef>
          </c:cat>
          <c:val>
            <c:numRef>
              <c:f>Sheet1!$B$2:$B$3</c:f>
              <c:numCache>
                <c:formatCode>General</c:formatCode>
                <c:ptCount val="2"/>
                <c:pt idx="0">
                  <c:v>56</c:v>
                </c:pt>
                <c:pt idx="1">
                  <c:v>40</c:v>
                </c:pt>
              </c:numCache>
            </c:numRef>
          </c:val>
        </c:ser>
        <c:ser>
          <c:idx val="1"/>
          <c:order val="1"/>
          <c:tx>
            <c:strRef>
              <c:f>Sheet1!$C$1</c:f>
              <c:strCache>
                <c:ptCount val="1"/>
                <c:pt idx="0">
                  <c:v>UTAUT2</c:v>
                </c:pt>
              </c:strCache>
            </c:strRef>
          </c:tx>
          <c:spPr>
            <a:solidFill>
              <a:srgbClr val="E8962E"/>
            </a:solidFill>
            <a:effectLst/>
          </c:spPr>
          <c:invertIfNegative val="0"/>
          <c:dLbls>
            <c:numFmt formatCode="0&quot;%&quot;" sourceLinked="0"/>
            <c:txPr>
              <a:bodyPr/>
              <a:lstStyle/>
              <a:p>
                <a:pPr>
                  <a:defRPr b="1" i="0" strike="noStrike" sz="1400" u="none">
                    <a:solidFill>
                      <a:srgbClr val="1C1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Behavioral Intention</c:v>
                  </c:pt>
                  <c:pt idx="1">
                    <c:v>Use Behavior</c:v>
                  </c:pt>
                </c:lvl>
              </c:multiLvlStrCache>
            </c:multiLvlStrRef>
          </c:cat>
          <c:val>
            <c:numRef>
              <c:f>Sheet1!$C$2:$C$3</c:f>
              <c:numCache>
                <c:formatCode>General</c:formatCode>
                <c:ptCount val="2"/>
                <c:pt idx="0">
                  <c:v>74</c:v>
                </c:pt>
                <c:pt idx="1">
                  <c:v>52</c:v>
                </c:pt>
              </c:numCache>
            </c:numRef>
          </c:val>
        </c:ser>
        <c:dLbls>
          <c:numFmt formatCode="0&quot;%&quot;" sourceLinked="0"/>
          <c:txPr>
            <a:bodyPr/>
            <a:lstStyle/>
            <a:p>
              <a:pPr>
                <a:defRPr b="1" i="0" strike="noStrike" sz="1400" u="none">
                  <a:solidFill>
                    <a:srgbClr val="1C1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E2A5A"/>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E2A5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 – OPENING.
Halo semuanya! Pernah nggak kalian install sebuah aplikasi, lalu tidak pernah membukanya lagi? Atau sebaliknya, ada aplikasi yang setiap hari kalian buka tanpa berpikir panjang? Di video ini kita akan membahas dua teori yang menjelaskan fenomena itu: UTAUT dan UTAUT2. Keduanya menjelaskan mengapa seseorang mau menerima, berniat menggunakan, lalu benar-benar menggunakan sebuah teknologi.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 (lanjutan) – PETA MATERI.
Kita akan mulai dari pengantar, lalu masuk ke UTAUT: asal-usulnya, empat faktor utamanya, dan moderatornya. Setelah itu kita bahas UTAUT2 yang menambahkan tiga faktor baru untuk konteks konsumen. Terakhir kita bandingkan UTAUT, UTAUT2, dan TAM, melihat contoh kuesionernya, lalu menutup dengan ringkasan.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2 – PENGANTAR.
Keberhasilan teknologi tidak hanya ditentukan oleh apakah sistemnya berfungsi. Teknologi juga harus diterima dan digunakan oleh manusia. Misalnya kampus membuat aplikasi pembayaran digital. Walaupun fiturnya lengkap, mahasiswa belum tentu mau memakainya. Muncul pertanyaan: apakah bermanfaat? mudah? didorong teman? fasilitasnya ada? menyenangkan? harganya sepadan? sudah jadi kebiasaan? Empat pertanyaan pertama dijawab oleh UTAUT, tiga terakhir ditambahkan oleh UTAUT2.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3 – MASUK KE UTAUT.
Kita mulai dari teori pertama: UTAUT, atau Unified Theory of Acceptance and Use of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3 – PENGERTIAN UTAUT.
UTAUT adalah model yang menjelaskan faktor-faktor yang membuat seseorang berniat menggunakan teknologi dan akhirnya benar-benar menggunakannya. Model ini diperkenalkan oleh Venkatesh, Morris, Davis, dan Davis pada tahun 2003 di jurnal MIS Quarterly. Mereka membandingkan delapan model penerimaan teknologi sebelumnya, lalu menggabungkannya. Hasilnya, UTAUT mampu menjelaskan sekitar 70 persen variasi niat menggunakan, jauh lebih tinggi dibanding model-model pendahulunya yang hanya 17 sampai 53 persen. Itulah sebabnya disebut Unified, artinya disatukan.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3 (lanjutan) – LATAR BELAKANG.
Sebelum UTAUT, sudah ada banyak teori. Venkatesh dan rekan-rekannya meninjau delapan model: TRA, TAM, Motivational Model, TPB, gabungan TAM-TPB, MPCU, Teori Difusi Inovasi, dan Teori Kognitif Sosial. Masing-masing punya istilah sendiri untuk konsep yang sebenarnya mirip. Misalnya 'perceived usefulness' di TAM, 'extrinsic motivation' di MM, dan 'relative advantage' di IDT, semuanya membicarakan manfaat. UTAUT menyatukan konsep-konsep yang mirip itu menjadi empat konstruk inti dan empat moderator.
Catatan perbaikan: draf awal hanya menyebut lima model (TAM, TPB, IDT, SCT, MPCU). Paper aslinya mengintegrasikan delapan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4 – MODEL UTAUT.
Ini struktur dasar UTAUT. Di kiri ada empat konstruk inti: Performance Expectancy, Effort Expectancy, Social Influence, dan Facilitating Conditions. Tiga yang pertama memengaruhi Behavioral Intention, yaitu niat menggunakan. Niat kemudian mendorong Use Behavior, yaitu penggunaan nyata. Facilitating Conditions berbeda: ia berpengaruh langsung ke Use Behavior, karena walaupun seseorang sudah berniat, ia tetap butuh perangkat, internet, dan dukungan untuk benar-benar memakai teknologi. Di atas ada empat moderator: gender, usia, pengalaman, dan kesukarelaan penggunaan.
Catatan: dalam studi asli, pengaruh FC terhadap niat tidak signifikan setelah PE dan EE dimasukkan, sehingga FC hanya diarahkan ke Use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5 – EMPAT KONSTRUK UTAUT.
Pertama, Performance Expectancy atau harapan kinerja: sejauh mana seseorang yakin teknologi membantu kinerjanya. Contoh: aplikasi AI yang mempercepat mencari informasi, atau e-wallet yang membuat pembayaran lebih cepat tanpa uang tunai.
Kedua, Effort Expectancy atau harapan usaha: seberapa mudah teknologi digunakan. Menu jelas, registrasi sederhana, sekali coba langsung paham.
Ketiga, Social Influence: sejauh mana orang penting di sekitar kita mendorong penggunaan. Misalnya teman bilang 'pakai aplikasi ini saja, lebih gampang', atau atasan mewajibkan sistem tertentu.
Keempat, Facilitating Conditions: tersedianya perangkat, internet, panduan, dan bantuan teknis. Sistem HRMS yang bagus bisa terhambat kalau komputer kantor lambat dan jaringan sering putus.
Tulisan kecil di bawah tiap kartu menunjukkan konsep dari teori lama yang disatukan ke dalam konstruk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5 (lanjutan) – NIAT VS PERILAKU.
Behavioral Intention adalah niat. Contohnya: 'Besok saya mau mulai pakai aplikasi investasi.' Itu belum berarti sudah dipakai. Use Behavior adalah penggunaan nyata, misalnya membuka mobile banking setiap minggu untuk transfer dan membayar tagihan. Dalam penelitian, Use Behavior biasanya diukur dari frekuensi atau intensitas penggunaan. Karena niat tidak selalu berubah jadi tindakan, UTAUT juga menghubungkan Facilitating Conditions langsung ke Use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6 – MODERATOR.
Moderator bukan penyebab langsung, tetapi mengubah kuat-lemahnya hubungan. UTAUT memiliki empat moderator: gender, usia, pengalaman, dan kesukarelaan. Tidak semua moderator berlaku di semua jalur. Pengaruh Performance Expectancy lebih kuat pada pria dan usia muda. Effort Expectancy lebih kuat pada wanita, usia lebih tua, dan pengguna yang masih baru. Social Influence dimoderasi keempatnya, dan paling kuat ketika penggunaan bersifat wajib. Facilitating Conditions terhadap penggunaan lebih kuat pada pekerja yang lebih tua dan berpengalaman.
Contoh mudah: dua orang memakai sistem yang sama; yang sudah terbiasa dengan sistem digital tidak terlalu memikirkan kemudahan, yang baru pertama kali sangat memikirkannya.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7 – STUDI KASUS UTAUT.
Misalkan universitas meluncurkan aplikasi CampusPay. Mahasiswa merasa pembayaran jadi lebih cepat, itu Performance Expectancy. Aplikasinya gampang dipakai, itu Effort Expectancy. Teman-temannya juga memakai, itu Social Influence. Mereka punya smartphone dan internet, itu Facilitating Conditions. Dari situ terbentuk niat: 'Saya ingin menggunakan CampusPay', itulah Behavioral Intention. Akhirnya mahasiswa benar-benar bertransaksi dengan CampusPay: Use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8 – TRANSISI KE UTAUT2.
UTAUT awalnya diuji pada konteks organisasi: sistem informasi perusahaan, ERP, HRMS, atau sistem akademik. Di sana motif utamanya produktivitas kerja, penggunaan sering diwajibkan, dan biayanya ditanggung organisasi. Namun sekarang teknologi banyak dipakai konsumen: e-commerce, mobile banking, streaming, game, e-wallet, transportasi online, dan media sosial. Konsumen memakai teknologi juga karena senang, mereka membayar sendiri, dan lama-kelamaan pemakaian menjadi kebiasaan. Tiga hal ini belum ditangkap UTAUT. Dari kebutuhan inilah lahir UTAUT2.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8 (lanjutan) – MASUK KE UTAUT2.
Sekarang kita masuk ke UTAUT2, perluasan UTAUT untuk konteks konsumen.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9 – PENGERTIAN UTAUT2.
Pada tahun 2012, Venkatesh, Thong, dan Xu mengembangkan UTAUT menjadi UTAUT2, khusus untuk konteks konsumen. Penelitian aslinya dilakukan pada pengguna mobile internet di Hong Kong, melibatkan 1.512 responden dalam dua tahap survei. UTAUT2 mempertahankan empat konstruk UTAUT dan menambahkan tiga: Hedonic Motivation, Price Value, dan Habit. Hasilnya, kemampuan model menjelaskan niat naik dari 56 menjadi 74 persen, dan menjelaskan penggunaan naik dari 40 menjadi 52 persen. Moderator kesukarelaan dihapus karena pada konsumen penggunaan umumnya sudah sukarela.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10 – TIGA KONSTRUK BARU.
Hedonic Motivation adalah rasa senang saat memakai teknologi. Orang main game bukan karena produktif, tapi karena seru. Orang terus scroll TikTok karena menghibur.
Price Value adalah pertimbangan antara manfaat dan biaya. Kalau langganan streaming Rp60.000 per bulan terasa sepadan dengan banyaknya film, tanpa iklan, dan kualitas bagus, maka Price Value positif. Kalau terasa kemahalan, Price Value rendah. Ini penting karena konsumen membayar dengan uangnya sendiri.
Habit adalah sejauh mana pemakaian terjadi otomatis. Bangun tidur langsung buka WhatsApp, mau bayar langsung buka mobile banking. Habit unik karena memengaruhi niat sekaligus langsung memengaruhi penggunaan.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11 – MODEL UTAUT2.
Ini model UTAUT2. Ada tujuh konstruk: empat dari UTAUT berwarna teal, tiga yang baru berwarna oranye. Ketujuhnya mengarah ke Behavioral Intention, termasuk Facilitating Conditions yang di UTAUT2 juga memengaruhi niat. Niat kemudian mengarah ke Use Behavior. Ada dua jalur langsung ke Use Behavior, yaitu dari Facilitating Conditions dan dari Habit. Moderatornya tinggal tiga: usia, gender, dan pengalaman. Voluntariness dihapus karena penggunaan oleh konsumen umumnya sudah sukarela.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11 (lanjutan) – MODERATOR UTAUT2.
Di UTAUT2, usia, gender, dan pengalaman memoderasi jalur-jalur baru. Misalnya, pengaruh Hedonic Motivation lebih kuat pada pria muda yang baru mulai memakai teknologi. Price Value lebih penting bagi wanita yang lebih tua. Habit lebih kuat pada pria yang lebih tua dan sudah berpengalaman. Yang menarik, hubungan niat ke penggunaan justru melemah seiring pengalaman, karena perilaku makin digerakkan oleh kebiasaan. Untuk pengguna baru, pertanyaan 'mudah atau tidak?' sangat penting; untuk pengguna berpengalaman, tidak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12 – STUDI KASUS UTAUT2.
Mengapa orang berlangganan Spotify Premium? Spotify memudahkan mencari musik (Performance Expectancy), mudah digunakan (Effort Expectancy), teman-teman juga memakainya (Social Influence), HP dan internet mendukung (Facilitating Conditions). Lalu tiga faktor UTAUT2: menyenangkan (Hedonic Motivation), harganya sepadan (Price Value), dan sudah terbiasa membukanya setiap hari (Habit). Hasilnya pengguna ingin terus berlangganan, dan benar-benar memakainya secara rutin.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13 – PERBANDINGAN.
UTAUT dibuat tahun 2003 untuk konteks organisasi, UTAUT2 tahun 2012 untuk konteks konsumen. UTAUT punya empat konstruk, UTAUT2 tujuh. UTAUT punya empat moderator, UTAUT2 tiga karena voluntariness dihapus. Di UTAUT, jalur langsung ke penggunaan hanya dari Facilitating Conditions dan niat; di UTAUT2 bertambah Habit. Facilitating Conditions di UTAUT2 juga memengaruhi niat. Cara paling mudah mengingatnya: UTAUT punya empat faktor, UTAUT2 menambahkan tiga.
Catatan: angka 56% dan 74% berasal dari data yang sama di studi 2012 (UTAUT dibandingkan UTAUT2), sedangkan ±70% berasal dari studi 2003 di konteks organisasi.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13 (lanjutan) – UTAUT VS TAM.
Kalau sebelumnya kalian sudah belajar TAM, konsepnya mirip. Perceived Usefulness di TAM setara dengan Performance Expectancy. Perceived Ease of Use setara dengan Effort Expectancy. Norma subjektif dari TAM2 diperluas menjadi Social Influence. UTAUT menambahkan Facilitating Conditions dan empat moderator. Menariknya, variabel sikap atau attitude dari TAM tidak dipakai di UTAUT, karena pengaruhnya tidak signifikan setelah PE dan EE dimasukkan. Jadi UTAUT adalah perluasan yang lebih komprehensif dari 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 PENERAPAN.
Kalau UTAUT atau UTAUT2 dipakai dalam penelitian, setiap konstruk diukur dengan beberapa pernyataan kuesioner. Responden menilai dengan skala Likert, misalnya 1 sangat tidak setuju sampai 7 sangat setuju. Ini contoh satu butir untuk tiap konstruk; dalam penelitian sebenarnya setiap konstruk biasanya punya tiga sampai empat butir. Use Behavior biasanya diukur dari frekuensi penggunaan, misalnya seberapa sering aplikasi dibuka dalam seminggu.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14 – CARA MENGINGAT.
Cara paling mudah mengingat UTAUT adalah empat pertanyaan: Berguna tidak? Mudah tidak? Didorong orang lain tidak? Fasilitasnya mendukung tidak? UTAUT2 mempertahankan empat pertanyaan itu, lalu menambahkan tiga: Menyenangkan tidak? Harganya sepadan tidak? Sudah jadi kebiasaan tidak? Kalau jawabannya mendukung, terbentuk niat, lalu penggunaan nyata.
UTAUT = manfaat + kemudahan + sosial + fasilitas. UTAUT2 = UTAUT + kesenangan + harga + kebiasaan.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15 – CLOSING.
Jadi, UTAUT adalah model penerimaan teknologi dari Venkatesh dan rekan-rekan tahun 2003. Model ini menyatukan delapan teori menjadi empat faktor inti: Performance Expectancy, Effort Expectancy, Social Influence, dan Facilitating Conditions, yang membentuk niat dan penggunaan nyata. Tahun 2012, UTAUT dikembangkan menjadi UTAUT2 untuk konteks konsumen dengan menambahkan Hedonic Motivation, Price Value, dan Habit. Singkatnya: UTAUT menjawab mengapa seseorang mau menggunakan teknologi, dan UTAUT2 memperluasnya dengan mempertimbangkan kesenangan, biaya, dan kebiasaan konsumen. Terima kasih sudah menonton!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pustaka utama yang digunakan dalam materi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828800"/>
            <a:ext cx="1069848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383280"/>
            <a:ext cx="603504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mbatas Bagia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280160"/>
          </a:xfrm>
          <a:prstGeom prst="rect">
            <a:avLst/>
          </a:prstGeom>
          <a:noFill/>
          <a:ln/>
        </p:spPr>
        <p:txBody>
          <a:bodyPr wrap="square" rtlCol="0"/>
          <a:lstStyle>
            <a:lvl1pPr indent="0" marL="0">
              <a:buNone/>
              <a:defRPr lang="en-US" sz="8000" b="1" dirty="0">
                <a:solidFill>
                  <a:schemeClr val="accent1"/>
                </a:solidFill>
                <a:latin typeface="Cambria" pitchFamily="34" charset="0"/>
                <a:ea typeface="Cambria" pitchFamily="34" charset="-122"/>
                <a:cs typeface="Cambria" pitchFamily="34" charset="-120"/>
              </a:defRPr>
            </a:lvl1pPr>
          </a:lstStyle>
          <a:p>
            <a:pPr indent="0" marL="0">
              <a:buNone/>
            </a:pPr>
            <a:endParaRPr lang="en-US" sz="8000" dirty="0"/>
          </a:p>
        </p:txBody>
      </p:sp>
      <p:sp>
        <p:nvSpPr>
          <p:cNvPr id="3" name="Text 0"/>
          <p:cNvSpPr/>
          <p:nvPr>
            <p:ph idx="101" type="title" hasCustomPrompt="1"/>
          </p:nvPr>
        </p:nvSpPr>
        <p:spPr>
          <a:xfrm>
            <a:off x="731520" y="2743200"/>
            <a:ext cx="77724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886200"/>
            <a:ext cx="77724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UTAUT &amp; UTAUT2 · Teori Penerimaan Teknologi</a:t>
            </a:r>
            <a:endParaRPr lang="en-US" sz="1000" dirty="0"/>
          </a:p>
        </p:txBody>
      </p:sp>
      <p:sp>
        <p:nvSpPr>
          <p:cNvPr id="3" name="Text 1"/>
          <p:cNvSpPr/>
          <p:nvPr>
            <p:ph idx="101" type="body" hasCustomPrompt="1"/>
          </p:nvPr>
        </p:nvSpPr>
        <p:spPr>
          <a:xfrm>
            <a:off x="548640" y="347472"/>
            <a:ext cx="1106424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640080"/>
            <a:ext cx="1106424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4-1.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4.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4.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365760"/>
          </a:xfrm>
          <a:prstGeom prst="rect">
            <a:avLst/>
          </a:prstGeom>
          <a:noFill/>
          <a:ln/>
        </p:spPr>
        <p:txBody>
          <a:bodyPr wrap="square" lIns="0" tIns="0" rIns="0" bIns="0" rtlCol="0"/>
          <a:lstStyle/>
          <a:p>
            <a:pPr indent="0" marL="0">
              <a:buNone/>
            </a:pPr>
            <a:r>
              <a:rPr lang="en-US" sz="1400" b="1" spc="200" kern="0" dirty="0">
                <a:solidFill>
                  <a:schemeClr val="accent1"/>
                </a:solidFill>
              </a:rPr>
              <a:t>MATERI VIDEO PEMBELAJARAN</a:t>
            </a:r>
            <a:endParaRPr lang="en-US" sz="1400" dirty="0"/>
          </a:p>
        </p:txBody>
      </p:sp>
      <p:sp>
        <p:nvSpPr>
          <p:cNvPr id="3" name="Text 0"/>
          <p:cNvSpPr/>
          <p:nvPr>
            <p:ph idx="101" type="title" hasCustomPrompt="1"/>
          </p:nvPr>
        </p:nvSpPr>
        <p:spPr>
          <a:xfrm>
            <a:off x="731520" y="1828800"/>
            <a:ext cx="10698480" cy="1463040"/>
          </a:xfrm>
          <a:prstGeom prst="rect">
            <a:avLst/>
          </a:prstGeom>
          <a:noFill/>
          <a:ln/>
        </p:spPr>
        <p:txBody>
          <a:bodyPr wrap="square" lIns="0" tIns="0" rIns="0" bIns="0" rtlCol="0" anchor="ctr"/>
          <a:lstStyle/>
          <a:p>
            <a:pPr algn="l" indent="0" marL="0">
              <a:buNone/>
            </a:pPr>
            <a:r>
              <a:rPr lang="en-US" sz="6000" b="1" dirty="0">
                <a:solidFill>
                  <a:schemeClr val="bg1"/>
                </a:solidFill>
              </a:rPr>
              <a:t>UTAUT &amp; UTAUT2</a:t>
            </a:r>
            <a:endParaRPr lang="en-US" sz="6000" dirty="0"/>
          </a:p>
        </p:txBody>
      </p:sp>
      <p:sp>
        <p:nvSpPr>
          <p:cNvPr id="4" name="Text 0"/>
          <p:cNvSpPr/>
          <p:nvPr>
            <p:ph idx="102" type="body" hasCustomPrompt="1"/>
          </p:nvPr>
        </p:nvSpPr>
        <p:spPr>
          <a:xfrm>
            <a:off x="731520" y="3383280"/>
            <a:ext cx="6035040" cy="1005840"/>
          </a:xfrm>
          <a:prstGeom prst="rect">
            <a:avLst/>
          </a:prstGeom>
          <a:noFill/>
          <a:ln/>
        </p:spPr>
        <p:txBody>
          <a:bodyPr wrap="square" lIns="0" tIns="0" rIns="0" bIns="0" rtlCol="0" anchor="t"/>
          <a:lstStyle/>
          <a:p>
            <a:pPr indent="0" marL="0">
              <a:buNone/>
            </a:pPr>
            <a:r>
              <a:rPr lang="en-US" sz="2000" dirty="0">
                <a:solidFill>
                  <a:schemeClr val="bg2"/>
                </a:solidFill>
              </a:rPr>
              <a:t>Mengapa seseorang mau menerima, berniat, lalu benar-benar menggunakan sebuah teknologi?</a:t>
            </a:r>
            <a:endParaRPr lang="en-US" sz="2000" dirty="0"/>
          </a:p>
        </p:txBody>
      </p:sp>
      <p:sp>
        <p:nvSpPr>
          <p:cNvPr id="5" name="Text 3"/>
          <p:cNvSpPr txBox="1"/>
          <p:nvPr/>
        </p:nvSpPr>
        <p:spPr>
          <a:xfrm>
            <a:off x="731520" y="5760720"/>
            <a:ext cx="6858000" cy="320040"/>
          </a:xfrm>
          <a:prstGeom prst="rect">
            <a:avLst/>
          </a:prstGeom>
          <a:noFill/>
          <a:ln/>
        </p:spPr>
        <p:txBody>
          <a:bodyPr wrap="square" lIns="0" tIns="0" rIns="0" bIns="0" rtlCol="0" anchor="t"/>
          <a:lstStyle/>
          <a:p>
            <a:pPr indent="0" marL="0">
              <a:buNone/>
            </a:pPr>
            <a:r>
              <a:rPr lang="en-US" sz="1200" dirty="0">
                <a:solidFill>
                  <a:schemeClr val="accent6"/>
                </a:solidFill>
              </a:rPr>
              <a:t>Venkatesh, Morris, Davis &amp; Davis (2003)  ·  Venkatesh, Thong &amp; Xu (2012)</a:t>
            </a:r>
            <a:endParaRPr lang="en-US" sz="1200" dirty="0"/>
          </a:p>
        </p:txBody>
      </p:sp>
      <p:sp>
        <p:nvSpPr>
          <p:cNvPr id="6" name="Konstruk pe lingkaran"/>
          <p:cNvSpPr/>
          <p:nvPr/>
        </p:nvSpPr>
        <p:spPr>
          <a:xfrm>
            <a:off x="7543800" y="3977640"/>
            <a:ext cx="868680" cy="868680"/>
          </a:xfrm>
          <a:prstGeom prst="ellipse">
            <a:avLst/>
          </a:prstGeom>
          <a:solidFill>
            <a:schemeClr val="accent1"/>
          </a:solidFill>
          <a:ln/>
        </p:spPr>
      </p:sp>
      <p:pic>
        <p:nvPicPr>
          <p:cNvPr id="7" name="Konstruk pe ikon" descr="preencoded.png">    </p:cNvPr>
          <p:cNvPicPr>
            <a:picLocks noChangeAspect="1"/>
          </p:cNvPicPr>
          <p:nvPr/>
        </p:nvPicPr>
        <p:blipFill>
          <a:blip r:embed="rId1"/>
          <a:stretch>
            <a:fillRect/>
          </a:stretch>
        </p:blipFill>
        <p:spPr>
          <a:xfrm>
            <a:off x="7752283" y="4186123"/>
            <a:ext cx="451714" cy="451714"/>
          </a:xfrm>
          <a:prstGeom prst="rect">
            <a:avLst/>
          </a:prstGeom>
        </p:spPr>
      </p:pic>
      <p:sp>
        <p:nvSpPr>
          <p:cNvPr id="8" name="Konstruk ee lingkaran"/>
          <p:cNvSpPr/>
          <p:nvPr/>
        </p:nvSpPr>
        <p:spPr>
          <a:xfrm>
            <a:off x="8595360" y="3977640"/>
            <a:ext cx="868680" cy="868680"/>
          </a:xfrm>
          <a:prstGeom prst="ellipse">
            <a:avLst/>
          </a:prstGeom>
          <a:solidFill>
            <a:schemeClr val="accent1"/>
          </a:solidFill>
          <a:ln/>
        </p:spPr>
      </p:sp>
      <p:pic>
        <p:nvPicPr>
          <p:cNvPr id="9" name="Konstruk ee ikon" descr="preencoded.png">    </p:cNvPr>
          <p:cNvPicPr>
            <a:picLocks noChangeAspect="1"/>
          </p:cNvPicPr>
          <p:nvPr/>
        </p:nvPicPr>
        <p:blipFill>
          <a:blip r:embed="rId2"/>
          <a:stretch>
            <a:fillRect/>
          </a:stretch>
        </p:blipFill>
        <p:spPr>
          <a:xfrm>
            <a:off x="8803843" y="4186123"/>
            <a:ext cx="451714" cy="451714"/>
          </a:xfrm>
          <a:prstGeom prst="rect">
            <a:avLst/>
          </a:prstGeom>
        </p:spPr>
      </p:pic>
      <p:sp>
        <p:nvSpPr>
          <p:cNvPr id="10" name="Konstruk si lingkaran"/>
          <p:cNvSpPr/>
          <p:nvPr/>
        </p:nvSpPr>
        <p:spPr>
          <a:xfrm>
            <a:off x="9646920" y="3977640"/>
            <a:ext cx="868680" cy="868680"/>
          </a:xfrm>
          <a:prstGeom prst="ellipse">
            <a:avLst/>
          </a:prstGeom>
          <a:solidFill>
            <a:schemeClr val="accent1"/>
          </a:solidFill>
          <a:ln/>
        </p:spPr>
      </p:sp>
      <p:pic>
        <p:nvPicPr>
          <p:cNvPr id="11" name="Konstruk si ikon" descr="preencoded.png">    </p:cNvPr>
          <p:cNvPicPr>
            <a:picLocks noChangeAspect="1"/>
          </p:cNvPicPr>
          <p:nvPr/>
        </p:nvPicPr>
        <p:blipFill>
          <a:blip r:embed="rId3"/>
          <a:stretch>
            <a:fillRect/>
          </a:stretch>
        </p:blipFill>
        <p:spPr>
          <a:xfrm>
            <a:off x="9855403" y="4186123"/>
            <a:ext cx="451714" cy="451714"/>
          </a:xfrm>
          <a:prstGeom prst="rect">
            <a:avLst/>
          </a:prstGeom>
        </p:spPr>
      </p:pic>
      <p:sp>
        <p:nvSpPr>
          <p:cNvPr id="12" name="Konstruk fc lingkaran"/>
          <p:cNvSpPr/>
          <p:nvPr/>
        </p:nvSpPr>
        <p:spPr>
          <a:xfrm>
            <a:off x="10698480" y="3977640"/>
            <a:ext cx="868680" cy="868680"/>
          </a:xfrm>
          <a:prstGeom prst="ellipse">
            <a:avLst/>
          </a:prstGeom>
          <a:solidFill>
            <a:schemeClr val="accent1"/>
          </a:solidFill>
          <a:ln/>
        </p:spPr>
      </p:sp>
      <p:pic>
        <p:nvPicPr>
          <p:cNvPr id="13" name="Konstruk fc ikon" descr="preencoded.png">    </p:cNvPr>
          <p:cNvPicPr>
            <a:picLocks noChangeAspect="1"/>
          </p:cNvPicPr>
          <p:nvPr/>
        </p:nvPicPr>
        <p:blipFill>
          <a:blip r:embed="rId4"/>
          <a:stretch>
            <a:fillRect/>
          </a:stretch>
        </p:blipFill>
        <p:spPr>
          <a:xfrm>
            <a:off x="10906963" y="4186123"/>
            <a:ext cx="451714" cy="451714"/>
          </a:xfrm>
          <a:prstGeom prst="rect">
            <a:avLst/>
          </a:prstGeom>
        </p:spPr>
      </p:pic>
      <p:sp>
        <p:nvSpPr>
          <p:cNvPr id="14" name="Konstruk hm lingkaran"/>
          <p:cNvSpPr/>
          <p:nvPr/>
        </p:nvSpPr>
        <p:spPr>
          <a:xfrm>
            <a:off x="8069580" y="5029200"/>
            <a:ext cx="868680" cy="868680"/>
          </a:xfrm>
          <a:prstGeom prst="ellipse">
            <a:avLst/>
          </a:prstGeom>
          <a:solidFill>
            <a:schemeClr val="accent2"/>
          </a:solidFill>
          <a:ln/>
        </p:spPr>
      </p:sp>
      <p:pic>
        <p:nvPicPr>
          <p:cNvPr id="15" name="Konstruk hm ikon" descr="preencoded.png">    </p:cNvPr>
          <p:cNvPicPr>
            <a:picLocks noChangeAspect="1"/>
          </p:cNvPicPr>
          <p:nvPr/>
        </p:nvPicPr>
        <p:blipFill>
          <a:blip r:embed="rId5"/>
          <a:stretch>
            <a:fillRect/>
          </a:stretch>
        </p:blipFill>
        <p:spPr>
          <a:xfrm>
            <a:off x="8278063" y="5237683"/>
            <a:ext cx="451714" cy="451714"/>
          </a:xfrm>
          <a:prstGeom prst="rect">
            <a:avLst/>
          </a:prstGeom>
        </p:spPr>
      </p:pic>
      <p:sp>
        <p:nvSpPr>
          <p:cNvPr id="16" name="Konstruk pv lingkaran"/>
          <p:cNvSpPr/>
          <p:nvPr/>
        </p:nvSpPr>
        <p:spPr>
          <a:xfrm>
            <a:off x="9121140" y="5029200"/>
            <a:ext cx="868680" cy="868680"/>
          </a:xfrm>
          <a:prstGeom prst="ellipse">
            <a:avLst/>
          </a:prstGeom>
          <a:solidFill>
            <a:schemeClr val="accent2"/>
          </a:solidFill>
          <a:ln/>
        </p:spPr>
      </p:sp>
      <p:pic>
        <p:nvPicPr>
          <p:cNvPr id="17" name="Konstruk pv ikon" descr="preencoded.png">    </p:cNvPr>
          <p:cNvPicPr>
            <a:picLocks noChangeAspect="1"/>
          </p:cNvPicPr>
          <p:nvPr/>
        </p:nvPicPr>
        <p:blipFill>
          <a:blip r:embed="rId6"/>
          <a:stretch>
            <a:fillRect/>
          </a:stretch>
        </p:blipFill>
        <p:spPr>
          <a:xfrm>
            <a:off x="9329623" y="5237683"/>
            <a:ext cx="451714" cy="451714"/>
          </a:xfrm>
          <a:prstGeom prst="rect">
            <a:avLst/>
          </a:prstGeom>
        </p:spPr>
      </p:pic>
      <p:sp>
        <p:nvSpPr>
          <p:cNvPr id="18" name="Konstruk ht lingkaran"/>
          <p:cNvSpPr/>
          <p:nvPr/>
        </p:nvSpPr>
        <p:spPr>
          <a:xfrm>
            <a:off x="10172700" y="5029200"/>
            <a:ext cx="868680" cy="868680"/>
          </a:xfrm>
          <a:prstGeom prst="ellipse">
            <a:avLst/>
          </a:prstGeom>
          <a:solidFill>
            <a:schemeClr val="accent2"/>
          </a:solidFill>
          <a:ln/>
        </p:spPr>
      </p:sp>
      <p:pic>
        <p:nvPicPr>
          <p:cNvPr id="19" name="Konstruk ht ikon" descr="preencoded.png">    </p:cNvPr>
          <p:cNvPicPr>
            <a:picLocks noChangeAspect="1"/>
          </p:cNvPicPr>
          <p:nvPr/>
        </p:nvPicPr>
        <p:blipFill>
          <a:blip r:embed="rId7"/>
          <a:stretch>
            <a:fillRect/>
          </a:stretch>
        </p:blipFill>
        <p:spPr>
          <a:xfrm>
            <a:off x="10381183" y="5237683"/>
            <a:ext cx="451714" cy="451714"/>
          </a:xfrm>
          <a:prstGeom prst="rect">
            <a:avLst/>
          </a:prstGeom>
        </p:spPr>
      </p:pic>
      <p:sp>
        <p:nvSpPr>
          <p:cNvPr id="20" name="Text 11"/>
          <p:cNvSpPr txBox="1"/>
          <p:nvPr/>
        </p:nvSpPr>
        <p:spPr>
          <a:xfrm>
            <a:off x="7543800" y="3566160"/>
            <a:ext cx="4023360" cy="274320"/>
          </a:xfrm>
          <a:prstGeom prst="rect">
            <a:avLst/>
          </a:prstGeom>
          <a:noFill/>
          <a:ln/>
        </p:spPr>
        <p:txBody>
          <a:bodyPr wrap="square" lIns="0" tIns="0" rIns="0" bIns="0" rtlCol="0" anchor="t"/>
          <a:lstStyle/>
          <a:p>
            <a:pPr indent="0" marL="0">
              <a:buNone/>
            </a:pPr>
            <a:r>
              <a:rPr lang="en-US" sz="1200" b="1" dirty="0">
                <a:solidFill>
                  <a:schemeClr val="bg2"/>
                </a:solidFill>
              </a:rPr>
              <a:t>4 konstruk UTAUT  ·  +3 konstruk UTAUT2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ALUR MATERI</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Apa yang akan kita pelajari</a:t>
            </a:r>
            <a:endParaRPr lang="en-US" sz="3400" dirty="0"/>
          </a:p>
        </p:txBody>
      </p:sp>
      <p:sp>
        <p:nvSpPr>
          <p:cNvPr id="4" name="Langkah 01"/>
          <p:cNvSpPr/>
          <p:nvPr/>
        </p:nvSpPr>
        <p:spPr>
          <a:xfrm>
            <a:off x="548640" y="1600200"/>
            <a:ext cx="3520440" cy="2148840"/>
          </a:xfrm>
          <a:prstGeom prst="roundRect">
            <a:avLst>
              <a:gd name="adj" fmla="val 5106"/>
            </a:avLst>
          </a:prstGeom>
          <a:solidFill>
            <a:schemeClr val="bg2"/>
          </a:solidFill>
          <a:ln/>
        </p:spPr>
      </p:sp>
      <p:sp>
        <p:nvSpPr>
          <p:cNvPr id="5" name="Text 3"/>
          <p:cNvSpPr txBox="1"/>
          <p:nvPr/>
        </p:nvSpPr>
        <p:spPr>
          <a:xfrm>
            <a:off x="868680" y="1874520"/>
            <a:ext cx="13716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01</a:t>
            </a:r>
            <a:endParaRPr lang="en-US" sz="3600" dirty="0"/>
          </a:p>
        </p:txBody>
      </p:sp>
      <p:sp>
        <p:nvSpPr>
          <p:cNvPr id="6" name="Text 4"/>
          <p:cNvSpPr txBox="1"/>
          <p:nvPr/>
        </p:nvSpPr>
        <p:spPr>
          <a:xfrm>
            <a:off x="868680" y="2560320"/>
            <a:ext cx="2880360" cy="365760"/>
          </a:xfrm>
          <a:prstGeom prst="rect">
            <a:avLst/>
          </a:prstGeom>
          <a:noFill/>
          <a:ln/>
        </p:spPr>
        <p:txBody>
          <a:bodyPr wrap="square" lIns="0" tIns="0" rIns="0" bIns="0" rtlCol="0" anchor="t"/>
          <a:lstStyle/>
          <a:p>
            <a:pPr indent="0" marL="0">
              <a:buNone/>
            </a:pPr>
            <a:r>
              <a:rPr lang="en-US" sz="2000" b="1" dirty="0">
                <a:solidFill>
                  <a:schemeClr val="tx1"/>
                </a:solidFill>
              </a:rPr>
              <a:t>Pengantar</a:t>
            </a:r>
            <a:endParaRPr lang="en-US" sz="2000" dirty="0"/>
          </a:p>
        </p:txBody>
      </p:sp>
      <p:sp>
        <p:nvSpPr>
          <p:cNvPr id="7" name="Text 5"/>
          <p:cNvSpPr txBox="1"/>
          <p:nvPr/>
        </p:nvSpPr>
        <p:spPr>
          <a:xfrm>
            <a:off x="868680" y="2971800"/>
            <a:ext cx="2880360" cy="640080"/>
          </a:xfrm>
          <a:prstGeom prst="rect">
            <a:avLst/>
          </a:prstGeom>
          <a:noFill/>
          <a:ln/>
        </p:spPr>
        <p:txBody>
          <a:bodyPr wrap="square" lIns="0" tIns="0" rIns="0" bIns="0" rtlCol="0" anchor="t"/>
          <a:lstStyle/>
          <a:p>
            <a:pPr indent="0" marL="0">
              <a:buNone/>
            </a:pPr>
            <a:r>
              <a:rPr lang="en-US" sz="1400" dirty="0">
                <a:solidFill>
                  <a:schemeClr val="tx2"/>
                </a:solidFill>
              </a:rPr>
              <a:t>Mengapa teknologi yang bagus belum tentu dipakai</a:t>
            </a:r>
            <a:endParaRPr lang="en-US" sz="1400" dirty="0"/>
          </a:p>
        </p:txBody>
      </p:sp>
      <p:sp>
        <p:nvSpPr>
          <p:cNvPr id="8" name="Langkah 02"/>
          <p:cNvSpPr/>
          <p:nvPr/>
        </p:nvSpPr>
        <p:spPr>
          <a:xfrm>
            <a:off x="4320540" y="1600200"/>
            <a:ext cx="3520440" cy="2148840"/>
          </a:xfrm>
          <a:prstGeom prst="roundRect">
            <a:avLst>
              <a:gd name="adj" fmla="val 5106"/>
            </a:avLst>
          </a:prstGeom>
          <a:solidFill>
            <a:schemeClr val="bg2"/>
          </a:solidFill>
          <a:ln/>
        </p:spPr>
      </p:sp>
      <p:sp>
        <p:nvSpPr>
          <p:cNvPr id="9" name="Text 7"/>
          <p:cNvSpPr txBox="1"/>
          <p:nvPr/>
        </p:nvSpPr>
        <p:spPr>
          <a:xfrm>
            <a:off x="4640580" y="1874520"/>
            <a:ext cx="13716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02</a:t>
            </a:r>
            <a:endParaRPr lang="en-US" sz="3600" dirty="0"/>
          </a:p>
        </p:txBody>
      </p:sp>
      <p:sp>
        <p:nvSpPr>
          <p:cNvPr id="10" name="Text 8"/>
          <p:cNvSpPr txBox="1"/>
          <p:nvPr/>
        </p:nvSpPr>
        <p:spPr>
          <a:xfrm>
            <a:off x="4640580" y="2560320"/>
            <a:ext cx="2880360" cy="365760"/>
          </a:xfrm>
          <a:prstGeom prst="rect">
            <a:avLst/>
          </a:prstGeom>
          <a:noFill/>
          <a:ln/>
        </p:spPr>
        <p:txBody>
          <a:bodyPr wrap="square" lIns="0" tIns="0" rIns="0" bIns="0" rtlCol="0" anchor="t"/>
          <a:lstStyle/>
          <a:p>
            <a:pPr indent="0" marL="0">
              <a:buNone/>
            </a:pPr>
            <a:r>
              <a:rPr lang="en-US" sz="2000" b="1" dirty="0">
                <a:solidFill>
                  <a:schemeClr val="tx1"/>
                </a:solidFill>
              </a:rPr>
              <a:t>Konsep UTAUT</a:t>
            </a:r>
            <a:endParaRPr lang="en-US" sz="2000" dirty="0"/>
          </a:p>
        </p:txBody>
      </p:sp>
      <p:sp>
        <p:nvSpPr>
          <p:cNvPr id="11" name="Text 9"/>
          <p:cNvSpPr txBox="1"/>
          <p:nvPr/>
        </p:nvSpPr>
        <p:spPr>
          <a:xfrm>
            <a:off x="4640580" y="2971800"/>
            <a:ext cx="2880360" cy="640080"/>
          </a:xfrm>
          <a:prstGeom prst="rect">
            <a:avLst/>
          </a:prstGeom>
          <a:noFill/>
          <a:ln/>
        </p:spPr>
        <p:txBody>
          <a:bodyPr wrap="square" lIns="0" tIns="0" rIns="0" bIns="0" rtlCol="0" anchor="t"/>
          <a:lstStyle/>
          <a:p>
            <a:pPr indent="0" marL="0">
              <a:buNone/>
            </a:pPr>
            <a:r>
              <a:rPr lang="en-US" sz="1400" dirty="0">
                <a:solidFill>
                  <a:schemeClr val="tx2"/>
                </a:solidFill>
              </a:rPr>
              <a:t>Asal-usul, 8 teori pembentuk, dan model dasarnya</a:t>
            </a:r>
            <a:endParaRPr lang="en-US" sz="1400" dirty="0"/>
          </a:p>
        </p:txBody>
      </p:sp>
      <p:sp>
        <p:nvSpPr>
          <p:cNvPr id="12" name="Langkah 03"/>
          <p:cNvSpPr/>
          <p:nvPr/>
        </p:nvSpPr>
        <p:spPr>
          <a:xfrm>
            <a:off x="8092440" y="1600200"/>
            <a:ext cx="3520440" cy="2148840"/>
          </a:xfrm>
          <a:prstGeom prst="roundRect">
            <a:avLst>
              <a:gd name="adj" fmla="val 5106"/>
            </a:avLst>
          </a:prstGeom>
          <a:solidFill>
            <a:schemeClr val="bg2"/>
          </a:solidFill>
          <a:ln/>
        </p:spPr>
      </p:sp>
      <p:sp>
        <p:nvSpPr>
          <p:cNvPr id="13" name="Text 11"/>
          <p:cNvSpPr txBox="1"/>
          <p:nvPr/>
        </p:nvSpPr>
        <p:spPr>
          <a:xfrm>
            <a:off x="8412480" y="1874520"/>
            <a:ext cx="13716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03</a:t>
            </a:r>
            <a:endParaRPr lang="en-US" sz="3600" dirty="0"/>
          </a:p>
        </p:txBody>
      </p:sp>
      <p:sp>
        <p:nvSpPr>
          <p:cNvPr id="14" name="Text 12"/>
          <p:cNvSpPr txBox="1"/>
          <p:nvPr/>
        </p:nvSpPr>
        <p:spPr>
          <a:xfrm>
            <a:off x="8412480" y="2560320"/>
            <a:ext cx="2880360" cy="365760"/>
          </a:xfrm>
          <a:prstGeom prst="rect">
            <a:avLst/>
          </a:prstGeom>
          <a:noFill/>
          <a:ln/>
        </p:spPr>
        <p:txBody>
          <a:bodyPr wrap="square" lIns="0" tIns="0" rIns="0" bIns="0" rtlCol="0" anchor="t"/>
          <a:lstStyle/>
          <a:p>
            <a:pPr indent="0" marL="0">
              <a:buNone/>
            </a:pPr>
            <a:r>
              <a:rPr lang="en-US" sz="2000" b="1" dirty="0">
                <a:solidFill>
                  <a:schemeClr val="tx1"/>
                </a:solidFill>
              </a:rPr>
              <a:t>Konstruk &amp; moderator</a:t>
            </a:r>
            <a:endParaRPr lang="en-US" sz="2000" dirty="0"/>
          </a:p>
        </p:txBody>
      </p:sp>
      <p:sp>
        <p:nvSpPr>
          <p:cNvPr id="15" name="Text 13"/>
          <p:cNvSpPr txBox="1"/>
          <p:nvPr/>
        </p:nvSpPr>
        <p:spPr>
          <a:xfrm>
            <a:off x="8412480" y="2971800"/>
            <a:ext cx="2880360" cy="640080"/>
          </a:xfrm>
          <a:prstGeom prst="rect">
            <a:avLst/>
          </a:prstGeom>
          <a:noFill/>
          <a:ln/>
        </p:spPr>
        <p:txBody>
          <a:bodyPr wrap="square" lIns="0" tIns="0" rIns="0" bIns="0" rtlCol="0" anchor="t"/>
          <a:lstStyle/>
          <a:p>
            <a:pPr indent="0" marL="0">
              <a:buNone/>
            </a:pPr>
            <a:r>
              <a:rPr lang="en-US" sz="1400" dirty="0">
                <a:solidFill>
                  <a:schemeClr val="tx2"/>
                </a:solidFill>
              </a:rPr>
              <a:t>4 faktor inti, niat vs perilaku, dan 4 moderator</a:t>
            </a:r>
            <a:endParaRPr lang="en-US" sz="1400" dirty="0"/>
          </a:p>
        </p:txBody>
      </p:sp>
      <p:sp>
        <p:nvSpPr>
          <p:cNvPr id="16" name="Langkah 04"/>
          <p:cNvSpPr/>
          <p:nvPr/>
        </p:nvSpPr>
        <p:spPr>
          <a:xfrm>
            <a:off x="548640" y="4069080"/>
            <a:ext cx="3520440" cy="2148840"/>
          </a:xfrm>
          <a:prstGeom prst="roundRect">
            <a:avLst>
              <a:gd name="adj" fmla="val 5106"/>
            </a:avLst>
          </a:prstGeom>
          <a:solidFill>
            <a:schemeClr val="bg2"/>
          </a:solidFill>
          <a:ln/>
        </p:spPr>
      </p:sp>
      <p:sp>
        <p:nvSpPr>
          <p:cNvPr id="17" name="Text 15"/>
          <p:cNvSpPr txBox="1"/>
          <p:nvPr/>
        </p:nvSpPr>
        <p:spPr>
          <a:xfrm>
            <a:off x="868680" y="4343400"/>
            <a:ext cx="137160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04</a:t>
            </a:r>
            <a:endParaRPr lang="en-US" sz="3600" dirty="0"/>
          </a:p>
        </p:txBody>
      </p:sp>
      <p:sp>
        <p:nvSpPr>
          <p:cNvPr id="18" name="Text 16"/>
          <p:cNvSpPr txBox="1"/>
          <p:nvPr/>
        </p:nvSpPr>
        <p:spPr>
          <a:xfrm>
            <a:off x="868680" y="5029200"/>
            <a:ext cx="2880360" cy="365760"/>
          </a:xfrm>
          <a:prstGeom prst="rect">
            <a:avLst/>
          </a:prstGeom>
          <a:noFill/>
          <a:ln/>
        </p:spPr>
        <p:txBody>
          <a:bodyPr wrap="square" lIns="0" tIns="0" rIns="0" bIns="0" rtlCol="0" anchor="t"/>
          <a:lstStyle/>
          <a:p>
            <a:pPr indent="0" marL="0">
              <a:buNone/>
            </a:pPr>
            <a:r>
              <a:rPr lang="en-US" sz="2000" b="1" dirty="0">
                <a:solidFill>
                  <a:schemeClr val="tx1"/>
                </a:solidFill>
              </a:rPr>
              <a:t>UTAUT2</a:t>
            </a:r>
            <a:endParaRPr lang="en-US" sz="2000" dirty="0"/>
          </a:p>
        </p:txBody>
      </p:sp>
      <p:sp>
        <p:nvSpPr>
          <p:cNvPr id="19" name="Text 17"/>
          <p:cNvSpPr txBox="1"/>
          <p:nvPr/>
        </p:nvSpPr>
        <p:spPr>
          <a:xfrm>
            <a:off x="868680" y="5440680"/>
            <a:ext cx="2880360" cy="640080"/>
          </a:xfrm>
          <a:prstGeom prst="rect">
            <a:avLst/>
          </a:prstGeom>
          <a:noFill/>
          <a:ln/>
        </p:spPr>
        <p:txBody>
          <a:bodyPr wrap="square" lIns="0" tIns="0" rIns="0" bIns="0" rtlCol="0" anchor="t"/>
          <a:lstStyle/>
          <a:p>
            <a:pPr indent="0" marL="0">
              <a:buNone/>
            </a:pPr>
            <a:r>
              <a:rPr lang="en-US" sz="1400" dirty="0">
                <a:solidFill>
                  <a:schemeClr val="tx2"/>
                </a:solidFill>
              </a:rPr>
              <a:t>Perluasan untuk konsumen: kesenangan, harga, kebiasaan</a:t>
            </a:r>
            <a:endParaRPr lang="en-US" sz="1400" dirty="0"/>
          </a:p>
        </p:txBody>
      </p:sp>
      <p:sp>
        <p:nvSpPr>
          <p:cNvPr id="20" name="Langkah 05"/>
          <p:cNvSpPr/>
          <p:nvPr/>
        </p:nvSpPr>
        <p:spPr>
          <a:xfrm>
            <a:off x="4320540" y="4069080"/>
            <a:ext cx="3520440" cy="2148840"/>
          </a:xfrm>
          <a:prstGeom prst="roundRect">
            <a:avLst>
              <a:gd name="adj" fmla="val 5106"/>
            </a:avLst>
          </a:prstGeom>
          <a:solidFill>
            <a:schemeClr val="bg2"/>
          </a:solidFill>
          <a:ln/>
        </p:spPr>
      </p:sp>
      <p:sp>
        <p:nvSpPr>
          <p:cNvPr id="21" name="Text 19"/>
          <p:cNvSpPr txBox="1"/>
          <p:nvPr/>
        </p:nvSpPr>
        <p:spPr>
          <a:xfrm>
            <a:off x="4640580" y="4343400"/>
            <a:ext cx="13716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05</a:t>
            </a:r>
            <a:endParaRPr lang="en-US" sz="3600" dirty="0"/>
          </a:p>
        </p:txBody>
      </p:sp>
      <p:sp>
        <p:nvSpPr>
          <p:cNvPr id="22" name="Text 20"/>
          <p:cNvSpPr txBox="1"/>
          <p:nvPr/>
        </p:nvSpPr>
        <p:spPr>
          <a:xfrm>
            <a:off x="4640580" y="5029200"/>
            <a:ext cx="2880360" cy="365760"/>
          </a:xfrm>
          <a:prstGeom prst="rect">
            <a:avLst/>
          </a:prstGeom>
          <a:noFill/>
          <a:ln/>
        </p:spPr>
        <p:txBody>
          <a:bodyPr wrap="square" lIns="0" tIns="0" rIns="0" bIns="0" rtlCol="0" anchor="t"/>
          <a:lstStyle/>
          <a:p>
            <a:pPr indent="0" marL="0">
              <a:buNone/>
            </a:pPr>
            <a:r>
              <a:rPr lang="en-US" sz="2000" b="1" dirty="0">
                <a:solidFill>
                  <a:schemeClr val="tx1"/>
                </a:solidFill>
              </a:rPr>
              <a:t>Perbandingan</a:t>
            </a:r>
            <a:endParaRPr lang="en-US" sz="2000" dirty="0"/>
          </a:p>
        </p:txBody>
      </p:sp>
      <p:sp>
        <p:nvSpPr>
          <p:cNvPr id="23" name="Text 21"/>
          <p:cNvSpPr txBox="1"/>
          <p:nvPr/>
        </p:nvSpPr>
        <p:spPr>
          <a:xfrm>
            <a:off x="4640580" y="5440680"/>
            <a:ext cx="2880360" cy="640080"/>
          </a:xfrm>
          <a:prstGeom prst="rect">
            <a:avLst/>
          </a:prstGeom>
          <a:noFill/>
          <a:ln/>
        </p:spPr>
        <p:txBody>
          <a:bodyPr wrap="square" lIns="0" tIns="0" rIns="0" bIns="0" rtlCol="0" anchor="t"/>
          <a:lstStyle/>
          <a:p>
            <a:pPr indent="0" marL="0">
              <a:buNone/>
            </a:pPr>
            <a:r>
              <a:rPr lang="en-US" sz="1400" dirty="0">
                <a:solidFill>
                  <a:schemeClr val="tx2"/>
                </a:solidFill>
              </a:rPr>
              <a:t>UTAUT vs UTAUT2 vs TAM, serta contoh kuesioner</a:t>
            </a:r>
            <a:endParaRPr lang="en-US" sz="1400" dirty="0"/>
          </a:p>
        </p:txBody>
      </p:sp>
      <p:sp>
        <p:nvSpPr>
          <p:cNvPr id="24" name="Langkah 06"/>
          <p:cNvSpPr/>
          <p:nvPr/>
        </p:nvSpPr>
        <p:spPr>
          <a:xfrm>
            <a:off x="8092440" y="4069080"/>
            <a:ext cx="3520440" cy="2148840"/>
          </a:xfrm>
          <a:prstGeom prst="roundRect">
            <a:avLst>
              <a:gd name="adj" fmla="val 5106"/>
            </a:avLst>
          </a:prstGeom>
          <a:solidFill>
            <a:schemeClr val="bg2"/>
          </a:solidFill>
          <a:ln/>
        </p:spPr>
      </p:sp>
      <p:sp>
        <p:nvSpPr>
          <p:cNvPr id="25" name="Text 23"/>
          <p:cNvSpPr txBox="1"/>
          <p:nvPr/>
        </p:nvSpPr>
        <p:spPr>
          <a:xfrm>
            <a:off x="8412480" y="4343400"/>
            <a:ext cx="13716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06</a:t>
            </a:r>
            <a:endParaRPr lang="en-US" sz="3600" dirty="0"/>
          </a:p>
        </p:txBody>
      </p:sp>
      <p:sp>
        <p:nvSpPr>
          <p:cNvPr id="26" name="Text 24"/>
          <p:cNvSpPr txBox="1"/>
          <p:nvPr/>
        </p:nvSpPr>
        <p:spPr>
          <a:xfrm>
            <a:off x="8412480" y="5029200"/>
            <a:ext cx="2880360" cy="365760"/>
          </a:xfrm>
          <a:prstGeom prst="rect">
            <a:avLst/>
          </a:prstGeom>
          <a:noFill/>
          <a:ln/>
        </p:spPr>
        <p:txBody>
          <a:bodyPr wrap="square" lIns="0" tIns="0" rIns="0" bIns="0" rtlCol="0" anchor="t"/>
          <a:lstStyle/>
          <a:p>
            <a:pPr indent="0" marL="0">
              <a:buNone/>
            </a:pPr>
            <a:r>
              <a:rPr lang="en-US" sz="2000" b="1" dirty="0">
                <a:solidFill>
                  <a:schemeClr val="tx1"/>
                </a:solidFill>
              </a:rPr>
              <a:t>Ringkasan</a:t>
            </a:r>
            <a:endParaRPr lang="en-US" sz="2000" dirty="0"/>
          </a:p>
        </p:txBody>
      </p:sp>
      <p:sp>
        <p:nvSpPr>
          <p:cNvPr id="27" name="Text 25"/>
          <p:cNvSpPr txBox="1"/>
          <p:nvPr/>
        </p:nvSpPr>
        <p:spPr>
          <a:xfrm>
            <a:off x="8412480" y="5440680"/>
            <a:ext cx="2880360" cy="640080"/>
          </a:xfrm>
          <a:prstGeom prst="rect">
            <a:avLst/>
          </a:prstGeom>
          <a:noFill/>
          <a:ln/>
        </p:spPr>
        <p:txBody>
          <a:bodyPr wrap="square" lIns="0" tIns="0" rIns="0" bIns="0" rtlCol="0" anchor="t"/>
          <a:lstStyle/>
          <a:p>
            <a:pPr indent="0" marL="0">
              <a:buNone/>
            </a:pPr>
            <a:r>
              <a:rPr lang="en-US" sz="1400" dirty="0">
                <a:solidFill>
                  <a:schemeClr val="tx2"/>
                </a:solidFill>
              </a:rPr>
              <a:t>Cara mudah mengingat dan kesimpulan</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PENGANTAR</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Teknologi yang berfungsi belum tentu digunakan</a:t>
            </a:r>
            <a:endParaRPr lang="en-US" sz="3400" dirty="0"/>
          </a:p>
        </p:txBody>
      </p:sp>
      <p:sp>
        <p:nvSpPr>
          <p:cNvPr id="4" name="Kartu skenario"/>
          <p:cNvSpPr/>
          <p:nvPr/>
        </p:nvSpPr>
        <p:spPr>
          <a:xfrm>
            <a:off x="548640" y="1600200"/>
            <a:ext cx="4206240" cy="4480560"/>
          </a:xfrm>
          <a:prstGeom prst="roundRect">
            <a:avLst>
              <a:gd name="adj" fmla="val 2609"/>
            </a:avLst>
          </a:prstGeom>
          <a:solidFill>
            <a:schemeClr val="tx2"/>
          </a:solidFill>
          <a:ln/>
        </p:spPr>
      </p:sp>
      <p:pic>
        <p:nvPicPr>
          <p:cNvPr id="5" name="Ikon dompet" descr="preencoded.png">    </p:cNvPr>
          <p:cNvPicPr>
            <a:picLocks noChangeAspect="1"/>
          </p:cNvPicPr>
          <p:nvPr/>
        </p:nvPicPr>
        <p:blipFill>
          <a:blip r:embed="rId1"/>
          <a:stretch>
            <a:fillRect/>
          </a:stretch>
        </p:blipFill>
        <p:spPr>
          <a:xfrm>
            <a:off x="868680" y="1920240"/>
            <a:ext cx="548640" cy="548640"/>
          </a:xfrm>
          <a:prstGeom prst="rect">
            <a:avLst/>
          </a:prstGeom>
        </p:spPr>
      </p:pic>
      <p:sp>
        <p:nvSpPr>
          <p:cNvPr id="6" name="Text 3"/>
          <p:cNvSpPr txBox="1"/>
          <p:nvPr/>
        </p:nvSpPr>
        <p:spPr>
          <a:xfrm>
            <a:off x="868680" y="2651760"/>
            <a:ext cx="3566160" cy="365760"/>
          </a:xfrm>
          <a:prstGeom prst="rect">
            <a:avLst/>
          </a:prstGeom>
          <a:noFill/>
          <a:ln/>
        </p:spPr>
        <p:txBody>
          <a:bodyPr wrap="square" lIns="0" tIns="0" rIns="0" bIns="0" rtlCol="0" anchor="t"/>
          <a:lstStyle/>
          <a:p>
            <a:pPr indent="0" marL="0">
              <a:buNone/>
            </a:pPr>
            <a:r>
              <a:rPr lang="en-US" sz="1400" b="1" dirty="0">
                <a:solidFill>
                  <a:schemeClr val="accent1"/>
                </a:solidFill>
              </a:rPr>
              <a:t>Skenario</a:t>
            </a:r>
            <a:endParaRPr lang="en-US" sz="1400" dirty="0"/>
          </a:p>
        </p:txBody>
      </p:sp>
      <p:sp>
        <p:nvSpPr>
          <p:cNvPr id="7" name="Text 4"/>
          <p:cNvSpPr txBox="1"/>
          <p:nvPr/>
        </p:nvSpPr>
        <p:spPr>
          <a:xfrm>
            <a:off x="868680" y="3017520"/>
            <a:ext cx="3566160" cy="9144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Kampus meluncurkan aplikasi pembayaran digital dengan fitur lengkap.</a:t>
            </a:r>
            <a:endParaRPr lang="en-US" sz="2000" dirty="0"/>
          </a:p>
        </p:txBody>
      </p:sp>
      <p:sp>
        <p:nvSpPr>
          <p:cNvPr id="8" name="Text 5"/>
          <p:cNvSpPr txBox="1"/>
          <p:nvPr/>
        </p:nvSpPr>
        <p:spPr>
          <a:xfrm>
            <a:off x="868680" y="4160520"/>
            <a:ext cx="3566160" cy="1645920"/>
          </a:xfrm>
          <a:prstGeom prst="rect">
            <a:avLst/>
          </a:prstGeom>
          <a:noFill/>
          <a:ln/>
        </p:spPr>
        <p:txBody>
          <a:bodyPr wrap="square" lIns="0" tIns="0" rIns="0" bIns="0" rtlCol="0" anchor="t"/>
          <a:lstStyle/>
          <a:p>
            <a:pPr indent="0" marL="0">
              <a:buNone/>
            </a:pPr>
            <a:r>
              <a:rPr lang="en-US" sz="1500" dirty="0">
                <a:solidFill>
                  <a:schemeClr val="bg2"/>
                </a:solidFill>
              </a:rPr>
              <a:t>Namun belum tentu mahasiswa mau memakainya. Keberhasilan teknologi ditentukan oleh penerimaan manusia, bukan hanya oleh sistem yang berjalan.</a:t>
            </a:r>
            <a:endParaRPr lang="en-US" sz="1500" dirty="0"/>
          </a:p>
        </p:txBody>
      </p:sp>
      <p:sp>
        <p:nvSpPr>
          <p:cNvPr id="9" name="Performance Expectancy lingkaran"/>
          <p:cNvSpPr/>
          <p:nvPr/>
        </p:nvSpPr>
        <p:spPr>
          <a:xfrm>
            <a:off x="5120640" y="1636776"/>
            <a:ext cx="475488" cy="475488"/>
          </a:xfrm>
          <a:prstGeom prst="ellipse">
            <a:avLst/>
          </a:prstGeom>
          <a:solidFill>
            <a:schemeClr val="accent1"/>
          </a:solidFill>
          <a:ln/>
        </p:spPr>
      </p:sp>
      <p:pic>
        <p:nvPicPr>
          <p:cNvPr id="10" name="Performance Expectancy ikon" descr="preencoded.png">    </p:cNvPr>
          <p:cNvPicPr>
            <a:picLocks noChangeAspect="1"/>
          </p:cNvPicPr>
          <p:nvPr/>
        </p:nvPicPr>
        <p:blipFill>
          <a:blip r:embed="rId2"/>
          <a:stretch>
            <a:fillRect/>
          </a:stretch>
        </p:blipFill>
        <p:spPr>
          <a:xfrm>
            <a:off x="5234757" y="1750893"/>
            <a:ext cx="247254" cy="247254"/>
          </a:xfrm>
          <a:prstGeom prst="rect">
            <a:avLst/>
          </a:prstGeom>
        </p:spPr>
      </p:pic>
      <p:sp>
        <p:nvSpPr>
          <p:cNvPr id="11" name="Text 7"/>
          <p:cNvSpPr txBox="1"/>
          <p:nvPr/>
        </p:nvSpPr>
        <p:spPr>
          <a:xfrm>
            <a:off x="5760720" y="160020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aplikasi ini bermanfaat?</a:t>
            </a:r>
            <a:endParaRPr lang="en-US" sz="1500" dirty="0"/>
          </a:p>
        </p:txBody>
      </p:sp>
      <p:sp>
        <p:nvSpPr>
          <p:cNvPr id="12" name="Label Performance Expectancy"/>
          <p:cNvSpPr/>
          <p:nvPr/>
        </p:nvSpPr>
        <p:spPr>
          <a:xfrm>
            <a:off x="9509760" y="1691640"/>
            <a:ext cx="2130552" cy="365760"/>
          </a:xfrm>
          <a:prstGeom prst="roundRect">
            <a:avLst>
              <a:gd name="adj" fmla="val 50000"/>
            </a:avLst>
          </a:prstGeom>
          <a:solidFill>
            <a:srgbClr val="D9F1EF"/>
          </a:solidFill>
          <a:ln/>
        </p:spPr>
      </p:sp>
      <p:sp>
        <p:nvSpPr>
          <p:cNvPr id="13" name="Label Performance Expectancy teks"/>
          <p:cNvSpPr txBox="1"/>
          <p:nvPr/>
        </p:nvSpPr>
        <p:spPr>
          <a:xfrm>
            <a:off x="9509760" y="1691640"/>
            <a:ext cx="2130552" cy="365760"/>
          </a:xfrm>
          <a:prstGeom prst="rect">
            <a:avLst/>
          </a:prstGeom>
          <a:noFill/>
          <a:ln/>
        </p:spPr>
        <p:txBody>
          <a:bodyPr wrap="square" lIns="0" tIns="0" rIns="0" bIns="0" rtlCol="0" anchor="ctr"/>
          <a:lstStyle/>
          <a:p>
            <a:pPr algn="ctr" indent="0" marL="0">
              <a:buNone/>
            </a:pPr>
            <a:r>
              <a:rPr lang="en-US" sz="1100" b="1" dirty="0">
                <a:solidFill>
                  <a:schemeClr val="accent1"/>
                </a:solidFill>
              </a:rPr>
              <a:t>Performance Expectancy</a:t>
            </a:r>
            <a:endParaRPr lang="en-US" sz="1100" dirty="0"/>
          </a:p>
        </p:txBody>
      </p:sp>
      <p:sp>
        <p:nvSpPr>
          <p:cNvPr id="14" name="Effort Expectancy lingkaran"/>
          <p:cNvSpPr/>
          <p:nvPr/>
        </p:nvSpPr>
        <p:spPr>
          <a:xfrm>
            <a:off x="5120640" y="2276856"/>
            <a:ext cx="475488" cy="475488"/>
          </a:xfrm>
          <a:prstGeom prst="ellipse">
            <a:avLst/>
          </a:prstGeom>
          <a:solidFill>
            <a:schemeClr val="accent1"/>
          </a:solidFill>
          <a:ln/>
        </p:spPr>
      </p:sp>
      <p:pic>
        <p:nvPicPr>
          <p:cNvPr id="15" name="Effort Expectancy ikon" descr="preencoded.png">    </p:cNvPr>
          <p:cNvPicPr>
            <a:picLocks noChangeAspect="1"/>
          </p:cNvPicPr>
          <p:nvPr/>
        </p:nvPicPr>
        <p:blipFill>
          <a:blip r:embed="rId3"/>
          <a:stretch>
            <a:fillRect/>
          </a:stretch>
        </p:blipFill>
        <p:spPr>
          <a:xfrm>
            <a:off x="5234757" y="2390973"/>
            <a:ext cx="247254" cy="247254"/>
          </a:xfrm>
          <a:prstGeom prst="rect">
            <a:avLst/>
          </a:prstGeom>
        </p:spPr>
      </p:pic>
      <p:sp>
        <p:nvSpPr>
          <p:cNvPr id="16" name="Text 11"/>
          <p:cNvSpPr txBox="1"/>
          <p:nvPr/>
        </p:nvSpPr>
        <p:spPr>
          <a:xfrm>
            <a:off x="5760720" y="224028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mudah digunakan?</a:t>
            </a:r>
            <a:endParaRPr lang="en-US" sz="1500" dirty="0"/>
          </a:p>
        </p:txBody>
      </p:sp>
      <p:sp>
        <p:nvSpPr>
          <p:cNvPr id="17" name="Label Effort Expectancy"/>
          <p:cNvSpPr/>
          <p:nvPr/>
        </p:nvSpPr>
        <p:spPr>
          <a:xfrm>
            <a:off x="9509760" y="2331720"/>
            <a:ext cx="2130552" cy="365760"/>
          </a:xfrm>
          <a:prstGeom prst="roundRect">
            <a:avLst>
              <a:gd name="adj" fmla="val 50000"/>
            </a:avLst>
          </a:prstGeom>
          <a:solidFill>
            <a:srgbClr val="D9F1EF"/>
          </a:solidFill>
          <a:ln/>
        </p:spPr>
      </p:sp>
      <p:sp>
        <p:nvSpPr>
          <p:cNvPr id="18" name="Label Effort Expectancy teks"/>
          <p:cNvSpPr txBox="1"/>
          <p:nvPr/>
        </p:nvSpPr>
        <p:spPr>
          <a:xfrm>
            <a:off x="9509760" y="2331720"/>
            <a:ext cx="2130552" cy="365760"/>
          </a:xfrm>
          <a:prstGeom prst="rect">
            <a:avLst/>
          </a:prstGeom>
          <a:noFill/>
          <a:ln/>
        </p:spPr>
        <p:txBody>
          <a:bodyPr wrap="square" lIns="0" tIns="0" rIns="0" bIns="0" rtlCol="0" anchor="ctr"/>
          <a:lstStyle/>
          <a:p>
            <a:pPr algn="ctr" indent="0" marL="0">
              <a:buNone/>
            </a:pPr>
            <a:r>
              <a:rPr lang="en-US" sz="1100" b="1" dirty="0">
                <a:solidFill>
                  <a:schemeClr val="accent1"/>
                </a:solidFill>
              </a:rPr>
              <a:t>Effort Expectancy</a:t>
            </a:r>
            <a:endParaRPr lang="en-US" sz="1100" dirty="0"/>
          </a:p>
        </p:txBody>
      </p:sp>
      <p:sp>
        <p:nvSpPr>
          <p:cNvPr id="19" name="Social Influence lingkaran"/>
          <p:cNvSpPr/>
          <p:nvPr/>
        </p:nvSpPr>
        <p:spPr>
          <a:xfrm>
            <a:off x="5120640" y="2916936"/>
            <a:ext cx="475488" cy="475488"/>
          </a:xfrm>
          <a:prstGeom prst="ellipse">
            <a:avLst/>
          </a:prstGeom>
          <a:solidFill>
            <a:schemeClr val="accent1"/>
          </a:solidFill>
          <a:ln/>
        </p:spPr>
      </p:sp>
      <p:pic>
        <p:nvPicPr>
          <p:cNvPr id="20" name="Social Influence ikon" descr="preencoded.png">    </p:cNvPr>
          <p:cNvPicPr>
            <a:picLocks noChangeAspect="1"/>
          </p:cNvPicPr>
          <p:nvPr/>
        </p:nvPicPr>
        <p:blipFill>
          <a:blip r:embed="rId4"/>
          <a:stretch>
            <a:fillRect/>
          </a:stretch>
        </p:blipFill>
        <p:spPr>
          <a:xfrm>
            <a:off x="5234757" y="3031053"/>
            <a:ext cx="247254" cy="247254"/>
          </a:xfrm>
          <a:prstGeom prst="rect">
            <a:avLst/>
          </a:prstGeom>
        </p:spPr>
      </p:pic>
      <p:sp>
        <p:nvSpPr>
          <p:cNvPr id="21" name="Text 15"/>
          <p:cNvSpPr txBox="1"/>
          <p:nvPr/>
        </p:nvSpPr>
        <p:spPr>
          <a:xfrm>
            <a:off x="5760720" y="288036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teman atau lingkungan ikut mendorong?</a:t>
            </a:r>
            <a:endParaRPr lang="en-US" sz="1500" dirty="0"/>
          </a:p>
        </p:txBody>
      </p:sp>
      <p:sp>
        <p:nvSpPr>
          <p:cNvPr id="22" name="Label Social Influence"/>
          <p:cNvSpPr/>
          <p:nvPr/>
        </p:nvSpPr>
        <p:spPr>
          <a:xfrm>
            <a:off x="9509760" y="2971800"/>
            <a:ext cx="2130552" cy="365760"/>
          </a:xfrm>
          <a:prstGeom prst="roundRect">
            <a:avLst>
              <a:gd name="adj" fmla="val 50000"/>
            </a:avLst>
          </a:prstGeom>
          <a:solidFill>
            <a:srgbClr val="D9F1EF"/>
          </a:solidFill>
          <a:ln/>
        </p:spPr>
      </p:sp>
      <p:sp>
        <p:nvSpPr>
          <p:cNvPr id="23" name="Label Social Influence teks"/>
          <p:cNvSpPr txBox="1"/>
          <p:nvPr/>
        </p:nvSpPr>
        <p:spPr>
          <a:xfrm>
            <a:off x="9509760" y="2971800"/>
            <a:ext cx="2130552" cy="365760"/>
          </a:xfrm>
          <a:prstGeom prst="rect">
            <a:avLst/>
          </a:prstGeom>
          <a:noFill/>
          <a:ln/>
        </p:spPr>
        <p:txBody>
          <a:bodyPr wrap="square" lIns="0" tIns="0" rIns="0" bIns="0" rtlCol="0" anchor="ctr"/>
          <a:lstStyle/>
          <a:p>
            <a:pPr algn="ctr" indent="0" marL="0">
              <a:buNone/>
            </a:pPr>
            <a:r>
              <a:rPr lang="en-US" sz="1100" b="1" dirty="0">
                <a:solidFill>
                  <a:schemeClr val="accent1"/>
                </a:solidFill>
              </a:rPr>
              <a:t>Social Influence</a:t>
            </a:r>
            <a:endParaRPr lang="en-US" sz="1100" dirty="0"/>
          </a:p>
        </p:txBody>
      </p:sp>
      <p:sp>
        <p:nvSpPr>
          <p:cNvPr id="24" name="Facilitating Conditions lingkaran"/>
          <p:cNvSpPr/>
          <p:nvPr/>
        </p:nvSpPr>
        <p:spPr>
          <a:xfrm>
            <a:off x="5120640" y="3557016"/>
            <a:ext cx="475488" cy="475488"/>
          </a:xfrm>
          <a:prstGeom prst="ellipse">
            <a:avLst/>
          </a:prstGeom>
          <a:solidFill>
            <a:schemeClr val="accent1"/>
          </a:solidFill>
          <a:ln/>
        </p:spPr>
      </p:sp>
      <p:pic>
        <p:nvPicPr>
          <p:cNvPr id="25" name="Facilitating Conditions ikon" descr="preencoded.png">    </p:cNvPr>
          <p:cNvPicPr>
            <a:picLocks noChangeAspect="1"/>
          </p:cNvPicPr>
          <p:nvPr/>
        </p:nvPicPr>
        <p:blipFill>
          <a:blip r:embed="rId5"/>
          <a:stretch>
            <a:fillRect/>
          </a:stretch>
        </p:blipFill>
        <p:spPr>
          <a:xfrm>
            <a:off x="5234757" y="3671133"/>
            <a:ext cx="247254" cy="247254"/>
          </a:xfrm>
          <a:prstGeom prst="rect">
            <a:avLst/>
          </a:prstGeom>
        </p:spPr>
      </p:pic>
      <p:sp>
        <p:nvSpPr>
          <p:cNvPr id="26" name="Text 19"/>
          <p:cNvSpPr txBox="1"/>
          <p:nvPr/>
        </p:nvSpPr>
        <p:spPr>
          <a:xfrm>
            <a:off x="5760720" y="352044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fasilitas pendukung tersedia?</a:t>
            </a:r>
            <a:endParaRPr lang="en-US" sz="1500" dirty="0"/>
          </a:p>
        </p:txBody>
      </p:sp>
      <p:sp>
        <p:nvSpPr>
          <p:cNvPr id="27" name="Label Facilitating Conditions"/>
          <p:cNvSpPr/>
          <p:nvPr/>
        </p:nvSpPr>
        <p:spPr>
          <a:xfrm>
            <a:off x="9509760" y="3611880"/>
            <a:ext cx="2130552" cy="365760"/>
          </a:xfrm>
          <a:prstGeom prst="roundRect">
            <a:avLst>
              <a:gd name="adj" fmla="val 50000"/>
            </a:avLst>
          </a:prstGeom>
          <a:solidFill>
            <a:srgbClr val="D9F1EF"/>
          </a:solidFill>
          <a:ln/>
        </p:spPr>
      </p:sp>
      <p:sp>
        <p:nvSpPr>
          <p:cNvPr id="28" name="Label Facilitating Conditions teks"/>
          <p:cNvSpPr txBox="1"/>
          <p:nvPr/>
        </p:nvSpPr>
        <p:spPr>
          <a:xfrm>
            <a:off x="9509760" y="3611880"/>
            <a:ext cx="2130552" cy="365760"/>
          </a:xfrm>
          <a:prstGeom prst="rect">
            <a:avLst/>
          </a:prstGeom>
          <a:noFill/>
          <a:ln/>
        </p:spPr>
        <p:txBody>
          <a:bodyPr wrap="square" lIns="0" tIns="0" rIns="0" bIns="0" rtlCol="0" anchor="ctr"/>
          <a:lstStyle/>
          <a:p>
            <a:pPr algn="ctr" indent="0" marL="0">
              <a:buNone/>
            </a:pPr>
            <a:r>
              <a:rPr lang="en-US" sz="1100" b="1" dirty="0">
                <a:solidFill>
                  <a:schemeClr val="accent1"/>
                </a:solidFill>
              </a:rPr>
              <a:t>Facilitating Conditions</a:t>
            </a:r>
            <a:endParaRPr lang="en-US" sz="1100" dirty="0"/>
          </a:p>
        </p:txBody>
      </p:sp>
      <p:sp>
        <p:nvSpPr>
          <p:cNvPr id="29" name="Hedonic Motivation lingkaran"/>
          <p:cNvSpPr/>
          <p:nvPr/>
        </p:nvSpPr>
        <p:spPr>
          <a:xfrm>
            <a:off x="5120640" y="4197096"/>
            <a:ext cx="475488" cy="475488"/>
          </a:xfrm>
          <a:prstGeom prst="ellipse">
            <a:avLst/>
          </a:prstGeom>
          <a:solidFill>
            <a:schemeClr val="accent2"/>
          </a:solidFill>
          <a:ln/>
        </p:spPr>
      </p:sp>
      <p:pic>
        <p:nvPicPr>
          <p:cNvPr id="30" name="Hedonic Motivation ikon" descr="preencoded.png">    </p:cNvPr>
          <p:cNvPicPr>
            <a:picLocks noChangeAspect="1"/>
          </p:cNvPicPr>
          <p:nvPr/>
        </p:nvPicPr>
        <p:blipFill>
          <a:blip r:embed="rId6"/>
          <a:stretch>
            <a:fillRect/>
          </a:stretch>
        </p:blipFill>
        <p:spPr>
          <a:xfrm>
            <a:off x="5234757" y="4311213"/>
            <a:ext cx="247254" cy="247254"/>
          </a:xfrm>
          <a:prstGeom prst="rect">
            <a:avLst/>
          </a:prstGeom>
        </p:spPr>
      </p:pic>
      <p:sp>
        <p:nvSpPr>
          <p:cNvPr id="31" name="Text 23"/>
          <p:cNvSpPr txBox="1"/>
          <p:nvPr/>
        </p:nvSpPr>
        <p:spPr>
          <a:xfrm>
            <a:off x="5760720" y="416052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menggunakannya menyenangkan?</a:t>
            </a:r>
            <a:endParaRPr lang="en-US" sz="1500" dirty="0"/>
          </a:p>
        </p:txBody>
      </p:sp>
      <p:sp>
        <p:nvSpPr>
          <p:cNvPr id="32" name="Label Hedonic Motivation"/>
          <p:cNvSpPr/>
          <p:nvPr/>
        </p:nvSpPr>
        <p:spPr>
          <a:xfrm>
            <a:off x="9509760" y="4251960"/>
            <a:ext cx="2130552" cy="365760"/>
          </a:xfrm>
          <a:prstGeom prst="roundRect">
            <a:avLst>
              <a:gd name="adj" fmla="val 50000"/>
            </a:avLst>
          </a:prstGeom>
          <a:solidFill>
            <a:srgbClr val="FCEBD3"/>
          </a:solidFill>
          <a:ln/>
        </p:spPr>
      </p:sp>
      <p:sp>
        <p:nvSpPr>
          <p:cNvPr id="33" name="Label Hedonic Motivation teks"/>
          <p:cNvSpPr txBox="1"/>
          <p:nvPr/>
        </p:nvSpPr>
        <p:spPr>
          <a:xfrm>
            <a:off x="9509760" y="4251960"/>
            <a:ext cx="2130552" cy="365760"/>
          </a:xfrm>
          <a:prstGeom prst="rect">
            <a:avLst/>
          </a:prstGeom>
          <a:noFill/>
          <a:ln/>
        </p:spPr>
        <p:txBody>
          <a:bodyPr wrap="square" lIns="0" tIns="0" rIns="0" bIns="0" rtlCol="0" anchor="ctr"/>
          <a:lstStyle/>
          <a:p>
            <a:pPr algn="ctr" indent="0" marL="0">
              <a:buNone/>
            </a:pPr>
            <a:r>
              <a:rPr lang="en-US" sz="1100" b="1" dirty="0">
                <a:solidFill>
                  <a:schemeClr val="accent2"/>
                </a:solidFill>
              </a:rPr>
              <a:t>Hedonic Motivation</a:t>
            </a:r>
            <a:endParaRPr lang="en-US" sz="1100" dirty="0"/>
          </a:p>
        </p:txBody>
      </p:sp>
      <p:sp>
        <p:nvSpPr>
          <p:cNvPr id="34" name="Price Value lingkaran"/>
          <p:cNvSpPr/>
          <p:nvPr/>
        </p:nvSpPr>
        <p:spPr>
          <a:xfrm>
            <a:off x="5120640" y="4837176"/>
            <a:ext cx="475488" cy="475488"/>
          </a:xfrm>
          <a:prstGeom prst="ellipse">
            <a:avLst/>
          </a:prstGeom>
          <a:solidFill>
            <a:schemeClr val="accent2"/>
          </a:solidFill>
          <a:ln/>
        </p:spPr>
      </p:sp>
      <p:pic>
        <p:nvPicPr>
          <p:cNvPr id="35" name="Price Value ikon" descr="preencoded.png">    </p:cNvPr>
          <p:cNvPicPr>
            <a:picLocks noChangeAspect="1"/>
          </p:cNvPicPr>
          <p:nvPr/>
        </p:nvPicPr>
        <p:blipFill>
          <a:blip r:embed="rId7"/>
          <a:stretch>
            <a:fillRect/>
          </a:stretch>
        </p:blipFill>
        <p:spPr>
          <a:xfrm>
            <a:off x="5234757" y="4951293"/>
            <a:ext cx="247254" cy="247254"/>
          </a:xfrm>
          <a:prstGeom prst="rect">
            <a:avLst/>
          </a:prstGeom>
        </p:spPr>
      </p:pic>
      <p:sp>
        <p:nvSpPr>
          <p:cNvPr id="36" name="Text 27"/>
          <p:cNvSpPr txBox="1"/>
          <p:nvPr/>
        </p:nvSpPr>
        <p:spPr>
          <a:xfrm>
            <a:off x="5760720" y="480060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biayanya sepadan dengan manfaat?</a:t>
            </a:r>
            <a:endParaRPr lang="en-US" sz="1500" dirty="0"/>
          </a:p>
        </p:txBody>
      </p:sp>
      <p:sp>
        <p:nvSpPr>
          <p:cNvPr id="37" name="Label Price Value"/>
          <p:cNvSpPr/>
          <p:nvPr/>
        </p:nvSpPr>
        <p:spPr>
          <a:xfrm>
            <a:off x="9509760" y="4892040"/>
            <a:ext cx="2130552" cy="365760"/>
          </a:xfrm>
          <a:prstGeom prst="roundRect">
            <a:avLst>
              <a:gd name="adj" fmla="val 50000"/>
            </a:avLst>
          </a:prstGeom>
          <a:solidFill>
            <a:srgbClr val="FCEBD3"/>
          </a:solidFill>
          <a:ln/>
        </p:spPr>
      </p:sp>
      <p:sp>
        <p:nvSpPr>
          <p:cNvPr id="38" name="Label Price Value teks"/>
          <p:cNvSpPr txBox="1"/>
          <p:nvPr/>
        </p:nvSpPr>
        <p:spPr>
          <a:xfrm>
            <a:off x="9509760" y="4892040"/>
            <a:ext cx="2130552" cy="365760"/>
          </a:xfrm>
          <a:prstGeom prst="rect">
            <a:avLst/>
          </a:prstGeom>
          <a:noFill/>
          <a:ln/>
        </p:spPr>
        <p:txBody>
          <a:bodyPr wrap="square" lIns="0" tIns="0" rIns="0" bIns="0" rtlCol="0" anchor="ctr"/>
          <a:lstStyle/>
          <a:p>
            <a:pPr algn="ctr" indent="0" marL="0">
              <a:buNone/>
            </a:pPr>
            <a:r>
              <a:rPr lang="en-US" sz="1100" b="1" dirty="0">
                <a:solidFill>
                  <a:schemeClr val="accent2"/>
                </a:solidFill>
              </a:rPr>
              <a:t>Price Value</a:t>
            </a:r>
            <a:endParaRPr lang="en-US" sz="1100" dirty="0"/>
          </a:p>
        </p:txBody>
      </p:sp>
      <p:sp>
        <p:nvSpPr>
          <p:cNvPr id="39" name="Habit lingkaran"/>
          <p:cNvSpPr/>
          <p:nvPr/>
        </p:nvSpPr>
        <p:spPr>
          <a:xfrm>
            <a:off x="5120640" y="5477256"/>
            <a:ext cx="475488" cy="475488"/>
          </a:xfrm>
          <a:prstGeom prst="ellipse">
            <a:avLst/>
          </a:prstGeom>
          <a:solidFill>
            <a:schemeClr val="accent2"/>
          </a:solidFill>
          <a:ln/>
        </p:spPr>
      </p:sp>
      <p:pic>
        <p:nvPicPr>
          <p:cNvPr id="40" name="Habit ikon" descr="preencoded.png">    </p:cNvPr>
          <p:cNvPicPr>
            <a:picLocks noChangeAspect="1"/>
          </p:cNvPicPr>
          <p:nvPr/>
        </p:nvPicPr>
        <p:blipFill>
          <a:blip r:embed="rId8"/>
          <a:stretch>
            <a:fillRect/>
          </a:stretch>
        </p:blipFill>
        <p:spPr>
          <a:xfrm>
            <a:off x="5234757" y="5591373"/>
            <a:ext cx="247254" cy="247254"/>
          </a:xfrm>
          <a:prstGeom prst="rect">
            <a:avLst/>
          </a:prstGeom>
        </p:spPr>
      </p:pic>
      <p:sp>
        <p:nvSpPr>
          <p:cNvPr id="41" name="Text 31"/>
          <p:cNvSpPr txBox="1"/>
          <p:nvPr/>
        </p:nvSpPr>
        <p:spPr>
          <a:xfrm>
            <a:off x="5760720" y="5440680"/>
            <a:ext cx="3657600" cy="548640"/>
          </a:xfrm>
          <a:prstGeom prst="rect">
            <a:avLst/>
          </a:prstGeom>
          <a:noFill/>
          <a:ln/>
        </p:spPr>
        <p:txBody>
          <a:bodyPr wrap="square" lIns="0" tIns="0" rIns="0" bIns="0" rtlCol="0" anchor="ctr"/>
          <a:lstStyle/>
          <a:p>
            <a:pPr indent="0" marL="0">
              <a:buNone/>
            </a:pPr>
            <a:r>
              <a:rPr lang="en-US" sz="1500" dirty="0">
                <a:solidFill>
                  <a:schemeClr val="tx1"/>
                </a:solidFill>
              </a:rPr>
              <a:t>Apakah sudah menjadi kebiasaan?</a:t>
            </a:r>
            <a:endParaRPr lang="en-US" sz="1500" dirty="0"/>
          </a:p>
        </p:txBody>
      </p:sp>
      <p:sp>
        <p:nvSpPr>
          <p:cNvPr id="42" name="Label Habit"/>
          <p:cNvSpPr/>
          <p:nvPr/>
        </p:nvSpPr>
        <p:spPr>
          <a:xfrm>
            <a:off x="9509760" y="5532120"/>
            <a:ext cx="2130552" cy="365760"/>
          </a:xfrm>
          <a:prstGeom prst="roundRect">
            <a:avLst>
              <a:gd name="adj" fmla="val 50000"/>
            </a:avLst>
          </a:prstGeom>
          <a:solidFill>
            <a:srgbClr val="FCEBD3"/>
          </a:solidFill>
          <a:ln/>
        </p:spPr>
      </p:sp>
      <p:sp>
        <p:nvSpPr>
          <p:cNvPr id="43" name="Label Habit teks"/>
          <p:cNvSpPr txBox="1"/>
          <p:nvPr/>
        </p:nvSpPr>
        <p:spPr>
          <a:xfrm>
            <a:off x="9509760" y="5532120"/>
            <a:ext cx="2130552" cy="365760"/>
          </a:xfrm>
          <a:prstGeom prst="rect">
            <a:avLst/>
          </a:prstGeom>
          <a:noFill/>
          <a:ln/>
        </p:spPr>
        <p:txBody>
          <a:bodyPr wrap="square" lIns="0" tIns="0" rIns="0" bIns="0" rtlCol="0" anchor="ctr"/>
          <a:lstStyle/>
          <a:p>
            <a:pPr algn="ctr" indent="0" marL="0">
              <a:buNone/>
            </a:pPr>
            <a:r>
              <a:rPr lang="en-US" sz="1100" b="1" dirty="0">
                <a:solidFill>
                  <a:schemeClr val="accent2"/>
                </a:solidFill>
              </a:rPr>
              <a:t>Habit</a:t>
            </a:r>
            <a:endParaRPr lang="en-US" sz="1100" dirty="0"/>
          </a:p>
        </p:txBody>
      </p:sp>
      <p:sp>
        <p:nvSpPr>
          <p:cNvPr id="44" name="Text 34"/>
          <p:cNvSpPr txBox="1"/>
          <p:nvPr/>
        </p:nvSpPr>
        <p:spPr>
          <a:xfrm>
            <a:off x="5120640" y="6053328"/>
            <a:ext cx="6492240" cy="274320"/>
          </a:xfrm>
          <a:prstGeom prst="rect">
            <a:avLst/>
          </a:prstGeom>
          <a:noFill/>
          <a:ln/>
        </p:spPr>
        <p:txBody>
          <a:bodyPr wrap="square" lIns="0" tIns="0" rIns="0" bIns="0" rtlCol="0" anchor="t"/>
          <a:lstStyle/>
          <a:p>
            <a:pPr indent="0" marL="0">
              <a:buNone/>
            </a:pPr>
            <a:r>
              <a:rPr lang="en-US" sz="1100" dirty="0">
                <a:solidFill>
                  <a:schemeClr val="accent6"/>
                </a:solidFill>
              </a:rPr>
              <a:t>Teal = dijawab UTAUT  ·  Oranye = ditambahkan UTAUT2</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280160"/>
          </a:xfrm>
          <a:prstGeom prst="rect">
            <a:avLst/>
          </a:prstGeom>
          <a:noFill/>
          <a:ln/>
        </p:spPr>
        <p:txBody>
          <a:bodyPr wrap="square" lIns="0" tIns="0" rIns="0" bIns="0" rtlCol="0"/>
          <a:lstStyle/>
          <a:p>
            <a:pPr indent="0" marL="0">
              <a:buNone/>
            </a:pPr>
            <a:r>
              <a:rPr lang="en-US" sz="8000" b="1" dirty="0">
                <a:solidFill>
                  <a:schemeClr val="accent1"/>
                </a:solidFill>
                <a:latin typeface="Cambria" pitchFamily="34" charset="0"/>
                <a:ea typeface="Cambria" pitchFamily="34" charset="-122"/>
                <a:cs typeface="Cambria" pitchFamily="34" charset="-120"/>
              </a:rPr>
              <a:t>01</a:t>
            </a:r>
            <a:endParaRPr lang="en-US" sz="8000" dirty="0"/>
          </a:p>
        </p:txBody>
      </p:sp>
      <p:sp>
        <p:nvSpPr>
          <p:cNvPr id="3" name="Text 0"/>
          <p:cNvSpPr/>
          <p:nvPr>
            <p:ph idx="101" type="title" hasCustomPrompt="1"/>
          </p:nvPr>
        </p:nvSpPr>
        <p:spPr>
          <a:xfrm>
            <a:off x="731520" y="2743200"/>
            <a:ext cx="7772400" cy="1097280"/>
          </a:xfrm>
          <a:prstGeom prst="rect">
            <a:avLst/>
          </a:prstGeom>
          <a:noFill/>
          <a:ln/>
        </p:spPr>
        <p:txBody>
          <a:bodyPr wrap="square" lIns="0" tIns="0" rIns="0" bIns="0" rtlCol="0"/>
          <a:lstStyle/>
          <a:p>
            <a:pPr algn="l" indent="0" marL="0">
              <a:buNone/>
            </a:pPr>
            <a:r>
              <a:rPr lang="en-US" sz="5400" b="1" dirty="0">
                <a:solidFill>
                  <a:schemeClr val="bg1"/>
                </a:solidFill>
              </a:rPr>
              <a:t>UTAUT</a:t>
            </a:r>
            <a:endParaRPr lang="en-US" sz="5400" dirty="0"/>
          </a:p>
        </p:txBody>
      </p:sp>
      <p:sp>
        <p:nvSpPr>
          <p:cNvPr id="4" name="Text 0"/>
          <p:cNvSpPr/>
          <p:nvPr>
            <p:ph idx="102" type="body" hasCustomPrompt="1"/>
          </p:nvPr>
        </p:nvSpPr>
        <p:spPr>
          <a:xfrm>
            <a:off x="731520" y="3886200"/>
            <a:ext cx="7772400" cy="914400"/>
          </a:xfrm>
          <a:prstGeom prst="rect">
            <a:avLst/>
          </a:prstGeom>
          <a:noFill/>
          <a:ln/>
        </p:spPr>
        <p:txBody>
          <a:bodyPr wrap="square" lIns="0" tIns="0" rIns="0" bIns="0" rtlCol="0" anchor="t"/>
          <a:lstStyle/>
          <a:p>
            <a:pPr indent="0" marL="0">
              <a:buNone/>
            </a:pPr>
            <a:r>
              <a:rPr lang="en-US" sz="1800" dirty="0">
                <a:solidFill>
                  <a:schemeClr val="bg2"/>
                </a:solidFill>
              </a:rPr>
              <a:t>Unified Theory of Acceptance and Use of Technology</a:t>
            </a:r>
            <a:endParaRPr lang="en-US" sz="1800" dirty="0"/>
          </a:p>
          <a:p>
            <a:pPr indent="0" marL="0">
              <a:buNone/>
            </a:pPr>
            <a:r>
              <a:rPr lang="en-US" sz="1800" dirty="0">
                <a:solidFill>
                  <a:schemeClr val="bg2"/>
                </a:solidFill>
              </a:rPr>
              <a:t>Venkatesh, Morris, Davis &amp; Davis (2003)</a:t>
            </a:r>
            <a:endParaRPr lang="en-US" sz="1800" dirty="0"/>
          </a:p>
        </p:txBody>
      </p:sp>
      <p:sp>
        <p:nvSpPr>
          <p:cNvPr id="5" name="Konstruk UTAUT pe lingkaran"/>
          <p:cNvSpPr/>
          <p:nvPr/>
        </p:nvSpPr>
        <p:spPr>
          <a:xfrm>
            <a:off x="9052560" y="2011680"/>
            <a:ext cx="1097280" cy="1097280"/>
          </a:xfrm>
          <a:prstGeom prst="ellipse">
            <a:avLst/>
          </a:prstGeom>
          <a:solidFill>
            <a:schemeClr val="accent1"/>
          </a:solidFill>
          <a:ln/>
        </p:spPr>
      </p:sp>
      <p:pic>
        <p:nvPicPr>
          <p:cNvPr id="6" name="Konstruk UTAUT pe ikon" descr="preencoded.png">    </p:cNvPr>
          <p:cNvPicPr>
            <a:picLocks noChangeAspect="1"/>
          </p:cNvPicPr>
          <p:nvPr/>
        </p:nvPicPr>
        <p:blipFill>
          <a:blip r:embed="rId1"/>
          <a:stretch>
            <a:fillRect/>
          </a:stretch>
        </p:blipFill>
        <p:spPr>
          <a:xfrm>
            <a:off x="9315907" y="2275027"/>
            <a:ext cx="570586" cy="570586"/>
          </a:xfrm>
          <a:prstGeom prst="rect">
            <a:avLst/>
          </a:prstGeom>
        </p:spPr>
      </p:pic>
      <p:sp>
        <p:nvSpPr>
          <p:cNvPr id="7" name="Konstruk UTAUT ee lingkaran"/>
          <p:cNvSpPr/>
          <p:nvPr/>
        </p:nvSpPr>
        <p:spPr>
          <a:xfrm>
            <a:off x="10424160" y="2011680"/>
            <a:ext cx="1097280" cy="1097280"/>
          </a:xfrm>
          <a:prstGeom prst="ellipse">
            <a:avLst/>
          </a:prstGeom>
          <a:solidFill>
            <a:schemeClr val="accent1"/>
          </a:solidFill>
          <a:ln/>
        </p:spPr>
      </p:sp>
      <p:pic>
        <p:nvPicPr>
          <p:cNvPr id="8" name="Konstruk UTAUT ee ikon" descr="preencoded.png">    </p:cNvPr>
          <p:cNvPicPr>
            <a:picLocks noChangeAspect="1"/>
          </p:cNvPicPr>
          <p:nvPr/>
        </p:nvPicPr>
        <p:blipFill>
          <a:blip r:embed="rId2"/>
          <a:stretch>
            <a:fillRect/>
          </a:stretch>
        </p:blipFill>
        <p:spPr>
          <a:xfrm>
            <a:off x="10687507" y="2275027"/>
            <a:ext cx="570586" cy="570586"/>
          </a:xfrm>
          <a:prstGeom prst="rect">
            <a:avLst/>
          </a:prstGeom>
        </p:spPr>
      </p:pic>
      <p:sp>
        <p:nvSpPr>
          <p:cNvPr id="9" name="Konstruk UTAUT si lingkaran"/>
          <p:cNvSpPr/>
          <p:nvPr/>
        </p:nvSpPr>
        <p:spPr>
          <a:xfrm>
            <a:off x="9052560" y="3383280"/>
            <a:ext cx="1097280" cy="1097280"/>
          </a:xfrm>
          <a:prstGeom prst="ellipse">
            <a:avLst/>
          </a:prstGeom>
          <a:solidFill>
            <a:schemeClr val="accent1"/>
          </a:solidFill>
          <a:ln/>
        </p:spPr>
      </p:sp>
      <p:pic>
        <p:nvPicPr>
          <p:cNvPr id="10" name="Konstruk UTAUT si ikon" descr="preencoded.png">    </p:cNvPr>
          <p:cNvPicPr>
            <a:picLocks noChangeAspect="1"/>
          </p:cNvPicPr>
          <p:nvPr/>
        </p:nvPicPr>
        <p:blipFill>
          <a:blip r:embed="rId3"/>
          <a:stretch>
            <a:fillRect/>
          </a:stretch>
        </p:blipFill>
        <p:spPr>
          <a:xfrm>
            <a:off x="9315907" y="3646627"/>
            <a:ext cx="570586" cy="570586"/>
          </a:xfrm>
          <a:prstGeom prst="rect">
            <a:avLst/>
          </a:prstGeom>
        </p:spPr>
      </p:pic>
      <p:sp>
        <p:nvSpPr>
          <p:cNvPr id="11" name="Konstruk UTAUT fc lingkaran"/>
          <p:cNvSpPr/>
          <p:nvPr/>
        </p:nvSpPr>
        <p:spPr>
          <a:xfrm>
            <a:off x="10424160" y="3383280"/>
            <a:ext cx="1097280" cy="1097280"/>
          </a:xfrm>
          <a:prstGeom prst="ellipse">
            <a:avLst/>
          </a:prstGeom>
          <a:solidFill>
            <a:schemeClr val="accent1"/>
          </a:solidFill>
          <a:ln/>
        </p:spPr>
      </p:sp>
      <p:pic>
        <p:nvPicPr>
          <p:cNvPr id="12" name="Konstruk UTAUT fc ikon" descr="preencoded.png">    </p:cNvPr>
          <p:cNvPicPr>
            <a:picLocks noChangeAspect="1"/>
          </p:cNvPicPr>
          <p:nvPr/>
        </p:nvPicPr>
        <p:blipFill>
          <a:blip r:embed="rId4"/>
          <a:stretch>
            <a:fillRect/>
          </a:stretch>
        </p:blipFill>
        <p:spPr>
          <a:xfrm>
            <a:off x="10687507" y="3646627"/>
            <a:ext cx="570586" cy="570586"/>
          </a:xfrm>
          <a:prstGeom prst="rect">
            <a:avLst/>
          </a:prstGeom>
        </p:spPr>
      </p:pic>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PENGERTIAN UTAUT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Satu model terpadu untuk penerimaan teknologi</a:t>
            </a:r>
            <a:endParaRPr lang="en-US" sz="3400" dirty="0"/>
          </a:p>
        </p:txBody>
      </p:sp>
      <p:sp>
        <p:nvSpPr>
          <p:cNvPr id="4" name="Kartu definisi"/>
          <p:cNvSpPr/>
          <p:nvPr/>
        </p:nvSpPr>
        <p:spPr>
          <a:xfrm>
            <a:off x="548640" y="1600200"/>
            <a:ext cx="6675120" cy="1874520"/>
          </a:xfrm>
          <a:prstGeom prst="roundRect">
            <a:avLst>
              <a:gd name="adj" fmla="val 5854"/>
            </a:avLst>
          </a:prstGeom>
          <a:solidFill>
            <a:schemeClr val="bg2"/>
          </a:solidFill>
          <a:ln/>
        </p:spPr>
      </p:sp>
      <p:pic>
        <p:nvPicPr>
          <p:cNvPr id="5" name="Ikon kutipan" descr="preencoded.png">    </p:cNvPr>
          <p:cNvPicPr>
            <a:picLocks noChangeAspect="1"/>
          </p:cNvPicPr>
          <p:nvPr/>
        </p:nvPicPr>
        <p:blipFill>
          <a:blip r:embed="rId1"/>
          <a:stretch>
            <a:fillRect/>
          </a:stretch>
        </p:blipFill>
        <p:spPr>
          <a:xfrm>
            <a:off x="868680" y="1874520"/>
            <a:ext cx="411480" cy="411480"/>
          </a:xfrm>
          <a:prstGeom prst="rect">
            <a:avLst/>
          </a:prstGeom>
        </p:spPr>
      </p:pic>
      <p:sp>
        <p:nvSpPr>
          <p:cNvPr id="6" name="Text 3"/>
          <p:cNvSpPr txBox="1"/>
          <p:nvPr/>
        </p:nvSpPr>
        <p:spPr>
          <a:xfrm>
            <a:off x="1463040" y="1828800"/>
            <a:ext cx="5486400" cy="146304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UTAUT adalah model yang menjelaskan faktor-faktor yang membentuk niat seseorang untuk menggunakan teknologi (behavioral intention) dan penggunaan nyatanya (use behavior).</a:t>
            </a:r>
            <a:endParaRPr lang="en-US" sz="1800" dirty="0"/>
          </a:p>
        </p:txBody>
      </p:sp>
      <p:sp>
        <p:nvSpPr>
          <p:cNvPr id="7" name="Text 4"/>
          <p:cNvSpPr txBox="1"/>
          <p:nvPr/>
        </p:nvSpPr>
        <p:spPr>
          <a:xfrm>
            <a:off x="548640" y="3703320"/>
            <a:ext cx="1737360" cy="548640"/>
          </a:xfrm>
          <a:prstGeom prst="rect">
            <a:avLst/>
          </a:prstGeom>
          <a:noFill/>
          <a:ln/>
        </p:spPr>
        <p:txBody>
          <a:bodyPr wrap="square" lIns="0" tIns="0" rIns="0" bIns="0" rtlCol="0" anchor="t"/>
          <a:lstStyle/>
          <a:p>
            <a:pPr indent="0" marL="0">
              <a:buNone/>
            </a:pPr>
            <a:r>
              <a:rPr lang="en-US" sz="1400" b="1" dirty="0">
                <a:solidFill>
                  <a:schemeClr val="accent1"/>
                </a:solidFill>
              </a:rPr>
              <a:t>Penulis</a:t>
            </a:r>
            <a:endParaRPr lang="en-US" sz="1400" dirty="0"/>
          </a:p>
        </p:txBody>
      </p:sp>
      <p:sp>
        <p:nvSpPr>
          <p:cNvPr id="8" name="Text 5"/>
          <p:cNvSpPr txBox="1"/>
          <p:nvPr/>
        </p:nvSpPr>
        <p:spPr>
          <a:xfrm>
            <a:off x="2331720" y="3703320"/>
            <a:ext cx="4892040" cy="548640"/>
          </a:xfrm>
          <a:prstGeom prst="rect">
            <a:avLst/>
          </a:prstGeom>
          <a:noFill/>
          <a:ln/>
        </p:spPr>
        <p:txBody>
          <a:bodyPr wrap="square" lIns="0" tIns="0" rIns="0" bIns="0" rtlCol="0" anchor="t"/>
          <a:lstStyle/>
          <a:p>
            <a:pPr indent="0" marL="0">
              <a:buNone/>
            </a:pPr>
            <a:r>
              <a:rPr lang="en-US" sz="1400" dirty="0">
                <a:solidFill>
                  <a:schemeClr val="tx1"/>
                </a:solidFill>
              </a:rPr>
              <a:t>Venkatesh, Morris, Davis &amp; Davis (2003)</a:t>
            </a:r>
            <a:endParaRPr lang="en-US" sz="1400" dirty="0"/>
          </a:p>
        </p:txBody>
      </p:sp>
      <p:sp>
        <p:nvSpPr>
          <p:cNvPr id="9" name="Text 6"/>
          <p:cNvSpPr txBox="1"/>
          <p:nvPr/>
        </p:nvSpPr>
        <p:spPr>
          <a:xfrm>
            <a:off x="548640" y="4325112"/>
            <a:ext cx="1737360" cy="548640"/>
          </a:xfrm>
          <a:prstGeom prst="rect">
            <a:avLst/>
          </a:prstGeom>
          <a:noFill/>
          <a:ln/>
        </p:spPr>
        <p:txBody>
          <a:bodyPr wrap="square" lIns="0" tIns="0" rIns="0" bIns="0" rtlCol="0" anchor="t"/>
          <a:lstStyle/>
          <a:p>
            <a:pPr indent="0" marL="0">
              <a:buNone/>
            </a:pPr>
            <a:r>
              <a:rPr lang="en-US" sz="1400" b="1" dirty="0">
                <a:solidFill>
                  <a:schemeClr val="accent1"/>
                </a:solidFill>
              </a:rPr>
              <a:t>Publikasi</a:t>
            </a:r>
            <a:endParaRPr lang="en-US" sz="1400" dirty="0"/>
          </a:p>
        </p:txBody>
      </p:sp>
      <p:sp>
        <p:nvSpPr>
          <p:cNvPr id="10" name="Text 7"/>
          <p:cNvSpPr txBox="1"/>
          <p:nvPr/>
        </p:nvSpPr>
        <p:spPr>
          <a:xfrm>
            <a:off x="2331720" y="4325112"/>
            <a:ext cx="4892040" cy="548640"/>
          </a:xfrm>
          <a:prstGeom prst="rect">
            <a:avLst/>
          </a:prstGeom>
          <a:noFill/>
          <a:ln/>
        </p:spPr>
        <p:txBody>
          <a:bodyPr wrap="square" lIns="0" tIns="0" rIns="0" bIns="0" rtlCol="0" anchor="t"/>
          <a:lstStyle/>
          <a:p>
            <a:pPr indent="0" marL="0">
              <a:buNone/>
            </a:pPr>
            <a:r>
              <a:rPr lang="en-US" sz="1400" dirty="0">
                <a:solidFill>
                  <a:schemeClr val="tx1"/>
                </a:solidFill>
              </a:rPr>
              <a:t>MIS Quarterly, 27(3), 425–478: “User Acceptance of Information Technology: Toward a Unified View”</a:t>
            </a:r>
            <a:endParaRPr lang="en-US" sz="1400" dirty="0"/>
          </a:p>
        </p:txBody>
      </p:sp>
      <p:sp>
        <p:nvSpPr>
          <p:cNvPr id="11" name="Text 8"/>
          <p:cNvSpPr txBox="1"/>
          <p:nvPr/>
        </p:nvSpPr>
        <p:spPr>
          <a:xfrm>
            <a:off x="548640" y="4946904"/>
            <a:ext cx="1737360" cy="548640"/>
          </a:xfrm>
          <a:prstGeom prst="rect">
            <a:avLst/>
          </a:prstGeom>
          <a:noFill/>
          <a:ln/>
        </p:spPr>
        <p:txBody>
          <a:bodyPr wrap="square" lIns="0" tIns="0" rIns="0" bIns="0" rtlCol="0" anchor="t"/>
          <a:lstStyle/>
          <a:p>
            <a:pPr indent="0" marL="0">
              <a:buNone/>
            </a:pPr>
            <a:r>
              <a:rPr lang="en-US" sz="1400" b="1" dirty="0">
                <a:solidFill>
                  <a:schemeClr val="accent1"/>
                </a:solidFill>
              </a:rPr>
              <a:t>Cara dibangun</a:t>
            </a:r>
            <a:endParaRPr lang="en-US" sz="1400" dirty="0"/>
          </a:p>
        </p:txBody>
      </p:sp>
      <p:sp>
        <p:nvSpPr>
          <p:cNvPr id="12" name="Text 9"/>
          <p:cNvSpPr txBox="1"/>
          <p:nvPr/>
        </p:nvSpPr>
        <p:spPr>
          <a:xfrm>
            <a:off x="2331720" y="4946904"/>
            <a:ext cx="4892040" cy="548640"/>
          </a:xfrm>
          <a:prstGeom prst="rect">
            <a:avLst/>
          </a:prstGeom>
          <a:noFill/>
          <a:ln/>
        </p:spPr>
        <p:txBody>
          <a:bodyPr wrap="square" lIns="0" tIns="0" rIns="0" bIns="0" rtlCol="0" anchor="t"/>
          <a:lstStyle/>
          <a:p>
            <a:pPr indent="0" marL="0">
              <a:buNone/>
            </a:pPr>
            <a:r>
              <a:rPr lang="en-US" sz="1400" dirty="0">
                <a:solidFill>
                  <a:schemeClr val="tx1"/>
                </a:solidFill>
              </a:rPr>
              <a:t>Membandingkan 8 model pendahulu, lalu menguji model gabungan secara longitudinal di 4 organisasi</a:t>
            </a:r>
            <a:endParaRPr lang="en-US" sz="1400" dirty="0"/>
          </a:p>
        </p:txBody>
      </p:sp>
      <p:sp>
        <p:nvSpPr>
          <p:cNvPr id="13" name="Text 10"/>
          <p:cNvSpPr txBox="1"/>
          <p:nvPr/>
        </p:nvSpPr>
        <p:spPr>
          <a:xfrm>
            <a:off x="548640" y="5568696"/>
            <a:ext cx="1737360" cy="548640"/>
          </a:xfrm>
          <a:prstGeom prst="rect">
            <a:avLst/>
          </a:prstGeom>
          <a:noFill/>
          <a:ln/>
        </p:spPr>
        <p:txBody>
          <a:bodyPr wrap="square" lIns="0" tIns="0" rIns="0" bIns="0" rtlCol="0" anchor="t"/>
          <a:lstStyle/>
          <a:p>
            <a:pPr indent="0" marL="0">
              <a:buNone/>
            </a:pPr>
            <a:r>
              <a:rPr lang="en-US" sz="1400" b="1" dirty="0">
                <a:solidFill>
                  <a:schemeClr val="accent1"/>
                </a:solidFill>
              </a:rPr>
              <a:t>Makna “Unified”</a:t>
            </a:r>
            <a:endParaRPr lang="en-US" sz="1400" dirty="0"/>
          </a:p>
        </p:txBody>
      </p:sp>
      <p:sp>
        <p:nvSpPr>
          <p:cNvPr id="14" name="Text 11"/>
          <p:cNvSpPr txBox="1"/>
          <p:nvPr/>
        </p:nvSpPr>
        <p:spPr>
          <a:xfrm>
            <a:off x="2331720" y="5568696"/>
            <a:ext cx="4892040" cy="548640"/>
          </a:xfrm>
          <a:prstGeom prst="rect">
            <a:avLst/>
          </a:prstGeom>
          <a:noFill/>
          <a:ln/>
        </p:spPr>
        <p:txBody>
          <a:bodyPr wrap="square" lIns="0" tIns="0" rIns="0" bIns="0" rtlCol="0" anchor="t"/>
          <a:lstStyle/>
          <a:p>
            <a:pPr indent="0" marL="0">
              <a:buNone/>
            </a:pPr>
            <a:r>
              <a:rPr lang="en-US" sz="1400" dirty="0">
                <a:solidFill>
                  <a:schemeClr val="tx1"/>
                </a:solidFill>
              </a:rPr>
              <a:t>Konsep yang mirip dari berbagai teori disatukan menjadi 4 konstruk inti agar lebih ringkas</a:t>
            </a:r>
            <a:endParaRPr lang="en-US" sz="1400" dirty="0"/>
          </a:p>
        </p:txBody>
      </p:sp>
      <p:sp>
        <p:nvSpPr>
          <p:cNvPr id="15" name="Kartu statistik"/>
          <p:cNvSpPr/>
          <p:nvPr/>
        </p:nvSpPr>
        <p:spPr>
          <a:xfrm>
            <a:off x="7680960" y="1600200"/>
            <a:ext cx="3959352" cy="4480560"/>
          </a:xfrm>
          <a:prstGeom prst="roundRect">
            <a:avLst>
              <a:gd name="adj" fmla="val 2771"/>
            </a:avLst>
          </a:prstGeom>
          <a:solidFill>
            <a:schemeClr val="tx1"/>
          </a:solidFill>
          <a:ln/>
        </p:spPr>
      </p:sp>
      <p:sp>
        <p:nvSpPr>
          <p:cNvPr id="16" name="Text 13"/>
          <p:cNvSpPr txBox="1"/>
          <p:nvPr/>
        </p:nvSpPr>
        <p:spPr>
          <a:xfrm>
            <a:off x="8046720" y="1874520"/>
            <a:ext cx="3291840" cy="320040"/>
          </a:xfrm>
          <a:prstGeom prst="rect">
            <a:avLst/>
          </a:prstGeom>
          <a:noFill/>
          <a:ln/>
        </p:spPr>
        <p:txBody>
          <a:bodyPr wrap="square" lIns="0" tIns="0" rIns="0" bIns="0" rtlCol="0" anchor="t"/>
          <a:lstStyle/>
          <a:p>
            <a:pPr indent="0" marL="0">
              <a:buNone/>
            </a:pPr>
            <a:r>
              <a:rPr lang="en-US" sz="1400" b="1" dirty="0">
                <a:solidFill>
                  <a:schemeClr val="accent1"/>
                </a:solidFill>
              </a:rPr>
              <a:t>Daya jelas UTAUT</a:t>
            </a:r>
            <a:endParaRPr lang="en-US" sz="1400" dirty="0"/>
          </a:p>
        </p:txBody>
      </p:sp>
      <p:sp>
        <p:nvSpPr>
          <p:cNvPr id="17" name="Text 14"/>
          <p:cNvSpPr txBox="1"/>
          <p:nvPr/>
        </p:nvSpPr>
        <p:spPr>
          <a:xfrm>
            <a:off x="8046720" y="2240280"/>
            <a:ext cx="3291840" cy="109728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±70%</a:t>
            </a:r>
            <a:endParaRPr lang="en-US" sz="6600" dirty="0"/>
          </a:p>
        </p:txBody>
      </p:sp>
      <p:sp>
        <p:nvSpPr>
          <p:cNvPr id="18" name="Text 15"/>
          <p:cNvSpPr txBox="1"/>
          <p:nvPr/>
        </p:nvSpPr>
        <p:spPr>
          <a:xfrm>
            <a:off x="8046720" y="3383280"/>
            <a:ext cx="3291840" cy="731520"/>
          </a:xfrm>
          <a:prstGeom prst="rect">
            <a:avLst/>
          </a:prstGeom>
          <a:noFill/>
          <a:ln/>
        </p:spPr>
        <p:txBody>
          <a:bodyPr wrap="square" lIns="0" tIns="0" rIns="0" bIns="0" rtlCol="0" anchor="t"/>
          <a:lstStyle/>
          <a:p>
            <a:pPr indent="0" marL="0">
              <a:buNone/>
            </a:pPr>
            <a:r>
              <a:rPr lang="en-US" sz="1500" dirty="0">
                <a:solidFill>
                  <a:schemeClr val="bg2"/>
                </a:solidFill>
              </a:rPr>
              <a:t>varians niat menggunakan (adjusted R²) dapat dijelaskan oleh UTAUT</a:t>
            </a:r>
            <a:endParaRPr lang="en-US" sz="1500" dirty="0"/>
          </a:p>
        </p:txBody>
      </p:sp>
      <p:sp>
        <p:nvSpPr>
          <p:cNvPr id="19" name="Pemisah"/>
          <p:cNvSpPr/>
          <p:nvPr/>
        </p:nvSpPr>
        <p:spPr>
          <a:xfrm>
            <a:off x="8046720" y="4343400"/>
            <a:ext cx="3200400" cy="0"/>
          </a:xfrm>
          <a:prstGeom prst="line">
            <a:avLst/>
          </a:prstGeom>
          <a:noFill/>
          <a:ln w="12700">
            <a:solidFill>
              <a:schemeClr val="accent6"/>
            </a:solidFill>
            <a:prstDash val="solid"/>
          </a:ln>
        </p:spPr>
      </p:sp>
      <p:sp>
        <p:nvSpPr>
          <p:cNvPr id="20" name="Text 17"/>
          <p:cNvSpPr txBox="1"/>
          <p:nvPr/>
        </p:nvSpPr>
        <p:spPr>
          <a:xfrm>
            <a:off x="8046720" y="4526280"/>
            <a:ext cx="3291840" cy="594360"/>
          </a:xfrm>
          <a:prstGeom prst="rect">
            <a:avLst/>
          </a:prstGeom>
          <a:noFill/>
          <a:ln/>
        </p:spPr>
        <p:txBody>
          <a:bodyPr wrap="square" lIns="0" tIns="0" rIns="0" bIns="0" rtlCol="0" anchor="t"/>
          <a:lstStyle/>
          <a:p>
            <a:pPr indent="0" marL="0">
              <a:buNone/>
            </a:pPr>
            <a:r>
              <a:rPr lang="en-US" sz="3200" b="1" dirty="0">
                <a:solidFill>
                  <a:schemeClr val="accent6"/>
                </a:solidFill>
                <a:latin typeface="Cambria" pitchFamily="34" charset="0"/>
                <a:ea typeface="Cambria" pitchFamily="34" charset="-122"/>
                <a:cs typeface="Cambria" pitchFamily="34" charset="-120"/>
              </a:rPr>
              <a:t>17–53%</a:t>
            </a:r>
            <a:endParaRPr lang="en-US" sz="3200" dirty="0"/>
          </a:p>
        </p:txBody>
      </p:sp>
      <p:sp>
        <p:nvSpPr>
          <p:cNvPr id="21" name="Text 18"/>
          <p:cNvSpPr txBox="1"/>
          <p:nvPr/>
        </p:nvSpPr>
        <p:spPr>
          <a:xfrm>
            <a:off x="8046720" y="5120640"/>
            <a:ext cx="3291840" cy="731520"/>
          </a:xfrm>
          <a:prstGeom prst="rect">
            <a:avLst/>
          </a:prstGeom>
          <a:noFill/>
          <a:ln/>
        </p:spPr>
        <p:txBody>
          <a:bodyPr wrap="square" lIns="0" tIns="0" rIns="0" bIns="0" rtlCol="0" anchor="t"/>
          <a:lstStyle/>
          <a:p>
            <a:pPr indent="0" marL="0">
              <a:buNone/>
            </a:pPr>
            <a:r>
              <a:rPr lang="en-US" sz="1300" dirty="0">
                <a:solidFill>
                  <a:schemeClr val="bg2"/>
                </a:solidFill>
              </a:rPr>
              <a:t>rentang varians yang dijelaskan masing-masing dari 8 model pendahulu</a:t>
            </a:r>
            <a:endParaRPr lang="en-US" sz="13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MENGAPA UTAUT DIBUAT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Delapan teori pendahulu yang disatukan</a:t>
            </a:r>
            <a:endParaRPr lang="en-US" sz="3400" dirty="0"/>
          </a:p>
        </p:txBody>
      </p:sp>
      <p:sp>
        <p:nvSpPr>
          <p:cNvPr id="4" name="Model TRA"/>
          <p:cNvSpPr/>
          <p:nvPr/>
        </p:nvSpPr>
        <p:spPr>
          <a:xfrm>
            <a:off x="548640" y="1554480"/>
            <a:ext cx="2606040" cy="1783080"/>
          </a:xfrm>
          <a:prstGeom prst="roundRect">
            <a:avLst>
              <a:gd name="adj" fmla="val 6154"/>
            </a:avLst>
          </a:prstGeom>
          <a:solidFill>
            <a:schemeClr val="bg2"/>
          </a:solidFill>
          <a:ln/>
        </p:spPr>
      </p:sp>
      <p:sp>
        <p:nvSpPr>
          <p:cNvPr id="5" name="Text 3"/>
          <p:cNvSpPr txBox="1"/>
          <p:nvPr/>
        </p:nvSpPr>
        <p:spPr>
          <a:xfrm>
            <a:off x="777240" y="173736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TRA</a:t>
            </a:r>
            <a:endParaRPr lang="en-US" sz="2000" dirty="0"/>
          </a:p>
        </p:txBody>
      </p:sp>
      <p:sp>
        <p:nvSpPr>
          <p:cNvPr id="6" name="Text 4"/>
          <p:cNvSpPr txBox="1"/>
          <p:nvPr/>
        </p:nvSpPr>
        <p:spPr>
          <a:xfrm>
            <a:off x="777240" y="214884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Theory of Reasoned Action</a:t>
            </a:r>
            <a:endParaRPr lang="en-US" sz="1200" dirty="0"/>
          </a:p>
        </p:txBody>
      </p:sp>
      <p:sp>
        <p:nvSpPr>
          <p:cNvPr id="7" name="Text 5"/>
          <p:cNvSpPr txBox="1"/>
          <p:nvPr/>
        </p:nvSpPr>
        <p:spPr>
          <a:xfrm>
            <a:off x="777240" y="2450592"/>
            <a:ext cx="2148840" cy="457200"/>
          </a:xfrm>
          <a:prstGeom prst="rect">
            <a:avLst/>
          </a:prstGeom>
          <a:noFill/>
          <a:ln/>
        </p:spPr>
        <p:txBody>
          <a:bodyPr wrap="square" lIns="0" tIns="0" rIns="0" bIns="0" rtlCol="0" anchor="t"/>
          <a:lstStyle/>
          <a:p>
            <a:pPr indent="0" marL="0">
              <a:buNone/>
            </a:pPr>
            <a:r>
              <a:rPr lang="en-US" sz="1400" dirty="0">
                <a:solidFill>
                  <a:schemeClr val="tx1"/>
                </a:solidFill>
              </a:rPr>
              <a:t>Sikap dan norma subjektif</a:t>
            </a:r>
            <a:endParaRPr lang="en-US" sz="1400" dirty="0"/>
          </a:p>
        </p:txBody>
      </p:sp>
      <p:sp>
        <p:nvSpPr>
          <p:cNvPr id="8" name="Text 6"/>
          <p:cNvSpPr txBox="1"/>
          <p:nvPr/>
        </p:nvSpPr>
        <p:spPr>
          <a:xfrm>
            <a:off x="777240" y="292608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Fishbein &amp; Ajzen, 1975</a:t>
            </a:r>
            <a:endParaRPr lang="en-US" sz="1000" dirty="0"/>
          </a:p>
        </p:txBody>
      </p:sp>
      <p:sp>
        <p:nvSpPr>
          <p:cNvPr id="9" name="Model TAM / TAM2"/>
          <p:cNvSpPr/>
          <p:nvPr/>
        </p:nvSpPr>
        <p:spPr>
          <a:xfrm>
            <a:off x="3367735" y="1554480"/>
            <a:ext cx="2606040" cy="1783080"/>
          </a:xfrm>
          <a:prstGeom prst="roundRect">
            <a:avLst>
              <a:gd name="adj" fmla="val 6154"/>
            </a:avLst>
          </a:prstGeom>
          <a:solidFill>
            <a:schemeClr val="bg2"/>
          </a:solidFill>
          <a:ln/>
        </p:spPr>
      </p:sp>
      <p:sp>
        <p:nvSpPr>
          <p:cNvPr id="10" name="Text 8"/>
          <p:cNvSpPr txBox="1"/>
          <p:nvPr/>
        </p:nvSpPr>
        <p:spPr>
          <a:xfrm>
            <a:off x="3596335" y="173736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TAM / TAM2</a:t>
            </a:r>
            <a:endParaRPr lang="en-US" sz="2000" dirty="0"/>
          </a:p>
        </p:txBody>
      </p:sp>
      <p:sp>
        <p:nvSpPr>
          <p:cNvPr id="11" name="Text 9"/>
          <p:cNvSpPr txBox="1"/>
          <p:nvPr/>
        </p:nvSpPr>
        <p:spPr>
          <a:xfrm>
            <a:off x="3596335" y="214884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Technology Acceptance Model</a:t>
            </a:r>
            <a:endParaRPr lang="en-US" sz="1200" dirty="0"/>
          </a:p>
        </p:txBody>
      </p:sp>
      <p:sp>
        <p:nvSpPr>
          <p:cNvPr id="12" name="Text 10"/>
          <p:cNvSpPr txBox="1"/>
          <p:nvPr/>
        </p:nvSpPr>
        <p:spPr>
          <a:xfrm>
            <a:off x="3596335" y="2450592"/>
            <a:ext cx="2148840" cy="457200"/>
          </a:xfrm>
          <a:prstGeom prst="rect">
            <a:avLst/>
          </a:prstGeom>
          <a:noFill/>
          <a:ln/>
        </p:spPr>
        <p:txBody>
          <a:bodyPr wrap="square" lIns="0" tIns="0" rIns="0" bIns="0" rtlCol="0" anchor="t"/>
          <a:lstStyle/>
          <a:p>
            <a:pPr indent="0" marL="0">
              <a:buNone/>
            </a:pPr>
            <a:r>
              <a:rPr lang="en-US" sz="1400" dirty="0">
                <a:solidFill>
                  <a:schemeClr val="tx1"/>
                </a:solidFill>
              </a:rPr>
              <a:t>Manfaat dan kemudahan</a:t>
            </a:r>
            <a:endParaRPr lang="en-US" sz="1400" dirty="0"/>
          </a:p>
        </p:txBody>
      </p:sp>
      <p:sp>
        <p:nvSpPr>
          <p:cNvPr id="13" name="Text 11"/>
          <p:cNvSpPr txBox="1"/>
          <p:nvPr/>
        </p:nvSpPr>
        <p:spPr>
          <a:xfrm>
            <a:off x="3596335" y="292608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Davis, 1989</a:t>
            </a:r>
            <a:endParaRPr lang="en-US" sz="1000" dirty="0"/>
          </a:p>
        </p:txBody>
      </p:sp>
      <p:sp>
        <p:nvSpPr>
          <p:cNvPr id="14" name="Model MM"/>
          <p:cNvSpPr/>
          <p:nvPr/>
        </p:nvSpPr>
        <p:spPr>
          <a:xfrm>
            <a:off x="6186830" y="1554480"/>
            <a:ext cx="2606040" cy="1783080"/>
          </a:xfrm>
          <a:prstGeom prst="roundRect">
            <a:avLst>
              <a:gd name="adj" fmla="val 6154"/>
            </a:avLst>
          </a:prstGeom>
          <a:solidFill>
            <a:schemeClr val="bg2"/>
          </a:solidFill>
          <a:ln/>
        </p:spPr>
      </p:sp>
      <p:sp>
        <p:nvSpPr>
          <p:cNvPr id="15" name="Text 13"/>
          <p:cNvSpPr txBox="1"/>
          <p:nvPr/>
        </p:nvSpPr>
        <p:spPr>
          <a:xfrm>
            <a:off x="6415430" y="173736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MM</a:t>
            </a:r>
            <a:endParaRPr lang="en-US" sz="2000" dirty="0"/>
          </a:p>
        </p:txBody>
      </p:sp>
      <p:sp>
        <p:nvSpPr>
          <p:cNvPr id="16" name="Text 14"/>
          <p:cNvSpPr txBox="1"/>
          <p:nvPr/>
        </p:nvSpPr>
        <p:spPr>
          <a:xfrm>
            <a:off x="6415430" y="214884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Motivational Model</a:t>
            </a:r>
            <a:endParaRPr lang="en-US" sz="1200" dirty="0"/>
          </a:p>
        </p:txBody>
      </p:sp>
      <p:sp>
        <p:nvSpPr>
          <p:cNvPr id="17" name="Text 15"/>
          <p:cNvSpPr txBox="1"/>
          <p:nvPr/>
        </p:nvSpPr>
        <p:spPr>
          <a:xfrm>
            <a:off x="6415430" y="2450592"/>
            <a:ext cx="2148840" cy="457200"/>
          </a:xfrm>
          <a:prstGeom prst="rect">
            <a:avLst/>
          </a:prstGeom>
          <a:noFill/>
          <a:ln/>
        </p:spPr>
        <p:txBody>
          <a:bodyPr wrap="square" lIns="0" tIns="0" rIns="0" bIns="0" rtlCol="0" anchor="t"/>
          <a:lstStyle/>
          <a:p>
            <a:pPr indent="0" marL="0">
              <a:buNone/>
            </a:pPr>
            <a:r>
              <a:rPr lang="en-US" sz="1400" dirty="0">
                <a:solidFill>
                  <a:schemeClr val="tx1"/>
                </a:solidFill>
              </a:rPr>
              <a:t>Motivasi ekstrinsik &amp; intrinsik</a:t>
            </a:r>
            <a:endParaRPr lang="en-US" sz="1400" dirty="0"/>
          </a:p>
        </p:txBody>
      </p:sp>
      <p:sp>
        <p:nvSpPr>
          <p:cNvPr id="18" name="Text 16"/>
          <p:cNvSpPr txBox="1"/>
          <p:nvPr/>
        </p:nvSpPr>
        <p:spPr>
          <a:xfrm>
            <a:off x="6415430" y="292608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Davis dkk., 1992</a:t>
            </a:r>
            <a:endParaRPr lang="en-US" sz="1000" dirty="0"/>
          </a:p>
        </p:txBody>
      </p:sp>
      <p:sp>
        <p:nvSpPr>
          <p:cNvPr id="19" name="Model TPB"/>
          <p:cNvSpPr/>
          <p:nvPr/>
        </p:nvSpPr>
        <p:spPr>
          <a:xfrm>
            <a:off x="9005926" y="1554480"/>
            <a:ext cx="2606040" cy="1783080"/>
          </a:xfrm>
          <a:prstGeom prst="roundRect">
            <a:avLst>
              <a:gd name="adj" fmla="val 6154"/>
            </a:avLst>
          </a:prstGeom>
          <a:solidFill>
            <a:schemeClr val="bg2"/>
          </a:solidFill>
          <a:ln/>
        </p:spPr>
      </p:sp>
      <p:sp>
        <p:nvSpPr>
          <p:cNvPr id="20" name="Text 18"/>
          <p:cNvSpPr txBox="1"/>
          <p:nvPr/>
        </p:nvSpPr>
        <p:spPr>
          <a:xfrm>
            <a:off x="9234526" y="173736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TPB</a:t>
            </a:r>
            <a:endParaRPr lang="en-US" sz="2000" dirty="0"/>
          </a:p>
        </p:txBody>
      </p:sp>
      <p:sp>
        <p:nvSpPr>
          <p:cNvPr id="21" name="Text 19"/>
          <p:cNvSpPr txBox="1"/>
          <p:nvPr/>
        </p:nvSpPr>
        <p:spPr>
          <a:xfrm>
            <a:off x="9234526" y="214884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Theory of Planned Behavior</a:t>
            </a:r>
            <a:endParaRPr lang="en-US" sz="1200" dirty="0"/>
          </a:p>
        </p:txBody>
      </p:sp>
      <p:sp>
        <p:nvSpPr>
          <p:cNvPr id="22" name="Text 20"/>
          <p:cNvSpPr txBox="1"/>
          <p:nvPr/>
        </p:nvSpPr>
        <p:spPr>
          <a:xfrm>
            <a:off x="9234526" y="2450592"/>
            <a:ext cx="2148840" cy="457200"/>
          </a:xfrm>
          <a:prstGeom prst="rect">
            <a:avLst/>
          </a:prstGeom>
          <a:noFill/>
          <a:ln/>
        </p:spPr>
        <p:txBody>
          <a:bodyPr wrap="square" lIns="0" tIns="0" rIns="0" bIns="0" rtlCol="0" anchor="t"/>
          <a:lstStyle/>
          <a:p>
            <a:pPr indent="0" marL="0">
              <a:buNone/>
            </a:pPr>
            <a:r>
              <a:rPr lang="en-US" sz="1400" dirty="0">
                <a:solidFill>
                  <a:schemeClr val="tx1"/>
                </a:solidFill>
              </a:rPr>
              <a:t>Sikap, norma, kontrol perilaku</a:t>
            </a:r>
            <a:endParaRPr lang="en-US" sz="1400" dirty="0"/>
          </a:p>
        </p:txBody>
      </p:sp>
      <p:sp>
        <p:nvSpPr>
          <p:cNvPr id="23" name="Text 21"/>
          <p:cNvSpPr txBox="1"/>
          <p:nvPr/>
        </p:nvSpPr>
        <p:spPr>
          <a:xfrm>
            <a:off x="9234526" y="292608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Ajzen, 1991</a:t>
            </a:r>
            <a:endParaRPr lang="en-US" sz="1000" dirty="0"/>
          </a:p>
        </p:txBody>
      </p:sp>
      <p:sp>
        <p:nvSpPr>
          <p:cNvPr id="24" name="Model C-TAM-TPB"/>
          <p:cNvSpPr/>
          <p:nvPr/>
        </p:nvSpPr>
        <p:spPr>
          <a:xfrm>
            <a:off x="548640" y="3566160"/>
            <a:ext cx="2606040" cy="1783080"/>
          </a:xfrm>
          <a:prstGeom prst="roundRect">
            <a:avLst>
              <a:gd name="adj" fmla="val 6154"/>
            </a:avLst>
          </a:prstGeom>
          <a:solidFill>
            <a:schemeClr val="bg2"/>
          </a:solidFill>
          <a:ln/>
        </p:spPr>
      </p:sp>
      <p:sp>
        <p:nvSpPr>
          <p:cNvPr id="25" name="Text 23"/>
          <p:cNvSpPr txBox="1"/>
          <p:nvPr/>
        </p:nvSpPr>
        <p:spPr>
          <a:xfrm>
            <a:off x="777240" y="374904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C-TAM-TPB</a:t>
            </a:r>
            <a:endParaRPr lang="en-US" sz="2000" dirty="0"/>
          </a:p>
        </p:txBody>
      </p:sp>
      <p:sp>
        <p:nvSpPr>
          <p:cNvPr id="26" name="Text 24"/>
          <p:cNvSpPr txBox="1"/>
          <p:nvPr/>
        </p:nvSpPr>
        <p:spPr>
          <a:xfrm>
            <a:off x="777240" y="416052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Combined TAM and TPB</a:t>
            </a:r>
            <a:endParaRPr lang="en-US" sz="1200" dirty="0"/>
          </a:p>
        </p:txBody>
      </p:sp>
      <p:sp>
        <p:nvSpPr>
          <p:cNvPr id="27" name="Text 25"/>
          <p:cNvSpPr txBox="1"/>
          <p:nvPr/>
        </p:nvSpPr>
        <p:spPr>
          <a:xfrm>
            <a:off x="777240" y="4462272"/>
            <a:ext cx="2148840" cy="457200"/>
          </a:xfrm>
          <a:prstGeom prst="rect">
            <a:avLst/>
          </a:prstGeom>
          <a:noFill/>
          <a:ln/>
        </p:spPr>
        <p:txBody>
          <a:bodyPr wrap="square" lIns="0" tIns="0" rIns="0" bIns="0" rtlCol="0" anchor="t"/>
          <a:lstStyle/>
          <a:p>
            <a:pPr indent="0" marL="0">
              <a:buNone/>
            </a:pPr>
            <a:r>
              <a:rPr lang="en-US" sz="1400" dirty="0">
                <a:solidFill>
                  <a:schemeClr val="tx1"/>
                </a:solidFill>
              </a:rPr>
              <a:t>Gabungan TAM dan TPB</a:t>
            </a:r>
            <a:endParaRPr lang="en-US" sz="1400" dirty="0"/>
          </a:p>
        </p:txBody>
      </p:sp>
      <p:sp>
        <p:nvSpPr>
          <p:cNvPr id="28" name="Text 26"/>
          <p:cNvSpPr txBox="1"/>
          <p:nvPr/>
        </p:nvSpPr>
        <p:spPr>
          <a:xfrm>
            <a:off x="777240" y="493776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Taylor &amp; Todd, 1995</a:t>
            </a:r>
            <a:endParaRPr lang="en-US" sz="1000" dirty="0"/>
          </a:p>
        </p:txBody>
      </p:sp>
      <p:sp>
        <p:nvSpPr>
          <p:cNvPr id="29" name="Model MPCU"/>
          <p:cNvSpPr/>
          <p:nvPr/>
        </p:nvSpPr>
        <p:spPr>
          <a:xfrm>
            <a:off x="3367735" y="3566160"/>
            <a:ext cx="2606040" cy="1783080"/>
          </a:xfrm>
          <a:prstGeom prst="roundRect">
            <a:avLst>
              <a:gd name="adj" fmla="val 6154"/>
            </a:avLst>
          </a:prstGeom>
          <a:solidFill>
            <a:schemeClr val="bg2"/>
          </a:solidFill>
          <a:ln/>
        </p:spPr>
      </p:sp>
      <p:sp>
        <p:nvSpPr>
          <p:cNvPr id="30" name="Text 28"/>
          <p:cNvSpPr txBox="1"/>
          <p:nvPr/>
        </p:nvSpPr>
        <p:spPr>
          <a:xfrm>
            <a:off x="3596335" y="374904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MPCU</a:t>
            </a:r>
            <a:endParaRPr lang="en-US" sz="2000" dirty="0"/>
          </a:p>
        </p:txBody>
      </p:sp>
      <p:sp>
        <p:nvSpPr>
          <p:cNvPr id="31" name="Text 29"/>
          <p:cNvSpPr txBox="1"/>
          <p:nvPr/>
        </p:nvSpPr>
        <p:spPr>
          <a:xfrm>
            <a:off x="3596335" y="416052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Model of PC Utilization</a:t>
            </a:r>
            <a:endParaRPr lang="en-US" sz="1200" dirty="0"/>
          </a:p>
        </p:txBody>
      </p:sp>
      <p:sp>
        <p:nvSpPr>
          <p:cNvPr id="32" name="Text 30"/>
          <p:cNvSpPr txBox="1"/>
          <p:nvPr/>
        </p:nvSpPr>
        <p:spPr>
          <a:xfrm>
            <a:off x="3596335" y="4462272"/>
            <a:ext cx="2148840" cy="457200"/>
          </a:xfrm>
          <a:prstGeom prst="rect">
            <a:avLst/>
          </a:prstGeom>
          <a:noFill/>
          <a:ln/>
        </p:spPr>
        <p:txBody>
          <a:bodyPr wrap="square" lIns="0" tIns="0" rIns="0" bIns="0" rtlCol="0" anchor="t"/>
          <a:lstStyle/>
          <a:p>
            <a:pPr indent="0" marL="0">
              <a:buNone/>
            </a:pPr>
            <a:r>
              <a:rPr lang="en-US" sz="1400" dirty="0">
                <a:solidFill>
                  <a:schemeClr val="tx1"/>
                </a:solidFill>
              </a:rPr>
              <a:t>Faktor penggunaan komputer</a:t>
            </a:r>
            <a:endParaRPr lang="en-US" sz="1400" dirty="0"/>
          </a:p>
        </p:txBody>
      </p:sp>
      <p:sp>
        <p:nvSpPr>
          <p:cNvPr id="33" name="Text 31"/>
          <p:cNvSpPr txBox="1"/>
          <p:nvPr/>
        </p:nvSpPr>
        <p:spPr>
          <a:xfrm>
            <a:off x="3596335" y="493776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Thompson dkk., 1991</a:t>
            </a:r>
            <a:endParaRPr lang="en-US" sz="1000" dirty="0"/>
          </a:p>
        </p:txBody>
      </p:sp>
      <p:sp>
        <p:nvSpPr>
          <p:cNvPr id="34" name="Model IDT"/>
          <p:cNvSpPr/>
          <p:nvPr/>
        </p:nvSpPr>
        <p:spPr>
          <a:xfrm>
            <a:off x="6186830" y="3566160"/>
            <a:ext cx="2606040" cy="1783080"/>
          </a:xfrm>
          <a:prstGeom prst="roundRect">
            <a:avLst>
              <a:gd name="adj" fmla="val 6154"/>
            </a:avLst>
          </a:prstGeom>
          <a:solidFill>
            <a:schemeClr val="bg2"/>
          </a:solidFill>
          <a:ln/>
        </p:spPr>
      </p:sp>
      <p:sp>
        <p:nvSpPr>
          <p:cNvPr id="35" name="Text 33"/>
          <p:cNvSpPr txBox="1"/>
          <p:nvPr/>
        </p:nvSpPr>
        <p:spPr>
          <a:xfrm>
            <a:off x="6415430" y="374904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IDT</a:t>
            </a:r>
            <a:endParaRPr lang="en-US" sz="2000" dirty="0"/>
          </a:p>
        </p:txBody>
      </p:sp>
      <p:sp>
        <p:nvSpPr>
          <p:cNvPr id="36" name="Text 34"/>
          <p:cNvSpPr txBox="1"/>
          <p:nvPr/>
        </p:nvSpPr>
        <p:spPr>
          <a:xfrm>
            <a:off x="6415430" y="416052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Innovation Diffusion Theory</a:t>
            </a:r>
            <a:endParaRPr lang="en-US" sz="1200" dirty="0"/>
          </a:p>
        </p:txBody>
      </p:sp>
      <p:sp>
        <p:nvSpPr>
          <p:cNvPr id="37" name="Text 35"/>
          <p:cNvSpPr txBox="1"/>
          <p:nvPr/>
        </p:nvSpPr>
        <p:spPr>
          <a:xfrm>
            <a:off x="6415430" y="4462272"/>
            <a:ext cx="2148840" cy="457200"/>
          </a:xfrm>
          <a:prstGeom prst="rect">
            <a:avLst/>
          </a:prstGeom>
          <a:noFill/>
          <a:ln/>
        </p:spPr>
        <p:txBody>
          <a:bodyPr wrap="square" lIns="0" tIns="0" rIns="0" bIns="0" rtlCol="0" anchor="t"/>
          <a:lstStyle/>
          <a:p>
            <a:pPr indent="0" marL="0">
              <a:buNone/>
            </a:pPr>
            <a:r>
              <a:rPr lang="en-US" sz="1400" dirty="0">
                <a:solidFill>
                  <a:schemeClr val="tx1"/>
                </a:solidFill>
              </a:rPr>
              <a:t>Karakteristik inovasi</a:t>
            </a:r>
            <a:endParaRPr lang="en-US" sz="1400" dirty="0"/>
          </a:p>
        </p:txBody>
      </p:sp>
      <p:sp>
        <p:nvSpPr>
          <p:cNvPr id="38" name="Text 36"/>
          <p:cNvSpPr txBox="1"/>
          <p:nvPr/>
        </p:nvSpPr>
        <p:spPr>
          <a:xfrm>
            <a:off x="6415430" y="493776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Rogers, 1995; Moore &amp; Benbasat, 1991</a:t>
            </a:r>
            <a:endParaRPr lang="en-US" sz="1000" dirty="0"/>
          </a:p>
        </p:txBody>
      </p:sp>
      <p:sp>
        <p:nvSpPr>
          <p:cNvPr id="39" name="Model SCT"/>
          <p:cNvSpPr/>
          <p:nvPr/>
        </p:nvSpPr>
        <p:spPr>
          <a:xfrm>
            <a:off x="9005926" y="3566160"/>
            <a:ext cx="2606040" cy="1783080"/>
          </a:xfrm>
          <a:prstGeom prst="roundRect">
            <a:avLst>
              <a:gd name="adj" fmla="val 6154"/>
            </a:avLst>
          </a:prstGeom>
          <a:solidFill>
            <a:schemeClr val="bg2"/>
          </a:solidFill>
          <a:ln/>
        </p:spPr>
      </p:sp>
      <p:sp>
        <p:nvSpPr>
          <p:cNvPr id="40" name="Text 38"/>
          <p:cNvSpPr txBox="1"/>
          <p:nvPr/>
        </p:nvSpPr>
        <p:spPr>
          <a:xfrm>
            <a:off x="9234526" y="3749040"/>
            <a:ext cx="21488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SCT</a:t>
            </a:r>
            <a:endParaRPr lang="en-US" sz="2000" dirty="0"/>
          </a:p>
        </p:txBody>
      </p:sp>
      <p:sp>
        <p:nvSpPr>
          <p:cNvPr id="41" name="Text 39"/>
          <p:cNvSpPr txBox="1"/>
          <p:nvPr/>
        </p:nvSpPr>
        <p:spPr>
          <a:xfrm>
            <a:off x="9234526" y="4160520"/>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Social Cognitive Theory</a:t>
            </a:r>
            <a:endParaRPr lang="en-US" sz="1200" dirty="0"/>
          </a:p>
        </p:txBody>
      </p:sp>
      <p:sp>
        <p:nvSpPr>
          <p:cNvPr id="42" name="Text 40"/>
          <p:cNvSpPr txBox="1"/>
          <p:nvPr/>
        </p:nvSpPr>
        <p:spPr>
          <a:xfrm>
            <a:off x="9234526" y="4462272"/>
            <a:ext cx="2148840" cy="457200"/>
          </a:xfrm>
          <a:prstGeom prst="rect">
            <a:avLst/>
          </a:prstGeom>
          <a:noFill/>
          <a:ln/>
        </p:spPr>
        <p:txBody>
          <a:bodyPr wrap="square" lIns="0" tIns="0" rIns="0" bIns="0" rtlCol="0" anchor="t"/>
          <a:lstStyle/>
          <a:p>
            <a:pPr indent="0" marL="0">
              <a:buNone/>
            </a:pPr>
            <a:r>
              <a:rPr lang="en-US" sz="1400" dirty="0">
                <a:solidFill>
                  <a:schemeClr val="tx1"/>
                </a:solidFill>
              </a:rPr>
              <a:t>Self-efficacy &amp; harapan hasil</a:t>
            </a:r>
            <a:endParaRPr lang="en-US" sz="1400" dirty="0"/>
          </a:p>
        </p:txBody>
      </p:sp>
      <p:sp>
        <p:nvSpPr>
          <p:cNvPr id="43" name="Text 41"/>
          <p:cNvSpPr txBox="1"/>
          <p:nvPr/>
        </p:nvSpPr>
        <p:spPr>
          <a:xfrm>
            <a:off x="9234526" y="4937760"/>
            <a:ext cx="2148840" cy="320040"/>
          </a:xfrm>
          <a:prstGeom prst="rect">
            <a:avLst/>
          </a:prstGeom>
          <a:noFill/>
          <a:ln/>
        </p:spPr>
        <p:txBody>
          <a:bodyPr wrap="square" lIns="0" tIns="0" rIns="0" bIns="0" rtlCol="0" anchor="t"/>
          <a:lstStyle/>
          <a:p>
            <a:pPr indent="0" marL="0">
              <a:buNone/>
            </a:pPr>
            <a:r>
              <a:rPr lang="en-US" sz="1000" dirty="0">
                <a:solidFill>
                  <a:schemeClr val="accent6"/>
                </a:solidFill>
              </a:rPr>
              <a:t>Compeau &amp; Higgins, 1995</a:t>
            </a:r>
            <a:endParaRPr lang="en-US" sz="1000" dirty="0"/>
          </a:p>
        </p:txBody>
      </p:sp>
      <p:sp>
        <p:nvSpPr>
          <p:cNvPr id="44" name="Kesimpulan teori"/>
          <p:cNvSpPr/>
          <p:nvPr/>
        </p:nvSpPr>
        <p:spPr>
          <a:xfrm>
            <a:off x="548640" y="5623560"/>
            <a:ext cx="11091672" cy="594360"/>
          </a:xfrm>
          <a:prstGeom prst="roundRect">
            <a:avLst>
              <a:gd name="adj" fmla="val 18462"/>
            </a:avLst>
          </a:prstGeom>
          <a:solidFill>
            <a:schemeClr val="tx2"/>
          </a:solidFill>
          <a:ln/>
        </p:spPr>
      </p:sp>
      <p:sp>
        <p:nvSpPr>
          <p:cNvPr id="45" name="Text 43"/>
          <p:cNvSpPr txBox="1"/>
          <p:nvPr/>
        </p:nvSpPr>
        <p:spPr>
          <a:xfrm>
            <a:off x="822960" y="5623560"/>
            <a:ext cx="10607040" cy="594360"/>
          </a:xfrm>
          <a:prstGeom prst="rect">
            <a:avLst/>
          </a:prstGeom>
          <a:noFill/>
          <a:ln/>
        </p:spPr>
        <p:txBody>
          <a:bodyPr wrap="square" lIns="0" tIns="0" rIns="0" bIns="0" rtlCol="0" anchor="ctr"/>
          <a:lstStyle/>
          <a:p>
            <a:pPr algn="ctr" indent="0" marL="0">
              <a:buNone/>
            </a:pPr>
            <a:r>
              <a:rPr lang="en-US" sz="1800" b="1" dirty="0">
                <a:solidFill>
                  <a:schemeClr val="accent1"/>
                </a:solidFill>
              </a:rPr>
              <a:t>8 teori  →  </a:t>
            </a:r>
            <a:pPr algn="ctr" indent="0" marL="0">
              <a:buNone/>
            </a:pPr>
            <a:r>
              <a:rPr lang="en-US" sz="1800" b="1" dirty="0">
                <a:solidFill>
                  <a:schemeClr val="bg1"/>
                </a:solidFill>
              </a:rPr>
              <a:t>4 konstruk inti + 4 moderator  →  </a:t>
            </a:r>
            <a:pPr algn="ctr" indent="0" marL="0">
              <a:buNone/>
            </a:pPr>
            <a:r>
              <a:rPr lang="en-US" sz="1800" b="1" dirty="0">
                <a:solidFill>
                  <a:schemeClr val="accent2"/>
                </a:solidFill>
              </a:rPr>
              <a:t>satu model terpadu (Unified)</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STRUKTUR DASAR</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Model UTAUT</a:t>
            </a:r>
            <a:endParaRPr lang="en-US" sz="3400" dirty="0"/>
          </a:p>
        </p:txBody>
      </p:sp>
      <p:sp>
        <p:nvSpPr>
          <p:cNvPr id="4" name="Performance Expectancy"/>
          <p:cNvSpPr/>
          <p:nvPr/>
        </p:nvSpPr>
        <p:spPr>
          <a:xfrm>
            <a:off x="548640" y="1600200"/>
            <a:ext cx="3291840" cy="731520"/>
          </a:xfrm>
          <a:prstGeom prst="roundRect">
            <a:avLst>
              <a:gd name="adj" fmla="val 15000"/>
            </a:avLst>
          </a:prstGeom>
          <a:solidFill>
            <a:schemeClr val="accent1"/>
          </a:solidFill>
          <a:ln/>
          <a:effectLst>
            <a:outerShdw sx="100000" sy="100000" kx="0" ky="0" algn="bl" rotWithShape="0" blurRad="101600" dist="25400" dir="5400000">
              <a:srgbClr val="1C1A33">
                <a:alpha val="14000"/>
              </a:srgbClr>
            </a:outerShdw>
          </a:effectLst>
        </p:spPr>
      </p:sp>
      <p:pic>
        <p:nvPicPr>
          <p:cNvPr id="5" name="Performance Expectancy ikon" descr="preencoded.png">    </p:cNvPr>
          <p:cNvPicPr>
            <a:picLocks noChangeAspect="1"/>
          </p:cNvPicPr>
          <p:nvPr/>
        </p:nvPicPr>
        <p:blipFill>
          <a:blip r:embed="rId1"/>
          <a:stretch>
            <a:fillRect/>
          </a:stretch>
        </p:blipFill>
        <p:spPr>
          <a:xfrm>
            <a:off x="777240" y="1783080"/>
            <a:ext cx="365760" cy="365760"/>
          </a:xfrm>
          <a:prstGeom prst="rect">
            <a:avLst/>
          </a:prstGeom>
        </p:spPr>
      </p:pic>
      <p:sp>
        <p:nvSpPr>
          <p:cNvPr id="6" name="Text 3"/>
          <p:cNvSpPr txBox="1"/>
          <p:nvPr/>
        </p:nvSpPr>
        <p:spPr>
          <a:xfrm>
            <a:off x="1325880" y="160020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Performance Expectancy</a:t>
            </a:r>
            <a:endParaRPr lang="en-US" sz="1600" dirty="0"/>
          </a:p>
        </p:txBody>
      </p:sp>
      <p:sp>
        <p:nvSpPr>
          <p:cNvPr id="7" name="Effort Expectancy"/>
          <p:cNvSpPr/>
          <p:nvPr/>
        </p:nvSpPr>
        <p:spPr>
          <a:xfrm>
            <a:off x="548640" y="2606040"/>
            <a:ext cx="3291840" cy="731520"/>
          </a:xfrm>
          <a:prstGeom prst="roundRect">
            <a:avLst>
              <a:gd name="adj" fmla="val 15000"/>
            </a:avLst>
          </a:prstGeom>
          <a:solidFill>
            <a:schemeClr val="accent1"/>
          </a:solidFill>
          <a:ln/>
          <a:effectLst>
            <a:outerShdw sx="100000" sy="100000" kx="0" ky="0" algn="bl" rotWithShape="0" blurRad="101600" dist="25400" dir="5400000">
              <a:srgbClr val="1C1A33">
                <a:alpha val="14000"/>
              </a:srgbClr>
            </a:outerShdw>
          </a:effectLst>
        </p:spPr>
      </p:sp>
      <p:pic>
        <p:nvPicPr>
          <p:cNvPr id="8" name="Effort Expectancy ikon" descr="preencoded.png">    </p:cNvPr>
          <p:cNvPicPr>
            <a:picLocks noChangeAspect="1"/>
          </p:cNvPicPr>
          <p:nvPr/>
        </p:nvPicPr>
        <p:blipFill>
          <a:blip r:embed="rId2"/>
          <a:stretch>
            <a:fillRect/>
          </a:stretch>
        </p:blipFill>
        <p:spPr>
          <a:xfrm>
            <a:off x="777240" y="2788920"/>
            <a:ext cx="365760" cy="365760"/>
          </a:xfrm>
          <a:prstGeom prst="rect">
            <a:avLst/>
          </a:prstGeom>
        </p:spPr>
      </p:pic>
      <p:sp>
        <p:nvSpPr>
          <p:cNvPr id="9" name="Text 5"/>
          <p:cNvSpPr txBox="1"/>
          <p:nvPr/>
        </p:nvSpPr>
        <p:spPr>
          <a:xfrm>
            <a:off x="1325880" y="260604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Effort Expectancy</a:t>
            </a:r>
            <a:endParaRPr lang="en-US" sz="1600" dirty="0"/>
          </a:p>
        </p:txBody>
      </p:sp>
      <p:sp>
        <p:nvSpPr>
          <p:cNvPr id="10" name="Social Influence"/>
          <p:cNvSpPr/>
          <p:nvPr/>
        </p:nvSpPr>
        <p:spPr>
          <a:xfrm>
            <a:off x="548640" y="3611880"/>
            <a:ext cx="3291840" cy="731520"/>
          </a:xfrm>
          <a:prstGeom prst="roundRect">
            <a:avLst>
              <a:gd name="adj" fmla="val 15000"/>
            </a:avLst>
          </a:prstGeom>
          <a:solidFill>
            <a:schemeClr val="accent1"/>
          </a:solidFill>
          <a:ln/>
          <a:effectLst>
            <a:outerShdw sx="100000" sy="100000" kx="0" ky="0" algn="bl" rotWithShape="0" blurRad="101600" dist="25400" dir="5400000">
              <a:srgbClr val="1C1A33">
                <a:alpha val="14000"/>
              </a:srgbClr>
            </a:outerShdw>
          </a:effectLst>
        </p:spPr>
      </p:sp>
      <p:pic>
        <p:nvPicPr>
          <p:cNvPr id="11" name="Social Influence ikon" descr="preencoded.png">    </p:cNvPr>
          <p:cNvPicPr>
            <a:picLocks noChangeAspect="1"/>
          </p:cNvPicPr>
          <p:nvPr/>
        </p:nvPicPr>
        <p:blipFill>
          <a:blip r:embed="rId3"/>
          <a:stretch>
            <a:fillRect/>
          </a:stretch>
        </p:blipFill>
        <p:spPr>
          <a:xfrm>
            <a:off x="777240" y="3794760"/>
            <a:ext cx="365760" cy="365760"/>
          </a:xfrm>
          <a:prstGeom prst="rect">
            <a:avLst/>
          </a:prstGeom>
        </p:spPr>
      </p:pic>
      <p:sp>
        <p:nvSpPr>
          <p:cNvPr id="12" name="Text 7"/>
          <p:cNvSpPr txBox="1"/>
          <p:nvPr/>
        </p:nvSpPr>
        <p:spPr>
          <a:xfrm>
            <a:off x="1325880" y="361188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Social Influence</a:t>
            </a:r>
            <a:endParaRPr lang="en-US" sz="1600" dirty="0"/>
          </a:p>
        </p:txBody>
      </p:sp>
      <p:sp>
        <p:nvSpPr>
          <p:cNvPr id="13" name="Facilitating Conditions"/>
          <p:cNvSpPr/>
          <p:nvPr/>
        </p:nvSpPr>
        <p:spPr>
          <a:xfrm>
            <a:off x="548640" y="4617720"/>
            <a:ext cx="3291840" cy="731520"/>
          </a:xfrm>
          <a:prstGeom prst="roundRect">
            <a:avLst>
              <a:gd name="adj" fmla="val 15000"/>
            </a:avLst>
          </a:prstGeom>
          <a:solidFill>
            <a:schemeClr val="accent1"/>
          </a:solidFill>
          <a:ln/>
          <a:effectLst>
            <a:outerShdw sx="100000" sy="100000" kx="0" ky="0" algn="bl" rotWithShape="0" blurRad="101600" dist="25400" dir="5400000">
              <a:srgbClr val="1C1A33">
                <a:alpha val="14000"/>
              </a:srgbClr>
            </a:outerShdw>
          </a:effectLst>
        </p:spPr>
      </p:sp>
      <p:pic>
        <p:nvPicPr>
          <p:cNvPr id="14" name="Facilitating Conditions ikon" descr="preencoded.png">    </p:cNvPr>
          <p:cNvPicPr>
            <a:picLocks noChangeAspect="1"/>
          </p:cNvPicPr>
          <p:nvPr/>
        </p:nvPicPr>
        <p:blipFill>
          <a:blip r:embed="rId4"/>
          <a:stretch>
            <a:fillRect/>
          </a:stretch>
        </p:blipFill>
        <p:spPr>
          <a:xfrm>
            <a:off x="777240" y="4800600"/>
            <a:ext cx="365760" cy="365760"/>
          </a:xfrm>
          <a:prstGeom prst="rect">
            <a:avLst/>
          </a:prstGeom>
        </p:spPr>
      </p:pic>
      <p:sp>
        <p:nvSpPr>
          <p:cNvPr id="15" name="Text 9"/>
          <p:cNvSpPr txBox="1"/>
          <p:nvPr/>
        </p:nvSpPr>
        <p:spPr>
          <a:xfrm>
            <a:off x="1325880" y="461772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Facilitating Conditions</a:t>
            </a:r>
            <a:endParaRPr lang="en-US" sz="1600" dirty="0"/>
          </a:p>
        </p:txBody>
      </p:sp>
      <p:sp>
        <p:nvSpPr>
          <p:cNvPr id="16" name="Behavioral Intention"/>
          <p:cNvSpPr/>
          <p:nvPr/>
        </p:nvSpPr>
        <p:spPr>
          <a:xfrm>
            <a:off x="5394960" y="2743200"/>
            <a:ext cx="2560320" cy="1005840"/>
          </a:xfrm>
          <a:prstGeom prst="roundRect">
            <a:avLst>
              <a:gd name="adj" fmla="val 10909"/>
            </a:avLst>
          </a:prstGeom>
          <a:solidFill>
            <a:schemeClr val="tx2"/>
          </a:solidFill>
          <a:ln/>
          <a:effectLst>
            <a:outerShdw sx="100000" sy="100000" kx="0" ky="0" algn="bl" rotWithShape="0" blurRad="101600" dist="25400" dir="5400000">
              <a:srgbClr val="1C1A33">
                <a:alpha val="14000"/>
              </a:srgbClr>
            </a:outerShdw>
          </a:effectLst>
        </p:spPr>
      </p:sp>
      <p:sp>
        <p:nvSpPr>
          <p:cNvPr id="17" name="Text 11"/>
          <p:cNvSpPr txBox="1"/>
          <p:nvPr/>
        </p:nvSpPr>
        <p:spPr>
          <a:xfrm>
            <a:off x="5577840" y="2880360"/>
            <a:ext cx="2194560" cy="411480"/>
          </a:xfrm>
          <a:prstGeom prst="rect">
            <a:avLst/>
          </a:prstGeom>
          <a:noFill/>
          <a:ln/>
        </p:spPr>
        <p:txBody>
          <a:bodyPr wrap="square" lIns="0" tIns="0" rIns="0" bIns="0" rtlCol="0" anchor="t"/>
          <a:lstStyle/>
          <a:p>
            <a:pPr algn="ctr" indent="0" marL="0">
              <a:buNone/>
            </a:pPr>
            <a:r>
              <a:rPr lang="en-US" sz="1700" b="1" dirty="0">
                <a:solidFill>
                  <a:schemeClr val="bg1"/>
                </a:solidFill>
              </a:rPr>
              <a:t>Behavioral Intention</a:t>
            </a:r>
            <a:endParaRPr lang="en-US" sz="1700" dirty="0"/>
          </a:p>
        </p:txBody>
      </p:sp>
      <p:sp>
        <p:nvSpPr>
          <p:cNvPr id="18" name="Text 12"/>
          <p:cNvSpPr txBox="1"/>
          <p:nvPr/>
        </p:nvSpPr>
        <p:spPr>
          <a:xfrm>
            <a:off x="5577840" y="3291840"/>
            <a:ext cx="2194560" cy="320040"/>
          </a:xfrm>
          <a:prstGeom prst="rect">
            <a:avLst/>
          </a:prstGeom>
          <a:noFill/>
          <a:ln/>
        </p:spPr>
        <p:txBody>
          <a:bodyPr wrap="square" lIns="0" tIns="0" rIns="0" bIns="0" rtlCol="0" anchor="t"/>
          <a:lstStyle/>
          <a:p>
            <a:pPr algn="ctr" indent="0" marL="0">
              <a:buNone/>
            </a:pPr>
            <a:r>
              <a:rPr lang="en-US" sz="1300" dirty="0">
                <a:solidFill>
                  <a:schemeClr val="bg2"/>
                </a:solidFill>
              </a:rPr>
              <a:t>Niat menggunakan</a:t>
            </a:r>
            <a:endParaRPr lang="en-US" sz="1300" dirty="0"/>
          </a:p>
        </p:txBody>
      </p:sp>
      <p:sp>
        <p:nvSpPr>
          <p:cNvPr id="19" name="Use Behavior"/>
          <p:cNvSpPr/>
          <p:nvPr/>
        </p:nvSpPr>
        <p:spPr>
          <a:xfrm>
            <a:off x="9052560" y="2743200"/>
            <a:ext cx="2560320" cy="1005840"/>
          </a:xfrm>
          <a:prstGeom prst="roundRect">
            <a:avLst>
              <a:gd name="adj" fmla="val 10909"/>
            </a:avLst>
          </a:prstGeom>
          <a:solidFill>
            <a:schemeClr val="tx2"/>
          </a:solidFill>
          <a:ln/>
          <a:effectLst>
            <a:outerShdw sx="100000" sy="100000" kx="0" ky="0" algn="bl" rotWithShape="0" blurRad="101600" dist="25400" dir="5400000">
              <a:srgbClr val="1C1A33">
                <a:alpha val="14000"/>
              </a:srgbClr>
            </a:outerShdw>
          </a:effectLst>
        </p:spPr>
      </p:sp>
      <p:sp>
        <p:nvSpPr>
          <p:cNvPr id="20" name="Text 14"/>
          <p:cNvSpPr txBox="1"/>
          <p:nvPr/>
        </p:nvSpPr>
        <p:spPr>
          <a:xfrm>
            <a:off x="9235440" y="2880360"/>
            <a:ext cx="2194560" cy="411480"/>
          </a:xfrm>
          <a:prstGeom prst="rect">
            <a:avLst/>
          </a:prstGeom>
          <a:noFill/>
          <a:ln/>
        </p:spPr>
        <p:txBody>
          <a:bodyPr wrap="square" lIns="0" tIns="0" rIns="0" bIns="0" rtlCol="0" anchor="t"/>
          <a:lstStyle/>
          <a:p>
            <a:pPr algn="ctr" indent="0" marL="0">
              <a:buNone/>
            </a:pPr>
            <a:r>
              <a:rPr lang="en-US" sz="1700" b="1" dirty="0">
                <a:solidFill>
                  <a:schemeClr val="bg1"/>
                </a:solidFill>
              </a:rPr>
              <a:t>Use Behavior</a:t>
            </a:r>
            <a:endParaRPr lang="en-US" sz="1700" dirty="0"/>
          </a:p>
        </p:txBody>
      </p:sp>
      <p:sp>
        <p:nvSpPr>
          <p:cNvPr id="21" name="Text 15"/>
          <p:cNvSpPr txBox="1"/>
          <p:nvPr/>
        </p:nvSpPr>
        <p:spPr>
          <a:xfrm>
            <a:off x="9235440" y="3291840"/>
            <a:ext cx="2194560" cy="320040"/>
          </a:xfrm>
          <a:prstGeom prst="rect">
            <a:avLst/>
          </a:prstGeom>
          <a:noFill/>
          <a:ln/>
        </p:spPr>
        <p:txBody>
          <a:bodyPr wrap="square" lIns="0" tIns="0" rIns="0" bIns="0" rtlCol="0" anchor="t"/>
          <a:lstStyle/>
          <a:p>
            <a:pPr algn="ctr" indent="0" marL="0">
              <a:buNone/>
            </a:pPr>
            <a:r>
              <a:rPr lang="en-US" sz="1300" dirty="0">
                <a:solidFill>
                  <a:schemeClr val="bg2"/>
                </a:solidFill>
              </a:rPr>
              <a:t>Penggunaan nyata</a:t>
            </a:r>
            <a:endParaRPr lang="en-US" sz="1300" dirty="0"/>
          </a:p>
        </p:txBody>
      </p:sp>
      <p:sp>
        <p:nvSpPr>
          <p:cNvPr id="22" name="Panah ke BI 0"/>
          <p:cNvSpPr/>
          <p:nvPr/>
        </p:nvSpPr>
        <p:spPr>
          <a:xfrm>
            <a:off x="3840480" y="1965960"/>
            <a:ext cx="1554480" cy="1280160"/>
          </a:xfrm>
          <a:prstGeom prst="line">
            <a:avLst/>
          </a:prstGeom>
          <a:noFill/>
          <a:ln w="25400">
            <a:solidFill>
              <a:schemeClr val="tx2"/>
            </a:solidFill>
            <a:prstDash val="solid"/>
            <a:tailEnd type="triangle"/>
          </a:ln>
        </p:spPr>
      </p:sp>
      <p:sp>
        <p:nvSpPr>
          <p:cNvPr id="23" name="Panah ke BI 1"/>
          <p:cNvSpPr/>
          <p:nvPr/>
        </p:nvSpPr>
        <p:spPr>
          <a:xfrm>
            <a:off x="3840480" y="2971800"/>
            <a:ext cx="1554480" cy="274320"/>
          </a:xfrm>
          <a:prstGeom prst="line">
            <a:avLst/>
          </a:prstGeom>
          <a:noFill/>
          <a:ln w="25400">
            <a:solidFill>
              <a:schemeClr val="tx2"/>
            </a:solidFill>
            <a:prstDash val="solid"/>
            <a:tailEnd type="triangle"/>
          </a:ln>
        </p:spPr>
      </p:sp>
      <p:sp>
        <p:nvSpPr>
          <p:cNvPr id="24" name="Panah ke BI 2"/>
          <p:cNvSpPr/>
          <p:nvPr/>
        </p:nvSpPr>
        <p:spPr>
          <a:xfrm flipV="1">
            <a:off x="3840480" y="3246120"/>
            <a:ext cx="1554480" cy="731520"/>
          </a:xfrm>
          <a:prstGeom prst="line">
            <a:avLst/>
          </a:prstGeom>
          <a:noFill/>
          <a:ln w="25400">
            <a:solidFill>
              <a:schemeClr val="tx2"/>
            </a:solidFill>
            <a:prstDash val="solid"/>
            <a:tailEnd type="triangle"/>
          </a:ln>
        </p:spPr>
      </p:sp>
      <p:sp>
        <p:nvSpPr>
          <p:cNvPr id="25" name="Panah BI ke UB"/>
          <p:cNvSpPr/>
          <p:nvPr/>
        </p:nvSpPr>
        <p:spPr>
          <a:xfrm>
            <a:off x="7955280" y="3246120"/>
            <a:ext cx="1097280" cy="0"/>
          </a:xfrm>
          <a:prstGeom prst="line">
            <a:avLst/>
          </a:prstGeom>
          <a:noFill/>
          <a:ln w="25400">
            <a:solidFill>
              <a:schemeClr val="tx2"/>
            </a:solidFill>
            <a:prstDash val="solid"/>
            <a:tailEnd type="triangle"/>
          </a:ln>
        </p:spPr>
      </p:sp>
      <p:sp>
        <p:nvSpPr>
          <p:cNvPr id="26" name="FC ke UB horizontal"/>
          <p:cNvSpPr/>
          <p:nvPr/>
        </p:nvSpPr>
        <p:spPr>
          <a:xfrm>
            <a:off x="3840480" y="4983480"/>
            <a:ext cx="6492240" cy="0"/>
          </a:xfrm>
          <a:prstGeom prst="line">
            <a:avLst/>
          </a:prstGeom>
          <a:noFill/>
          <a:ln w="25400">
            <a:solidFill>
              <a:schemeClr val="accent4"/>
            </a:solidFill>
            <a:prstDash val="solid"/>
          </a:ln>
        </p:spPr>
      </p:sp>
      <p:sp>
        <p:nvSpPr>
          <p:cNvPr id="27" name="FC ke UB vertikal"/>
          <p:cNvSpPr/>
          <p:nvPr/>
        </p:nvSpPr>
        <p:spPr>
          <a:xfrm flipV="1">
            <a:off x="10332720" y="3749040"/>
            <a:ext cx="0" cy="1234440"/>
          </a:xfrm>
          <a:prstGeom prst="line">
            <a:avLst/>
          </a:prstGeom>
          <a:noFill/>
          <a:ln w="25400">
            <a:solidFill>
              <a:schemeClr val="accent4"/>
            </a:solidFill>
            <a:prstDash val="solid"/>
            <a:tailEnd type="triangle"/>
          </a:ln>
        </p:spPr>
      </p:sp>
      <p:sp>
        <p:nvSpPr>
          <p:cNvPr id="28" name="Text 22"/>
          <p:cNvSpPr txBox="1"/>
          <p:nvPr/>
        </p:nvSpPr>
        <p:spPr>
          <a:xfrm>
            <a:off x="5394960" y="5074920"/>
            <a:ext cx="4206240" cy="320040"/>
          </a:xfrm>
          <a:prstGeom prst="rect">
            <a:avLst/>
          </a:prstGeom>
          <a:noFill/>
          <a:ln/>
        </p:spPr>
        <p:txBody>
          <a:bodyPr wrap="square" lIns="0" tIns="0" rIns="0" bIns="0" rtlCol="0" anchor="t"/>
          <a:lstStyle/>
          <a:p>
            <a:pPr indent="0" marL="0">
              <a:buNone/>
            </a:pPr>
            <a:r>
              <a:rPr lang="en-US" sz="1200" i="1" dirty="0">
                <a:solidFill>
                  <a:schemeClr val="accent4"/>
                </a:solidFill>
              </a:rPr>
              <a:t>FC berpengaruh langsung ke penggunaan nyata</a:t>
            </a:r>
            <a:endParaRPr lang="en-US" sz="1200" dirty="0"/>
          </a:p>
        </p:txBody>
      </p:sp>
      <p:sp>
        <p:nvSpPr>
          <p:cNvPr id="29" name="Text 23"/>
          <p:cNvSpPr txBox="1"/>
          <p:nvPr/>
        </p:nvSpPr>
        <p:spPr>
          <a:xfrm>
            <a:off x="5394960" y="1554480"/>
            <a:ext cx="2743200" cy="274320"/>
          </a:xfrm>
          <a:prstGeom prst="rect">
            <a:avLst/>
          </a:prstGeom>
          <a:noFill/>
          <a:ln/>
        </p:spPr>
        <p:txBody>
          <a:bodyPr wrap="square" lIns="0" tIns="0" rIns="0" bIns="0" rtlCol="0" anchor="t"/>
          <a:lstStyle/>
          <a:p>
            <a:pPr indent="0" marL="0">
              <a:buNone/>
            </a:pPr>
            <a:r>
              <a:rPr lang="en-US" sz="1200" b="1" dirty="0">
                <a:solidFill>
                  <a:schemeClr val="accent6"/>
                </a:solidFill>
              </a:rPr>
              <a:t>MODERATOR</a:t>
            </a:r>
            <a:endParaRPr lang="en-US" sz="1200" dirty="0"/>
          </a:p>
        </p:txBody>
      </p:sp>
      <p:sp>
        <p:nvSpPr>
          <p:cNvPr id="30" name="Moderator Gender"/>
          <p:cNvSpPr/>
          <p:nvPr/>
        </p:nvSpPr>
        <p:spPr>
          <a:xfrm>
            <a:off x="5394960" y="1874520"/>
            <a:ext cx="1143000" cy="384048"/>
          </a:xfrm>
          <a:prstGeom prst="roundRect">
            <a:avLst>
              <a:gd name="adj" fmla="val 50000"/>
            </a:avLst>
          </a:prstGeom>
          <a:solidFill>
            <a:srgbClr val="E7E5F3"/>
          </a:solidFill>
          <a:ln/>
        </p:spPr>
      </p:sp>
      <p:sp>
        <p:nvSpPr>
          <p:cNvPr id="31" name="Moderator Gender teks"/>
          <p:cNvSpPr txBox="1"/>
          <p:nvPr/>
        </p:nvSpPr>
        <p:spPr>
          <a:xfrm>
            <a:off x="5394960" y="1874520"/>
            <a:ext cx="1143000" cy="384048"/>
          </a:xfrm>
          <a:prstGeom prst="rect">
            <a:avLst/>
          </a:prstGeom>
          <a:noFill/>
          <a:ln/>
        </p:spPr>
        <p:txBody>
          <a:bodyPr wrap="square" lIns="0" tIns="0" rIns="0" bIns="0" rtlCol="0" anchor="ctr"/>
          <a:lstStyle/>
          <a:p>
            <a:pPr algn="ctr" indent="0" marL="0">
              <a:buNone/>
            </a:pPr>
            <a:r>
              <a:rPr lang="en-US" sz="1200" b="1" dirty="0">
                <a:solidFill>
                  <a:schemeClr val="tx2"/>
                </a:solidFill>
              </a:rPr>
              <a:t>Gender</a:t>
            </a:r>
            <a:endParaRPr lang="en-US" sz="1200" dirty="0"/>
          </a:p>
        </p:txBody>
      </p:sp>
      <p:sp>
        <p:nvSpPr>
          <p:cNvPr id="32" name="Moderator Age"/>
          <p:cNvSpPr/>
          <p:nvPr/>
        </p:nvSpPr>
        <p:spPr>
          <a:xfrm>
            <a:off x="6675120" y="1874520"/>
            <a:ext cx="868680" cy="384048"/>
          </a:xfrm>
          <a:prstGeom prst="roundRect">
            <a:avLst>
              <a:gd name="adj" fmla="val 50000"/>
            </a:avLst>
          </a:prstGeom>
          <a:solidFill>
            <a:srgbClr val="E7E5F3"/>
          </a:solidFill>
          <a:ln/>
        </p:spPr>
      </p:sp>
      <p:sp>
        <p:nvSpPr>
          <p:cNvPr id="33" name="Moderator Age teks"/>
          <p:cNvSpPr txBox="1"/>
          <p:nvPr/>
        </p:nvSpPr>
        <p:spPr>
          <a:xfrm>
            <a:off x="6675120" y="1874520"/>
            <a:ext cx="868680" cy="384048"/>
          </a:xfrm>
          <a:prstGeom prst="rect">
            <a:avLst/>
          </a:prstGeom>
          <a:noFill/>
          <a:ln/>
        </p:spPr>
        <p:txBody>
          <a:bodyPr wrap="square" lIns="0" tIns="0" rIns="0" bIns="0" rtlCol="0" anchor="ctr"/>
          <a:lstStyle/>
          <a:p>
            <a:pPr algn="ctr" indent="0" marL="0">
              <a:buNone/>
            </a:pPr>
            <a:r>
              <a:rPr lang="en-US" sz="1200" b="1" dirty="0">
                <a:solidFill>
                  <a:schemeClr val="tx2"/>
                </a:solidFill>
              </a:rPr>
              <a:t>Age</a:t>
            </a:r>
            <a:endParaRPr lang="en-US" sz="1200" dirty="0"/>
          </a:p>
        </p:txBody>
      </p:sp>
      <p:sp>
        <p:nvSpPr>
          <p:cNvPr id="34" name="Moderator Experience"/>
          <p:cNvSpPr/>
          <p:nvPr/>
        </p:nvSpPr>
        <p:spPr>
          <a:xfrm>
            <a:off x="7680960" y="1874520"/>
            <a:ext cx="1417320" cy="384048"/>
          </a:xfrm>
          <a:prstGeom prst="roundRect">
            <a:avLst>
              <a:gd name="adj" fmla="val 50000"/>
            </a:avLst>
          </a:prstGeom>
          <a:solidFill>
            <a:srgbClr val="E7E5F3"/>
          </a:solidFill>
          <a:ln/>
        </p:spPr>
      </p:sp>
      <p:sp>
        <p:nvSpPr>
          <p:cNvPr id="35" name="Moderator Experience teks"/>
          <p:cNvSpPr txBox="1"/>
          <p:nvPr/>
        </p:nvSpPr>
        <p:spPr>
          <a:xfrm>
            <a:off x="7680960" y="1874520"/>
            <a:ext cx="1417320" cy="384048"/>
          </a:xfrm>
          <a:prstGeom prst="rect">
            <a:avLst/>
          </a:prstGeom>
          <a:noFill/>
          <a:ln/>
        </p:spPr>
        <p:txBody>
          <a:bodyPr wrap="square" lIns="0" tIns="0" rIns="0" bIns="0" rtlCol="0" anchor="ctr"/>
          <a:lstStyle/>
          <a:p>
            <a:pPr algn="ctr" indent="0" marL="0">
              <a:buNone/>
            </a:pPr>
            <a:r>
              <a:rPr lang="en-US" sz="1200" b="1" dirty="0">
                <a:solidFill>
                  <a:schemeClr val="tx2"/>
                </a:solidFill>
              </a:rPr>
              <a:t>Experience</a:t>
            </a:r>
            <a:endParaRPr lang="en-US" sz="1200" dirty="0"/>
          </a:p>
        </p:txBody>
      </p:sp>
      <p:sp>
        <p:nvSpPr>
          <p:cNvPr id="36" name="Moderator Voluntariness of Use"/>
          <p:cNvSpPr/>
          <p:nvPr/>
        </p:nvSpPr>
        <p:spPr>
          <a:xfrm>
            <a:off x="9235440" y="1874520"/>
            <a:ext cx="2240280" cy="384048"/>
          </a:xfrm>
          <a:prstGeom prst="roundRect">
            <a:avLst>
              <a:gd name="adj" fmla="val 50000"/>
            </a:avLst>
          </a:prstGeom>
          <a:solidFill>
            <a:srgbClr val="E7E5F3"/>
          </a:solidFill>
          <a:ln/>
        </p:spPr>
      </p:sp>
      <p:sp>
        <p:nvSpPr>
          <p:cNvPr id="37" name="Moderator Voluntariness of Use teks"/>
          <p:cNvSpPr txBox="1"/>
          <p:nvPr/>
        </p:nvSpPr>
        <p:spPr>
          <a:xfrm>
            <a:off x="9235440" y="1874520"/>
            <a:ext cx="2240280" cy="384048"/>
          </a:xfrm>
          <a:prstGeom prst="rect">
            <a:avLst/>
          </a:prstGeom>
          <a:noFill/>
          <a:ln/>
        </p:spPr>
        <p:txBody>
          <a:bodyPr wrap="square" lIns="0" tIns="0" rIns="0" bIns="0" rtlCol="0" anchor="ctr"/>
          <a:lstStyle/>
          <a:p>
            <a:pPr algn="ctr" indent="0" marL="0">
              <a:buNone/>
            </a:pPr>
            <a:r>
              <a:rPr lang="en-US" sz="1200" b="1" dirty="0">
                <a:solidFill>
                  <a:schemeClr val="tx2"/>
                </a:solidFill>
              </a:rPr>
              <a:t>Voluntariness of Use</a:t>
            </a:r>
            <a:endParaRPr lang="en-US" sz="1200" dirty="0"/>
          </a:p>
        </p:txBody>
      </p:sp>
      <p:sp>
        <p:nvSpPr>
          <p:cNvPr id="38" name="Text 32"/>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400" b="1" dirty="0">
                <a:solidFill>
                  <a:schemeClr val="tx2"/>
                </a:solidFill>
              </a:rPr>
              <a:t>Cara membaca: </a:t>
            </a:r>
            <a:pPr indent="0" marL="0">
              <a:buNone/>
            </a:pPr>
            <a:r>
              <a:rPr lang="en-US" sz="1400" dirty="0">
                <a:solidFill>
                  <a:schemeClr val="tx2"/>
                </a:solidFill>
              </a:rPr>
              <a:t>faktor penerimaan  →  niat menggunakan  →  penggunaan aktual. Moderator tidak menyebabkan penggunaan, tetapi mengubah kuat-lemahnya hubungan.</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EMPAT KONSTRUK INTI</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Empat faktor yang membentuk penerimaan</a:t>
            </a:r>
            <a:endParaRPr lang="en-US" sz="3400" dirty="0"/>
          </a:p>
        </p:txBody>
      </p:sp>
      <p:sp>
        <p:nvSpPr>
          <p:cNvPr id="4" name="Performance Expectancy"/>
          <p:cNvSpPr/>
          <p:nvPr/>
        </p:nvSpPr>
        <p:spPr>
          <a:xfrm>
            <a:off x="548640" y="1554480"/>
            <a:ext cx="5440680" cy="2194560"/>
          </a:xfrm>
          <a:prstGeom prst="roundRect">
            <a:avLst>
              <a:gd name="adj" fmla="val 5000"/>
            </a:avLst>
          </a:prstGeom>
          <a:solidFill>
            <a:schemeClr val="bg1"/>
          </a:solidFill>
          <a:ln/>
          <a:effectLst>
            <a:outerShdw sx="100000" sy="100000" kx="0" ky="0" algn="bl" rotWithShape="0" blurRad="101600" dist="25400" dir="5400000">
              <a:srgbClr val="1C1A33">
                <a:alpha val="14000"/>
              </a:srgbClr>
            </a:outerShdw>
          </a:effectLst>
        </p:spPr>
      </p:sp>
      <p:sp>
        <p:nvSpPr>
          <p:cNvPr id="5" name="Performance Expectancy lingkaran"/>
          <p:cNvSpPr/>
          <p:nvPr/>
        </p:nvSpPr>
        <p:spPr>
          <a:xfrm>
            <a:off x="822960" y="1828800"/>
            <a:ext cx="640080" cy="640080"/>
          </a:xfrm>
          <a:prstGeom prst="ellipse">
            <a:avLst/>
          </a:prstGeom>
          <a:solidFill>
            <a:schemeClr val="accent1"/>
          </a:solidFill>
          <a:ln/>
        </p:spPr>
      </p:sp>
      <p:pic>
        <p:nvPicPr>
          <p:cNvPr id="6" name="Performance Expectancy ikon" descr="preencoded.png">    </p:cNvPr>
          <p:cNvPicPr>
            <a:picLocks noChangeAspect="1"/>
          </p:cNvPicPr>
          <p:nvPr/>
        </p:nvPicPr>
        <p:blipFill>
          <a:blip r:embed="rId1"/>
          <a:stretch>
            <a:fillRect/>
          </a:stretch>
        </p:blipFill>
        <p:spPr>
          <a:xfrm>
            <a:off x="976579" y="1982419"/>
            <a:ext cx="332842" cy="332842"/>
          </a:xfrm>
          <a:prstGeom prst="rect">
            <a:avLst/>
          </a:prstGeom>
        </p:spPr>
      </p:pic>
      <p:sp>
        <p:nvSpPr>
          <p:cNvPr id="7" name="Text 4"/>
          <p:cNvSpPr txBox="1"/>
          <p:nvPr/>
        </p:nvSpPr>
        <p:spPr>
          <a:xfrm>
            <a:off x="1645920" y="1783080"/>
            <a:ext cx="4114800" cy="685800"/>
          </a:xfrm>
          <a:prstGeom prst="rect">
            <a:avLst/>
          </a:prstGeom>
          <a:noFill/>
          <a:ln/>
        </p:spPr>
        <p:txBody>
          <a:bodyPr wrap="square" lIns="0" tIns="0" rIns="0" bIns="0" rtlCol="0" anchor="t"/>
          <a:lstStyle/>
          <a:p>
            <a:pPr indent="0" marL="0">
              <a:buNone/>
            </a:pPr>
            <a:r>
              <a:rPr lang="en-US" sz="1800" b="1" dirty="0">
                <a:solidFill>
                  <a:schemeClr val="tx1"/>
                </a:solidFill>
              </a:rPr>
              <a:t>Performance Expectancy</a:t>
            </a:r>
            <a:endParaRPr lang="en-US" sz="1400" dirty="0"/>
          </a:p>
          <a:p>
            <a:pPr indent="0" marL="0">
              <a:buNone/>
            </a:pPr>
            <a:r>
              <a:rPr lang="en-US" sz="1300" b="1" dirty="0">
                <a:solidFill>
                  <a:schemeClr val="accent1"/>
                </a:solidFill>
              </a:rPr>
              <a:t>Harapan Kinerja</a:t>
            </a:r>
            <a:endParaRPr lang="en-US" sz="1400" dirty="0"/>
          </a:p>
        </p:txBody>
      </p:sp>
      <p:sp>
        <p:nvSpPr>
          <p:cNvPr id="8" name="Text 5"/>
          <p:cNvSpPr txBox="1"/>
          <p:nvPr/>
        </p:nvSpPr>
        <p:spPr>
          <a:xfrm>
            <a:off x="1645920" y="2468880"/>
            <a:ext cx="4114800" cy="502920"/>
          </a:xfrm>
          <a:prstGeom prst="rect">
            <a:avLst/>
          </a:prstGeom>
          <a:noFill/>
          <a:ln/>
        </p:spPr>
        <p:txBody>
          <a:bodyPr wrap="square" lIns="0" tIns="0" rIns="0" bIns="0" rtlCol="0" anchor="t"/>
          <a:lstStyle/>
          <a:p>
            <a:pPr indent="0" marL="0">
              <a:buNone/>
            </a:pPr>
            <a:r>
              <a:rPr lang="en-US" sz="1400" dirty="0">
                <a:solidFill>
                  <a:schemeClr val="tx1"/>
                </a:solidFill>
              </a:rPr>
              <a:t>Sejauh mana seseorang yakin teknologi akan membantu meningkatkan kinerjanya.</a:t>
            </a:r>
            <a:endParaRPr lang="en-US" sz="1400" dirty="0"/>
          </a:p>
        </p:txBody>
      </p:sp>
      <p:sp>
        <p:nvSpPr>
          <p:cNvPr id="9" name="Text 6"/>
          <p:cNvSpPr txBox="1"/>
          <p:nvPr/>
        </p:nvSpPr>
        <p:spPr>
          <a:xfrm>
            <a:off x="1645920" y="2971800"/>
            <a:ext cx="4114800" cy="274320"/>
          </a:xfrm>
          <a:prstGeom prst="rect">
            <a:avLst/>
          </a:prstGeom>
          <a:noFill/>
          <a:ln/>
        </p:spPr>
        <p:txBody>
          <a:bodyPr wrap="square" lIns="0" tIns="0" rIns="0" bIns="0" rtlCol="0" anchor="t"/>
          <a:lstStyle/>
          <a:p>
            <a:pPr indent="0" marL="0">
              <a:buNone/>
            </a:pPr>
            <a:r>
              <a:rPr lang="en-US" sz="1400" b="1" i="1" dirty="0">
                <a:solidFill>
                  <a:schemeClr val="tx2"/>
                </a:solidFill>
              </a:rPr>
              <a:t>“Apakah teknologi ini membuat saya lebih efektif?”</a:t>
            </a:r>
            <a:endParaRPr lang="en-US" sz="1400" dirty="0"/>
          </a:p>
        </p:txBody>
      </p:sp>
      <p:sp>
        <p:nvSpPr>
          <p:cNvPr id="10" name="Text 7"/>
          <p:cNvSpPr txBox="1"/>
          <p:nvPr/>
        </p:nvSpPr>
        <p:spPr>
          <a:xfrm>
            <a:off x="1645920" y="3273552"/>
            <a:ext cx="4114800" cy="411480"/>
          </a:xfrm>
          <a:prstGeom prst="rect">
            <a:avLst/>
          </a:prstGeom>
          <a:noFill/>
          <a:ln/>
        </p:spPr>
        <p:txBody>
          <a:bodyPr wrap="square" lIns="0" tIns="0" rIns="0" bIns="0" rtlCol="0" anchor="t"/>
          <a:lstStyle/>
          <a:p>
            <a:pPr indent="0" marL="0">
              <a:buNone/>
            </a:pPr>
            <a:r>
              <a:rPr lang="en-US" sz="1000" dirty="0">
                <a:solidFill>
                  <a:schemeClr val="accent6"/>
                </a:solidFill>
              </a:rPr>
              <a:t>Akar: perceived usefulness (TAM), extrinsic motivation (MM), job-fit (MPCU), relative advantage (IDT), outcome expectations (SCT)</a:t>
            </a:r>
            <a:endParaRPr lang="en-US" sz="1000" dirty="0"/>
          </a:p>
        </p:txBody>
      </p:sp>
      <p:sp>
        <p:nvSpPr>
          <p:cNvPr id="11" name="Effort Expectancy"/>
          <p:cNvSpPr/>
          <p:nvPr/>
        </p:nvSpPr>
        <p:spPr>
          <a:xfrm>
            <a:off x="6199632" y="1554480"/>
            <a:ext cx="5440680" cy="2194560"/>
          </a:xfrm>
          <a:prstGeom prst="roundRect">
            <a:avLst>
              <a:gd name="adj" fmla="val 5000"/>
            </a:avLst>
          </a:prstGeom>
          <a:solidFill>
            <a:schemeClr val="bg1"/>
          </a:solidFill>
          <a:ln/>
          <a:effectLst>
            <a:outerShdw sx="100000" sy="100000" kx="0" ky="0" algn="bl" rotWithShape="0" blurRad="101600" dist="25400" dir="5400000">
              <a:srgbClr val="1C1A33">
                <a:alpha val="14000"/>
              </a:srgbClr>
            </a:outerShdw>
          </a:effectLst>
        </p:spPr>
      </p:sp>
      <p:sp>
        <p:nvSpPr>
          <p:cNvPr id="12" name="Effort Expectancy lingkaran"/>
          <p:cNvSpPr/>
          <p:nvPr/>
        </p:nvSpPr>
        <p:spPr>
          <a:xfrm>
            <a:off x="6473952" y="1828800"/>
            <a:ext cx="640080" cy="640080"/>
          </a:xfrm>
          <a:prstGeom prst="ellipse">
            <a:avLst/>
          </a:prstGeom>
          <a:solidFill>
            <a:schemeClr val="accent1"/>
          </a:solidFill>
          <a:ln/>
        </p:spPr>
      </p:sp>
      <p:pic>
        <p:nvPicPr>
          <p:cNvPr id="13" name="Effort Expectancy ikon" descr="preencoded.png">    </p:cNvPr>
          <p:cNvPicPr>
            <a:picLocks noChangeAspect="1"/>
          </p:cNvPicPr>
          <p:nvPr/>
        </p:nvPicPr>
        <p:blipFill>
          <a:blip r:embed="rId2"/>
          <a:stretch>
            <a:fillRect/>
          </a:stretch>
        </p:blipFill>
        <p:spPr>
          <a:xfrm>
            <a:off x="6627571" y="1982419"/>
            <a:ext cx="332842" cy="332842"/>
          </a:xfrm>
          <a:prstGeom prst="rect">
            <a:avLst/>
          </a:prstGeom>
        </p:spPr>
      </p:pic>
      <p:sp>
        <p:nvSpPr>
          <p:cNvPr id="14" name="Text 10"/>
          <p:cNvSpPr txBox="1"/>
          <p:nvPr/>
        </p:nvSpPr>
        <p:spPr>
          <a:xfrm>
            <a:off x="7296912" y="1783080"/>
            <a:ext cx="4114800" cy="685800"/>
          </a:xfrm>
          <a:prstGeom prst="rect">
            <a:avLst/>
          </a:prstGeom>
          <a:noFill/>
          <a:ln/>
        </p:spPr>
        <p:txBody>
          <a:bodyPr wrap="square" lIns="0" tIns="0" rIns="0" bIns="0" rtlCol="0" anchor="t"/>
          <a:lstStyle/>
          <a:p>
            <a:pPr indent="0" marL="0">
              <a:buNone/>
            </a:pPr>
            <a:r>
              <a:rPr lang="en-US" sz="1800" b="1" dirty="0">
                <a:solidFill>
                  <a:schemeClr val="tx1"/>
                </a:solidFill>
              </a:rPr>
              <a:t>Effort Expectancy</a:t>
            </a:r>
            <a:endParaRPr lang="en-US" sz="1400" dirty="0"/>
          </a:p>
          <a:p>
            <a:pPr indent="0" marL="0">
              <a:buNone/>
            </a:pPr>
            <a:r>
              <a:rPr lang="en-US" sz="1300" b="1" dirty="0">
                <a:solidFill>
                  <a:schemeClr val="accent1"/>
                </a:solidFill>
              </a:rPr>
              <a:t>Harapan Usaha</a:t>
            </a:r>
            <a:endParaRPr lang="en-US" sz="1400" dirty="0"/>
          </a:p>
        </p:txBody>
      </p:sp>
      <p:sp>
        <p:nvSpPr>
          <p:cNvPr id="15" name="Text 11"/>
          <p:cNvSpPr txBox="1"/>
          <p:nvPr/>
        </p:nvSpPr>
        <p:spPr>
          <a:xfrm>
            <a:off x="7296912" y="2468880"/>
            <a:ext cx="4114800" cy="502920"/>
          </a:xfrm>
          <a:prstGeom prst="rect">
            <a:avLst/>
          </a:prstGeom>
          <a:noFill/>
          <a:ln/>
        </p:spPr>
        <p:txBody>
          <a:bodyPr wrap="square" lIns="0" tIns="0" rIns="0" bIns="0" rtlCol="0" anchor="t"/>
          <a:lstStyle/>
          <a:p>
            <a:pPr indent="0" marL="0">
              <a:buNone/>
            </a:pPr>
            <a:r>
              <a:rPr lang="en-US" sz="1400" dirty="0">
                <a:solidFill>
                  <a:schemeClr val="tx1"/>
                </a:solidFill>
              </a:rPr>
              <a:t>Tingkat kemudahan yang dirasakan saat menggunakan teknologi.</a:t>
            </a:r>
            <a:endParaRPr lang="en-US" sz="1400" dirty="0"/>
          </a:p>
        </p:txBody>
      </p:sp>
      <p:sp>
        <p:nvSpPr>
          <p:cNvPr id="16" name="Text 12"/>
          <p:cNvSpPr txBox="1"/>
          <p:nvPr/>
        </p:nvSpPr>
        <p:spPr>
          <a:xfrm>
            <a:off x="7296912" y="2971800"/>
            <a:ext cx="4114800" cy="274320"/>
          </a:xfrm>
          <a:prstGeom prst="rect">
            <a:avLst/>
          </a:prstGeom>
          <a:noFill/>
          <a:ln/>
        </p:spPr>
        <p:txBody>
          <a:bodyPr wrap="square" lIns="0" tIns="0" rIns="0" bIns="0" rtlCol="0" anchor="t"/>
          <a:lstStyle/>
          <a:p>
            <a:pPr indent="0" marL="0">
              <a:buNone/>
            </a:pPr>
            <a:r>
              <a:rPr lang="en-US" sz="1400" b="1" i="1" dirty="0">
                <a:solidFill>
                  <a:schemeClr val="tx2"/>
                </a:solidFill>
              </a:rPr>
              <a:t>“Apakah teknologi ini mudah dipakai?”</a:t>
            </a:r>
            <a:endParaRPr lang="en-US" sz="1400" dirty="0"/>
          </a:p>
        </p:txBody>
      </p:sp>
      <p:sp>
        <p:nvSpPr>
          <p:cNvPr id="17" name="Text 13"/>
          <p:cNvSpPr txBox="1"/>
          <p:nvPr/>
        </p:nvSpPr>
        <p:spPr>
          <a:xfrm>
            <a:off x="7296912" y="3273552"/>
            <a:ext cx="4114800" cy="411480"/>
          </a:xfrm>
          <a:prstGeom prst="rect">
            <a:avLst/>
          </a:prstGeom>
          <a:noFill/>
          <a:ln/>
        </p:spPr>
        <p:txBody>
          <a:bodyPr wrap="square" lIns="0" tIns="0" rIns="0" bIns="0" rtlCol="0" anchor="t"/>
          <a:lstStyle/>
          <a:p>
            <a:pPr indent="0" marL="0">
              <a:buNone/>
            </a:pPr>
            <a:r>
              <a:rPr lang="en-US" sz="1000" dirty="0">
                <a:solidFill>
                  <a:schemeClr val="accent6"/>
                </a:solidFill>
              </a:rPr>
              <a:t>Akar: perceived ease of use (TAM), complexity (MPCU), ease of use (IDT)</a:t>
            </a:r>
            <a:endParaRPr lang="en-US" sz="1000" dirty="0"/>
          </a:p>
        </p:txBody>
      </p:sp>
      <p:sp>
        <p:nvSpPr>
          <p:cNvPr id="18" name="Social Influence"/>
          <p:cNvSpPr/>
          <p:nvPr/>
        </p:nvSpPr>
        <p:spPr>
          <a:xfrm>
            <a:off x="548640" y="3977640"/>
            <a:ext cx="5440680" cy="2194560"/>
          </a:xfrm>
          <a:prstGeom prst="roundRect">
            <a:avLst>
              <a:gd name="adj" fmla="val 5000"/>
            </a:avLst>
          </a:prstGeom>
          <a:solidFill>
            <a:schemeClr val="bg1"/>
          </a:solidFill>
          <a:ln/>
          <a:effectLst>
            <a:outerShdw sx="100000" sy="100000" kx="0" ky="0" algn="bl" rotWithShape="0" blurRad="101600" dist="25400" dir="5400000">
              <a:srgbClr val="1C1A33">
                <a:alpha val="14000"/>
              </a:srgbClr>
            </a:outerShdw>
          </a:effectLst>
        </p:spPr>
      </p:sp>
      <p:sp>
        <p:nvSpPr>
          <p:cNvPr id="19" name="Social Influence lingkaran"/>
          <p:cNvSpPr/>
          <p:nvPr/>
        </p:nvSpPr>
        <p:spPr>
          <a:xfrm>
            <a:off x="822960" y="4251960"/>
            <a:ext cx="640080" cy="640080"/>
          </a:xfrm>
          <a:prstGeom prst="ellipse">
            <a:avLst/>
          </a:prstGeom>
          <a:solidFill>
            <a:schemeClr val="accent1"/>
          </a:solidFill>
          <a:ln/>
        </p:spPr>
      </p:sp>
      <p:pic>
        <p:nvPicPr>
          <p:cNvPr id="20" name="Social Influence ikon" descr="preencoded.png">    </p:cNvPr>
          <p:cNvPicPr>
            <a:picLocks noChangeAspect="1"/>
          </p:cNvPicPr>
          <p:nvPr/>
        </p:nvPicPr>
        <p:blipFill>
          <a:blip r:embed="rId3"/>
          <a:stretch>
            <a:fillRect/>
          </a:stretch>
        </p:blipFill>
        <p:spPr>
          <a:xfrm>
            <a:off x="976579" y="4405579"/>
            <a:ext cx="332842" cy="332842"/>
          </a:xfrm>
          <a:prstGeom prst="rect">
            <a:avLst/>
          </a:prstGeom>
        </p:spPr>
      </p:pic>
      <p:sp>
        <p:nvSpPr>
          <p:cNvPr id="21" name="Text 16"/>
          <p:cNvSpPr txBox="1"/>
          <p:nvPr/>
        </p:nvSpPr>
        <p:spPr>
          <a:xfrm>
            <a:off x="1645920" y="4206240"/>
            <a:ext cx="4114800" cy="685800"/>
          </a:xfrm>
          <a:prstGeom prst="rect">
            <a:avLst/>
          </a:prstGeom>
          <a:noFill/>
          <a:ln/>
        </p:spPr>
        <p:txBody>
          <a:bodyPr wrap="square" lIns="0" tIns="0" rIns="0" bIns="0" rtlCol="0" anchor="t"/>
          <a:lstStyle/>
          <a:p>
            <a:pPr indent="0" marL="0">
              <a:buNone/>
            </a:pPr>
            <a:r>
              <a:rPr lang="en-US" sz="1800" b="1" dirty="0">
                <a:solidFill>
                  <a:schemeClr val="tx1"/>
                </a:solidFill>
              </a:rPr>
              <a:t>Social Influence</a:t>
            </a:r>
            <a:endParaRPr lang="en-US" sz="1400" dirty="0"/>
          </a:p>
          <a:p>
            <a:pPr indent="0" marL="0">
              <a:buNone/>
            </a:pPr>
            <a:r>
              <a:rPr lang="en-US" sz="1300" b="1" dirty="0">
                <a:solidFill>
                  <a:schemeClr val="accent1"/>
                </a:solidFill>
              </a:rPr>
              <a:t>Pengaruh Sosial</a:t>
            </a:r>
            <a:endParaRPr lang="en-US" sz="1400" dirty="0"/>
          </a:p>
        </p:txBody>
      </p:sp>
      <p:sp>
        <p:nvSpPr>
          <p:cNvPr id="22" name="Text 17"/>
          <p:cNvSpPr txBox="1"/>
          <p:nvPr/>
        </p:nvSpPr>
        <p:spPr>
          <a:xfrm>
            <a:off x="1645920" y="4892040"/>
            <a:ext cx="4114800" cy="502920"/>
          </a:xfrm>
          <a:prstGeom prst="rect">
            <a:avLst/>
          </a:prstGeom>
          <a:noFill/>
          <a:ln/>
        </p:spPr>
        <p:txBody>
          <a:bodyPr wrap="square" lIns="0" tIns="0" rIns="0" bIns="0" rtlCol="0" anchor="t"/>
          <a:lstStyle/>
          <a:p>
            <a:pPr indent="0" marL="0">
              <a:buNone/>
            </a:pPr>
            <a:r>
              <a:rPr lang="en-US" sz="1400" dirty="0">
                <a:solidFill>
                  <a:schemeClr val="tx1"/>
                </a:solidFill>
              </a:rPr>
              <a:t>Sejauh mana orang-orang penting (teman, keluarga, atasan, dosen) dianggap mendorong penggunaan.</a:t>
            </a:r>
            <a:endParaRPr lang="en-US" sz="1400" dirty="0"/>
          </a:p>
        </p:txBody>
      </p:sp>
      <p:sp>
        <p:nvSpPr>
          <p:cNvPr id="23" name="Text 18"/>
          <p:cNvSpPr txBox="1"/>
          <p:nvPr/>
        </p:nvSpPr>
        <p:spPr>
          <a:xfrm>
            <a:off x="1645920" y="5394960"/>
            <a:ext cx="4114800" cy="274320"/>
          </a:xfrm>
          <a:prstGeom prst="rect">
            <a:avLst/>
          </a:prstGeom>
          <a:noFill/>
          <a:ln/>
        </p:spPr>
        <p:txBody>
          <a:bodyPr wrap="square" lIns="0" tIns="0" rIns="0" bIns="0" rtlCol="0" anchor="t"/>
          <a:lstStyle/>
          <a:p>
            <a:pPr indent="0" marL="0">
              <a:buNone/>
            </a:pPr>
            <a:r>
              <a:rPr lang="en-US" sz="1400" b="1" i="1" dirty="0">
                <a:solidFill>
                  <a:schemeClr val="tx2"/>
                </a:solidFill>
              </a:rPr>
              <a:t>“Apakah orang di sekitar saya mendorong?”</a:t>
            </a:r>
            <a:endParaRPr lang="en-US" sz="1400" dirty="0"/>
          </a:p>
        </p:txBody>
      </p:sp>
      <p:sp>
        <p:nvSpPr>
          <p:cNvPr id="24" name="Text 19"/>
          <p:cNvSpPr txBox="1"/>
          <p:nvPr/>
        </p:nvSpPr>
        <p:spPr>
          <a:xfrm>
            <a:off x="1645920" y="5696712"/>
            <a:ext cx="4114800" cy="411480"/>
          </a:xfrm>
          <a:prstGeom prst="rect">
            <a:avLst/>
          </a:prstGeom>
          <a:noFill/>
          <a:ln/>
        </p:spPr>
        <p:txBody>
          <a:bodyPr wrap="square" lIns="0" tIns="0" rIns="0" bIns="0" rtlCol="0" anchor="t"/>
          <a:lstStyle/>
          <a:p>
            <a:pPr indent="0" marL="0">
              <a:buNone/>
            </a:pPr>
            <a:r>
              <a:rPr lang="en-US" sz="1000" dirty="0">
                <a:solidFill>
                  <a:schemeClr val="accent6"/>
                </a:solidFill>
              </a:rPr>
              <a:t>Akar: subjective norm (TRA, TPB, TAM2), social factors (MPCU), image (IDT)</a:t>
            </a:r>
            <a:endParaRPr lang="en-US" sz="1000" dirty="0"/>
          </a:p>
        </p:txBody>
      </p:sp>
      <p:sp>
        <p:nvSpPr>
          <p:cNvPr id="25" name="Facilitating Conditions"/>
          <p:cNvSpPr/>
          <p:nvPr/>
        </p:nvSpPr>
        <p:spPr>
          <a:xfrm>
            <a:off x="6199632" y="3977640"/>
            <a:ext cx="5440680" cy="2194560"/>
          </a:xfrm>
          <a:prstGeom prst="roundRect">
            <a:avLst>
              <a:gd name="adj" fmla="val 5000"/>
            </a:avLst>
          </a:prstGeom>
          <a:solidFill>
            <a:schemeClr val="bg1"/>
          </a:solidFill>
          <a:ln/>
          <a:effectLst>
            <a:outerShdw sx="100000" sy="100000" kx="0" ky="0" algn="bl" rotWithShape="0" blurRad="101600" dist="25400" dir="5400000">
              <a:srgbClr val="1C1A33">
                <a:alpha val="14000"/>
              </a:srgbClr>
            </a:outerShdw>
          </a:effectLst>
        </p:spPr>
      </p:sp>
      <p:sp>
        <p:nvSpPr>
          <p:cNvPr id="26" name="Facilitating Conditions lingkaran"/>
          <p:cNvSpPr/>
          <p:nvPr/>
        </p:nvSpPr>
        <p:spPr>
          <a:xfrm>
            <a:off x="6473952" y="4251960"/>
            <a:ext cx="640080" cy="640080"/>
          </a:xfrm>
          <a:prstGeom prst="ellipse">
            <a:avLst/>
          </a:prstGeom>
          <a:solidFill>
            <a:schemeClr val="accent1"/>
          </a:solidFill>
          <a:ln/>
        </p:spPr>
      </p:sp>
      <p:pic>
        <p:nvPicPr>
          <p:cNvPr id="27" name="Facilitating Conditions ikon" descr="preencoded.png">    </p:cNvPr>
          <p:cNvPicPr>
            <a:picLocks noChangeAspect="1"/>
          </p:cNvPicPr>
          <p:nvPr/>
        </p:nvPicPr>
        <p:blipFill>
          <a:blip r:embed="rId4"/>
          <a:stretch>
            <a:fillRect/>
          </a:stretch>
        </p:blipFill>
        <p:spPr>
          <a:xfrm>
            <a:off x="6627571" y="4405579"/>
            <a:ext cx="332842" cy="332842"/>
          </a:xfrm>
          <a:prstGeom prst="rect">
            <a:avLst/>
          </a:prstGeom>
        </p:spPr>
      </p:pic>
      <p:sp>
        <p:nvSpPr>
          <p:cNvPr id="28" name="Text 22"/>
          <p:cNvSpPr txBox="1"/>
          <p:nvPr/>
        </p:nvSpPr>
        <p:spPr>
          <a:xfrm>
            <a:off x="7296912" y="4206240"/>
            <a:ext cx="4114800" cy="685800"/>
          </a:xfrm>
          <a:prstGeom prst="rect">
            <a:avLst/>
          </a:prstGeom>
          <a:noFill/>
          <a:ln/>
        </p:spPr>
        <p:txBody>
          <a:bodyPr wrap="square" lIns="0" tIns="0" rIns="0" bIns="0" rtlCol="0" anchor="t"/>
          <a:lstStyle/>
          <a:p>
            <a:pPr indent="0" marL="0">
              <a:buNone/>
            </a:pPr>
            <a:r>
              <a:rPr lang="en-US" sz="1800" b="1" dirty="0">
                <a:solidFill>
                  <a:schemeClr val="tx1"/>
                </a:solidFill>
              </a:rPr>
              <a:t>Facilitating Conditions</a:t>
            </a:r>
            <a:endParaRPr lang="en-US" sz="1400" dirty="0"/>
          </a:p>
          <a:p>
            <a:pPr indent="0" marL="0">
              <a:buNone/>
            </a:pPr>
            <a:r>
              <a:rPr lang="en-US" sz="1300" b="1" dirty="0">
                <a:solidFill>
                  <a:schemeClr val="accent1"/>
                </a:solidFill>
              </a:rPr>
              <a:t>Kondisi Pendukung</a:t>
            </a:r>
            <a:endParaRPr lang="en-US" sz="1400" dirty="0"/>
          </a:p>
        </p:txBody>
      </p:sp>
      <p:sp>
        <p:nvSpPr>
          <p:cNvPr id="29" name="Text 23"/>
          <p:cNvSpPr txBox="1"/>
          <p:nvPr/>
        </p:nvSpPr>
        <p:spPr>
          <a:xfrm>
            <a:off x="7296912" y="4892040"/>
            <a:ext cx="4114800" cy="502920"/>
          </a:xfrm>
          <a:prstGeom prst="rect">
            <a:avLst/>
          </a:prstGeom>
          <a:noFill/>
          <a:ln/>
        </p:spPr>
        <p:txBody>
          <a:bodyPr wrap="square" lIns="0" tIns="0" rIns="0" bIns="0" rtlCol="0" anchor="t"/>
          <a:lstStyle/>
          <a:p>
            <a:pPr indent="0" marL="0">
              <a:buNone/>
            </a:pPr>
            <a:r>
              <a:rPr lang="en-US" sz="1400" dirty="0">
                <a:solidFill>
                  <a:schemeClr val="tx1"/>
                </a:solidFill>
              </a:rPr>
              <a:t>Keyakinan bahwa infrastruktur teknis dan dukungan (perangkat, internet, panduan, bantuan) tersedia.</a:t>
            </a:r>
            <a:endParaRPr lang="en-US" sz="1400" dirty="0"/>
          </a:p>
        </p:txBody>
      </p:sp>
      <p:sp>
        <p:nvSpPr>
          <p:cNvPr id="30" name="Text 24"/>
          <p:cNvSpPr txBox="1"/>
          <p:nvPr/>
        </p:nvSpPr>
        <p:spPr>
          <a:xfrm>
            <a:off x="7296912" y="5394960"/>
            <a:ext cx="4114800" cy="274320"/>
          </a:xfrm>
          <a:prstGeom prst="rect">
            <a:avLst/>
          </a:prstGeom>
          <a:noFill/>
          <a:ln/>
        </p:spPr>
        <p:txBody>
          <a:bodyPr wrap="square" lIns="0" tIns="0" rIns="0" bIns="0" rtlCol="0" anchor="t"/>
          <a:lstStyle/>
          <a:p>
            <a:pPr indent="0" marL="0">
              <a:buNone/>
            </a:pPr>
            <a:r>
              <a:rPr lang="en-US" sz="1400" b="1" i="1" dirty="0">
                <a:solidFill>
                  <a:schemeClr val="tx2"/>
                </a:solidFill>
              </a:rPr>
              <a:t>“Apakah fasilitasnya mendukung?”</a:t>
            </a:r>
            <a:endParaRPr lang="en-US" sz="1400" dirty="0"/>
          </a:p>
        </p:txBody>
      </p:sp>
      <p:sp>
        <p:nvSpPr>
          <p:cNvPr id="31" name="Text 25"/>
          <p:cNvSpPr txBox="1"/>
          <p:nvPr/>
        </p:nvSpPr>
        <p:spPr>
          <a:xfrm>
            <a:off x="7296912" y="5696712"/>
            <a:ext cx="4114800" cy="411480"/>
          </a:xfrm>
          <a:prstGeom prst="rect">
            <a:avLst/>
          </a:prstGeom>
          <a:noFill/>
          <a:ln/>
        </p:spPr>
        <p:txBody>
          <a:bodyPr wrap="square" lIns="0" tIns="0" rIns="0" bIns="0" rtlCol="0" anchor="t"/>
          <a:lstStyle/>
          <a:p>
            <a:pPr indent="0" marL="0">
              <a:buNone/>
            </a:pPr>
            <a:r>
              <a:rPr lang="en-US" sz="1000" dirty="0">
                <a:solidFill>
                  <a:schemeClr val="accent6"/>
                </a:solidFill>
              </a:rPr>
              <a:t>Akar: perceived behavioral control (TPB), facilitating conditions (MPCU), compatibility (IDT)</a:t>
            </a:r>
            <a:endParaRPr lang="en-US" sz="1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HASIL AKHIR MODEL</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Niat belum tentu sama dengan tindakan</a:t>
            </a:r>
            <a:endParaRPr lang="en-US" sz="3400" dirty="0"/>
          </a:p>
        </p:txBody>
      </p:sp>
      <p:sp>
        <p:nvSpPr>
          <p:cNvPr id="4" name="Behavioral Intention"/>
          <p:cNvSpPr/>
          <p:nvPr/>
        </p:nvSpPr>
        <p:spPr>
          <a:xfrm>
            <a:off x="548640" y="1600200"/>
            <a:ext cx="5120640" cy="2926080"/>
          </a:xfrm>
          <a:prstGeom prst="roundRect">
            <a:avLst>
              <a:gd name="adj" fmla="val 3750"/>
            </a:avLst>
          </a:prstGeom>
          <a:solidFill>
            <a:schemeClr val="bg2"/>
          </a:solidFill>
          <a:ln/>
        </p:spPr>
      </p:sp>
      <p:sp>
        <p:nvSpPr>
          <p:cNvPr id="5" name="Behavioral Intention lingkaran"/>
          <p:cNvSpPr/>
          <p:nvPr/>
        </p:nvSpPr>
        <p:spPr>
          <a:xfrm>
            <a:off x="868680" y="1874520"/>
            <a:ext cx="777240" cy="777240"/>
          </a:xfrm>
          <a:prstGeom prst="ellipse">
            <a:avLst/>
          </a:prstGeom>
          <a:solidFill>
            <a:schemeClr val="tx2"/>
          </a:solidFill>
          <a:ln/>
        </p:spPr>
      </p:sp>
      <p:pic>
        <p:nvPicPr>
          <p:cNvPr id="6" name="Behavioral Intention ikon" descr="preencoded.png">    </p:cNvPr>
          <p:cNvPicPr>
            <a:picLocks noChangeAspect="1"/>
          </p:cNvPicPr>
          <p:nvPr/>
        </p:nvPicPr>
        <p:blipFill>
          <a:blip r:embed="rId1"/>
          <a:stretch>
            <a:fillRect/>
          </a:stretch>
        </p:blipFill>
        <p:spPr>
          <a:xfrm>
            <a:off x="1055218" y="2061058"/>
            <a:ext cx="404165" cy="404165"/>
          </a:xfrm>
          <a:prstGeom prst="rect">
            <a:avLst/>
          </a:prstGeom>
        </p:spPr>
      </p:pic>
      <p:sp>
        <p:nvSpPr>
          <p:cNvPr id="7" name="Text 4"/>
          <p:cNvSpPr txBox="1"/>
          <p:nvPr/>
        </p:nvSpPr>
        <p:spPr>
          <a:xfrm>
            <a:off x="1828800" y="1874520"/>
            <a:ext cx="36576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Behavioral Intention</a:t>
            </a:r>
            <a:endParaRPr lang="en-US" sz="2200" dirty="0"/>
          </a:p>
        </p:txBody>
      </p:sp>
      <p:sp>
        <p:nvSpPr>
          <p:cNvPr id="8" name="Text 5"/>
          <p:cNvSpPr txBox="1"/>
          <p:nvPr/>
        </p:nvSpPr>
        <p:spPr>
          <a:xfrm>
            <a:off x="1828800" y="2331720"/>
            <a:ext cx="3657600" cy="457200"/>
          </a:xfrm>
          <a:prstGeom prst="rect">
            <a:avLst/>
          </a:prstGeom>
          <a:noFill/>
          <a:ln/>
        </p:spPr>
        <p:txBody>
          <a:bodyPr wrap="square" lIns="0" tIns="0" rIns="0" bIns="0" rtlCol="0" anchor="t"/>
          <a:lstStyle/>
          <a:p>
            <a:pPr indent="0" marL="0">
              <a:buNone/>
            </a:pPr>
            <a:r>
              <a:rPr lang="en-US" sz="1400" dirty="0">
                <a:solidFill>
                  <a:schemeClr val="tx2"/>
                </a:solidFill>
              </a:rPr>
              <a:t>Niat atau rencana untuk menggunakan teknologi</a:t>
            </a:r>
            <a:endParaRPr lang="en-US" sz="1400" dirty="0"/>
          </a:p>
        </p:txBody>
      </p:sp>
      <p:sp>
        <p:nvSpPr>
          <p:cNvPr id="9" name="Text 6"/>
          <p:cNvSpPr txBox="1"/>
          <p:nvPr/>
        </p:nvSpPr>
        <p:spPr>
          <a:xfrm>
            <a:off x="914400" y="3063240"/>
            <a:ext cx="4480560" cy="1325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“Saya berencana menggunakan aplikasi ini.”</a:t>
            </a:r>
            <a:endParaRPr lang="en-US" sz="1600" dirty="0"/>
          </a:p>
          <a:p>
            <a:pPr marL="342900" indent="-342900">
              <a:spcAft>
                <a:spcPts val="800"/>
              </a:spcAft>
              <a:buSzPct val="100000"/>
              <a:buChar char="•"/>
            </a:pPr>
            <a:r>
              <a:rPr lang="en-US" sz="1600" dirty="0">
                <a:solidFill>
                  <a:schemeClr val="tx1"/>
                </a:solidFill>
              </a:rPr>
              <a:t>“Saya akan menggunakannya lagi.”</a:t>
            </a:r>
            <a:endParaRPr lang="en-US" sz="1600" dirty="0"/>
          </a:p>
          <a:p>
            <a:pPr marL="342900" indent="-342900">
              <a:spcAft>
                <a:spcPts val="800"/>
              </a:spcAft>
              <a:buSzPct val="100000"/>
              <a:buChar char="•"/>
            </a:pPr>
            <a:r>
              <a:rPr lang="en-US" sz="1600" dirty="0">
                <a:solidFill>
                  <a:schemeClr val="tx1"/>
                </a:solidFill>
              </a:rPr>
              <a:t>“Saya ingin terus memakainya ke depan.”</a:t>
            </a:r>
            <a:endParaRPr lang="en-US" sz="1600" dirty="0"/>
          </a:p>
        </p:txBody>
      </p:sp>
      <p:sp>
        <p:nvSpPr>
          <p:cNvPr id="10" name="Use Behavior"/>
          <p:cNvSpPr/>
          <p:nvPr/>
        </p:nvSpPr>
        <p:spPr>
          <a:xfrm>
            <a:off x="6519672" y="1600200"/>
            <a:ext cx="5120640" cy="2926080"/>
          </a:xfrm>
          <a:prstGeom prst="roundRect">
            <a:avLst>
              <a:gd name="adj" fmla="val 3750"/>
            </a:avLst>
          </a:prstGeom>
          <a:solidFill>
            <a:schemeClr val="bg2"/>
          </a:solidFill>
          <a:ln/>
        </p:spPr>
      </p:sp>
      <p:sp>
        <p:nvSpPr>
          <p:cNvPr id="11" name="Use Behavior lingkaran"/>
          <p:cNvSpPr/>
          <p:nvPr/>
        </p:nvSpPr>
        <p:spPr>
          <a:xfrm>
            <a:off x="6839712" y="1874520"/>
            <a:ext cx="777240" cy="777240"/>
          </a:xfrm>
          <a:prstGeom prst="ellipse">
            <a:avLst/>
          </a:prstGeom>
          <a:solidFill>
            <a:schemeClr val="accent1"/>
          </a:solidFill>
          <a:ln/>
        </p:spPr>
      </p:sp>
      <p:pic>
        <p:nvPicPr>
          <p:cNvPr id="12" name="Use Behavior ikon" descr="preencoded.png">    </p:cNvPr>
          <p:cNvPicPr>
            <a:picLocks noChangeAspect="1"/>
          </p:cNvPicPr>
          <p:nvPr/>
        </p:nvPicPr>
        <p:blipFill>
          <a:blip r:embed="rId2"/>
          <a:stretch>
            <a:fillRect/>
          </a:stretch>
        </p:blipFill>
        <p:spPr>
          <a:xfrm>
            <a:off x="7026250" y="2061058"/>
            <a:ext cx="404165" cy="404165"/>
          </a:xfrm>
          <a:prstGeom prst="rect">
            <a:avLst/>
          </a:prstGeom>
        </p:spPr>
      </p:pic>
      <p:sp>
        <p:nvSpPr>
          <p:cNvPr id="13" name="Text 9"/>
          <p:cNvSpPr txBox="1"/>
          <p:nvPr/>
        </p:nvSpPr>
        <p:spPr>
          <a:xfrm>
            <a:off x="7799832" y="1874520"/>
            <a:ext cx="36576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Use Behavior</a:t>
            </a:r>
            <a:endParaRPr lang="en-US" sz="2200" dirty="0"/>
          </a:p>
        </p:txBody>
      </p:sp>
      <p:sp>
        <p:nvSpPr>
          <p:cNvPr id="14" name="Text 10"/>
          <p:cNvSpPr txBox="1"/>
          <p:nvPr/>
        </p:nvSpPr>
        <p:spPr>
          <a:xfrm>
            <a:off x="7799832" y="2331720"/>
            <a:ext cx="3657600" cy="457200"/>
          </a:xfrm>
          <a:prstGeom prst="rect">
            <a:avLst/>
          </a:prstGeom>
          <a:noFill/>
          <a:ln/>
        </p:spPr>
        <p:txBody>
          <a:bodyPr wrap="square" lIns="0" tIns="0" rIns="0" bIns="0" rtlCol="0" anchor="t"/>
          <a:lstStyle/>
          <a:p>
            <a:pPr indent="0" marL="0">
              <a:buNone/>
            </a:pPr>
            <a:r>
              <a:rPr lang="en-US" sz="1400" dirty="0">
                <a:solidFill>
                  <a:schemeClr val="tx2"/>
                </a:solidFill>
              </a:rPr>
              <a:t>Penggunaan teknologi secara nyata dan terukur</a:t>
            </a:r>
            <a:endParaRPr lang="en-US" sz="1400" dirty="0"/>
          </a:p>
        </p:txBody>
      </p:sp>
      <p:sp>
        <p:nvSpPr>
          <p:cNvPr id="15" name="Text 11"/>
          <p:cNvSpPr txBox="1"/>
          <p:nvPr/>
        </p:nvSpPr>
        <p:spPr>
          <a:xfrm>
            <a:off x="6885432" y="3063240"/>
            <a:ext cx="4480560" cy="1325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Frekuensi: dibuka setiap minggu</a:t>
            </a:r>
            <a:endParaRPr lang="en-US" sz="1600" dirty="0"/>
          </a:p>
          <a:p>
            <a:pPr marL="342900" indent="-342900">
              <a:spcAft>
                <a:spcPts val="800"/>
              </a:spcAft>
              <a:buSzPct val="100000"/>
              <a:buChar char="•"/>
            </a:pPr>
            <a:r>
              <a:rPr lang="en-US" sz="1600" dirty="0">
                <a:solidFill>
                  <a:schemeClr val="tx1"/>
                </a:solidFill>
              </a:rPr>
              <a:t>Aktivitas: transfer uang, bayar tagihan</a:t>
            </a:r>
            <a:endParaRPr lang="en-US" sz="1600" dirty="0"/>
          </a:p>
          <a:p>
            <a:pPr marL="342900" indent="-342900">
              <a:spcAft>
                <a:spcPts val="800"/>
              </a:spcAft>
              <a:buSzPct val="100000"/>
              <a:buChar char="•"/>
            </a:pPr>
            <a:r>
              <a:rPr lang="en-US" sz="1600" dirty="0">
                <a:solidFill>
                  <a:schemeClr val="tx1"/>
                </a:solidFill>
              </a:rPr>
              <a:t>Sering diukur dari log atau laporan pengguna</a:t>
            </a:r>
            <a:endParaRPr lang="en-US" sz="1600" dirty="0"/>
          </a:p>
        </p:txBody>
      </p:sp>
      <p:sp>
        <p:nvSpPr>
          <p:cNvPr id="16" name="Panah niat ke perilaku"/>
          <p:cNvSpPr/>
          <p:nvPr/>
        </p:nvSpPr>
        <p:spPr>
          <a:xfrm>
            <a:off x="5788152" y="3200400"/>
            <a:ext cx="621792" cy="548640"/>
          </a:xfrm>
          <a:prstGeom prst="rightArrow">
            <a:avLst/>
          </a:prstGeom>
          <a:solidFill>
            <a:schemeClr val="accent2"/>
          </a:solidFill>
          <a:ln/>
        </p:spPr>
      </p:sp>
      <p:sp>
        <p:nvSpPr>
          <p:cNvPr id="17" name="Catatan contoh"/>
          <p:cNvSpPr/>
          <p:nvPr/>
        </p:nvSpPr>
        <p:spPr>
          <a:xfrm>
            <a:off x="548640" y="4754880"/>
            <a:ext cx="11091672" cy="640080"/>
          </a:xfrm>
          <a:prstGeom prst="roundRect">
            <a:avLst>
              <a:gd name="adj" fmla="val 17143"/>
            </a:avLst>
          </a:prstGeom>
          <a:solidFill>
            <a:schemeClr val="tx1"/>
          </a:solidFill>
          <a:ln/>
        </p:spPr>
      </p:sp>
      <p:sp>
        <p:nvSpPr>
          <p:cNvPr id="18" name="Text 14"/>
          <p:cNvSpPr txBox="1"/>
          <p:nvPr/>
        </p:nvSpPr>
        <p:spPr>
          <a:xfrm>
            <a:off x="822960" y="4754880"/>
            <a:ext cx="10607040" cy="640080"/>
          </a:xfrm>
          <a:prstGeom prst="rect">
            <a:avLst/>
          </a:prstGeom>
          <a:noFill/>
          <a:ln/>
        </p:spPr>
        <p:txBody>
          <a:bodyPr wrap="square" lIns="0" tIns="0" rIns="0" bIns="0" rtlCol="0" anchor="ctr"/>
          <a:lstStyle/>
          <a:p>
            <a:pPr indent="0" marL="0">
              <a:buNone/>
            </a:pPr>
            <a:r>
              <a:rPr lang="en-US" sz="1600" b="1" dirty="0">
                <a:solidFill>
                  <a:schemeClr val="accent2"/>
                </a:solidFill>
              </a:rPr>
              <a:t>Contoh: </a:t>
            </a:r>
            <a:pPr indent="0" marL="0">
              <a:buNone/>
            </a:pPr>
            <a:r>
              <a:rPr lang="en-US" sz="1600" dirty="0">
                <a:solidFill>
                  <a:schemeClr val="bg1"/>
                </a:solidFill>
              </a:rPr>
              <a:t>“Saya ingin pakai mobile banking” = niat.  Membukanya tiap minggu untuk transfer = perilaku nyata.</a:t>
            </a:r>
            <a:endParaRPr lang="en-US" sz="1600" dirty="0"/>
          </a:p>
        </p:txBody>
      </p:sp>
      <p:sp>
        <p:nvSpPr>
          <p:cNvPr id="19" name="Text 15"/>
          <p:cNvSpPr txBox="1"/>
          <p:nvPr/>
        </p:nvSpPr>
        <p:spPr>
          <a:xfrm>
            <a:off x="548640" y="5577840"/>
            <a:ext cx="11091672" cy="548640"/>
          </a:xfrm>
          <a:prstGeom prst="rect">
            <a:avLst/>
          </a:prstGeom>
          <a:noFill/>
          <a:ln/>
        </p:spPr>
        <p:txBody>
          <a:bodyPr wrap="square" lIns="0" tIns="0" rIns="0" bIns="0" rtlCol="0" anchor="ctr"/>
          <a:lstStyle/>
          <a:p>
            <a:pPr indent="0" marL="0">
              <a:buNone/>
            </a:pPr>
            <a:r>
              <a:rPr lang="en-US" sz="1500" b="1" dirty="0">
                <a:solidFill>
                  <a:schemeClr val="accent4"/>
                </a:solidFill>
              </a:rPr>
              <a:t>Mengapa penting? </a:t>
            </a:r>
            <a:pPr indent="0" marL="0">
              <a:buNone/>
            </a:pPr>
            <a:r>
              <a:rPr lang="en-US" sz="1500" dirty="0">
                <a:solidFill>
                  <a:schemeClr val="tx1"/>
                </a:solidFill>
              </a:rPr>
              <a:t>Niat tidak selalu berubah menjadi tindakan. Karena itu UTAUT juga menghubungkan Facilitating Conditions langsung ke Use Behavior.</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MODERATOR UTAUT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Pengaruh faktor tidak sama untuk semua orang</a:t>
            </a:r>
            <a:endParaRPr lang="en-US" sz="3400" dirty="0"/>
          </a:p>
        </p:txBody>
      </p:sp>
      <p:sp>
        <p:nvSpPr>
          <p:cNvPr id="4" name="Kartu penjelasan moderator"/>
          <p:cNvSpPr/>
          <p:nvPr/>
        </p:nvSpPr>
        <p:spPr>
          <a:xfrm>
            <a:off x="548640" y="1554480"/>
            <a:ext cx="3566160" cy="4617720"/>
          </a:xfrm>
          <a:prstGeom prst="roundRect">
            <a:avLst>
              <a:gd name="adj" fmla="val 3077"/>
            </a:avLst>
          </a:prstGeom>
          <a:solidFill>
            <a:schemeClr val="tx2"/>
          </a:solidFill>
          <a:ln/>
        </p:spPr>
      </p:sp>
      <p:sp>
        <p:nvSpPr>
          <p:cNvPr id="5" name="Text 3"/>
          <p:cNvSpPr txBox="1"/>
          <p:nvPr/>
        </p:nvSpPr>
        <p:spPr>
          <a:xfrm>
            <a:off x="822960" y="1783080"/>
            <a:ext cx="3017520" cy="365760"/>
          </a:xfrm>
          <a:prstGeom prst="rect">
            <a:avLst/>
          </a:prstGeom>
          <a:noFill/>
          <a:ln/>
        </p:spPr>
        <p:txBody>
          <a:bodyPr wrap="square" lIns="0" tIns="0" rIns="0" bIns="0" rtlCol="0" anchor="t"/>
          <a:lstStyle/>
          <a:p>
            <a:pPr indent="0" marL="0">
              <a:buNone/>
            </a:pPr>
            <a:r>
              <a:rPr lang="en-US" sz="1800" b="1" dirty="0">
                <a:solidFill>
                  <a:schemeClr val="accent1"/>
                </a:solidFill>
              </a:rPr>
              <a:t>Apa itu moderator?</a:t>
            </a:r>
            <a:endParaRPr lang="en-US" sz="1800" dirty="0"/>
          </a:p>
        </p:txBody>
      </p:sp>
      <p:sp>
        <p:nvSpPr>
          <p:cNvPr id="6" name="Text 4"/>
          <p:cNvSpPr txBox="1"/>
          <p:nvPr/>
        </p:nvSpPr>
        <p:spPr>
          <a:xfrm>
            <a:off x="822960" y="2194560"/>
            <a:ext cx="3017520" cy="1188720"/>
          </a:xfrm>
          <a:prstGeom prst="rect">
            <a:avLst/>
          </a:prstGeom>
          <a:noFill/>
          <a:ln/>
        </p:spPr>
        <p:txBody>
          <a:bodyPr wrap="square" lIns="0" tIns="0" rIns="0" bIns="0" rtlCol="0" anchor="t"/>
          <a:lstStyle/>
          <a:p>
            <a:pPr indent="0" marL="0">
              <a:buNone/>
            </a:pPr>
            <a:r>
              <a:rPr lang="en-US" sz="1500" dirty="0">
                <a:solidFill>
                  <a:schemeClr val="bg1"/>
                </a:solidFill>
              </a:rPr>
              <a:t>Variabel yang memperkuat atau memperlemah hubungan antar-konstruk, bukan penyebab langsung penggunaan.</a:t>
            </a:r>
            <a:endParaRPr lang="en-US" sz="1500" dirty="0"/>
          </a:p>
        </p:txBody>
      </p:sp>
      <p:sp>
        <p:nvSpPr>
          <p:cNvPr id="7" name="Text 5"/>
          <p:cNvSpPr txBox="1"/>
          <p:nvPr/>
        </p:nvSpPr>
        <p:spPr>
          <a:xfrm>
            <a:off x="822960" y="3520440"/>
            <a:ext cx="3017520" cy="320040"/>
          </a:xfrm>
          <a:prstGeom prst="rect">
            <a:avLst/>
          </a:prstGeom>
          <a:noFill/>
          <a:ln/>
        </p:spPr>
        <p:txBody>
          <a:bodyPr wrap="square" lIns="0" tIns="0" rIns="0" bIns="0" rtlCol="0" anchor="t"/>
          <a:lstStyle/>
          <a:p>
            <a:pPr indent="0" marL="0">
              <a:buNone/>
            </a:pPr>
            <a:r>
              <a:rPr lang="en-US" sz="1400" b="1" dirty="0">
                <a:solidFill>
                  <a:schemeClr val="accent2"/>
                </a:solidFill>
              </a:rPr>
              <a:t>Contoh: Experience</a:t>
            </a:r>
            <a:endParaRPr lang="en-US" sz="1400" dirty="0"/>
          </a:p>
        </p:txBody>
      </p:sp>
      <p:sp>
        <p:nvSpPr>
          <p:cNvPr id="8" name="Text 6"/>
          <p:cNvSpPr txBox="1"/>
          <p:nvPr/>
        </p:nvSpPr>
        <p:spPr>
          <a:xfrm>
            <a:off x="822960" y="3886200"/>
            <a:ext cx="3017520" cy="2103120"/>
          </a:xfrm>
          <a:prstGeom prst="rect">
            <a:avLst/>
          </a:prstGeom>
          <a:noFill/>
          <a:ln/>
        </p:spPr>
        <p:txBody>
          <a:bodyPr wrap="square" lIns="0" tIns="0" rIns="0" bIns="0" rtlCol="0" anchor="t"/>
          <a:lstStyle/>
          <a:p>
            <a:pPr indent="0" marL="0">
              <a:buNone/>
            </a:pPr>
            <a:r>
              <a:rPr lang="en-US" sz="1400" dirty="0">
                <a:solidFill>
                  <a:schemeClr val="bg2"/>
                </a:solidFill>
              </a:rPr>
              <a:t>Pengguna baru sangat memikirkan “mudah atau tidak?”. Pengguna berpengalaman tidak terlalu. Jadi pengaruh Effort Expectancy melemah seiring bertambahnya pengalaman.</a:t>
            </a:r>
            <a:endParaRPr lang="en-US" sz="1400" dirty="0"/>
          </a:p>
        </p:txBody>
      </p:sp>
      <p:graphicFrame>
        <p:nvGraphicFramePr>
          <p:cNvPr id="11" name="Tabel moderator UTAUT"/>
          <p:cNvGraphicFramePr>
            <a:graphicFrameLocks noGrp="1"/>
          </p:cNvGraphicFramePr>
          <p:nvPr>
            <p:extLst>
              <p:ext uri="{D42A27DB-BD31-4B8C-83A1-F6EECF244321}">
                <p14:modId xmlns:p14="http://schemas.microsoft.com/office/powerpoint/2010/main" val="1579011935"/>
              </p:ext>
            </p:extLst>
          </p:nvPr>
        </p:nvGraphicFramePr>
        <p:xfrm>
          <a:off x="4389120" y="1554480"/>
          <a:ext cx="7251192" cy="914400"/>
        </p:xfrm>
        <a:graphic>
          <a:graphicData uri="http://schemas.openxmlformats.org/drawingml/2006/table">
            <a:tbl>
              <a:tblPr/>
              <a:tblGrid>
                <a:gridCol w="1143000"/>
                <a:gridCol w="777240"/>
                <a:gridCol w="685800"/>
                <a:gridCol w="685800"/>
                <a:gridCol w="777240"/>
                <a:gridCol w="3182112"/>
              </a:tblGrid>
              <a:tr h="713232">
                <a:tc>
                  <a:txBody>
                    <a:bodyPr/>
                    <a:lstStyle/>
                    <a:p>
                      <a:pPr algn="ctr" indent="0" marL="0">
                        <a:buNone/>
                      </a:pPr>
                      <a:r>
                        <a:rPr lang="en-US" sz="1300" b="1" dirty="0">
                          <a:solidFill>
                            <a:schemeClr val="bg1"/>
                          </a:solidFill>
                        </a:rPr>
                        <a:t>Hubungan</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Gender</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Age</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Exp.</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Volunt.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Pola temuan (Venkatesh dkk., 2003)</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r>
              <a:tr h="713232">
                <a:tc>
                  <a:txBody>
                    <a:bodyPr/>
                    <a:lstStyle/>
                    <a:p>
                      <a:pPr indent="0" marL="0">
                        <a:buNone/>
                      </a:pPr>
                      <a:r>
                        <a:rPr lang="en-US" sz="1300" b="1" dirty="0">
                          <a:solidFill>
                            <a:schemeClr val="tx2"/>
                          </a:solidFill>
                        </a:rPr>
                        <a:t>PE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Lebih kuat pada pria dan usia muda</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713232">
                <a:tc>
                  <a:txBody>
                    <a:bodyPr/>
                    <a:lstStyle/>
                    <a:p>
                      <a:pPr indent="0" marL="0">
                        <a:buNone/>
                      </a:pPr>
                      <a:r>
                        <a:rPr lang="en-US" sz="1300" b="1" dirty="0">
                          <a:solidFill>
                            <a:schemeClr val="tx2"/>
                          </a:solidFill>
                        </a:rPr>
                        <a:t>EE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Lebih kuat pada wanita, usia lebih tua, pengalaman awal</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SI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Lebih kuat pada wanita, usia tua, penggunaan wajib, pengalaman awal</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713232">
                <a:tc>
                  <a:txBody>
                    <a:bodyPr/>
                    <a:lstStyle/>
                    <a:p>
                      <a:pPr indent="0" marL="0">
                        <a:buNone/>
                      </a:pPr>
                      <a:r>
                        <a:rPr lang="en-US" sz="1300" b="1" dirty="0">
                          <a:solidFill>
                            <a:schemeClr val="tx2"/>
                          </a:solidFill>
                        </a:rPr>
                        <a:t>FC → UB</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1"/>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Lebih kuat pada usia tua dengan pengalaman lebih banyak</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BI → UB</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Tidak dimoderasi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bl>
          </a:graphicData>
        </a:graphic>
      </p:graphicFrame>
      <p:sp>
        <p:nvSpPr>
          <p:cNvPr id="10" name="Text 7"/>
          <p:cNvSpPr txBox="1"/>
          <p:nvPr/>
        </p:nvSpPr>
        <p:spPr>
          <a:xfrm>
            <a:off x="4389120" y="5943600"/>
            <a:ext cx="7251192" cy="274320"/>
          </a:xfrm>
          <a:prstGeom prst="rect">
            <a:avLst/>
          </a:prstGeom>
          <a:noFill/>
          <a:ln/>
        </p:spPr>
        <p:txBody>
          <a:bodyPr wrap="square" lIns="0" tIns="0" rIns="0" bIns="0" rtlCol="0" anchor="t"/>
          <a:lstStyle/>
          <a:p>
            <a:pPr indent="0" marL="0">
              <a:buNone/>
            </a:pPr>
            <a:r>
              <a:rPr lang="en-US" sz="1200" i="1" dirty="0">
                <a:solidFill>
                  <a:schemeClr val="accent6"/>
                </a:solidFill>
              </a:rPr>
              <a:t>Voluntariness hanya memoderasi Social Influence: tekanan sosial paling terasa saat penggunaan bersifat wajib.</a:t>
            </a:r>
            <a:endParaRPr lang="en-US" sz="1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STUDI KASUS UTAUT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Membaca UTAUT lewat aplikasi CampusPay</a:t>
            </a:r>
            <a:endParaRPr lang="en-US" sz="3400" dirty="0"/>
          </a:p>
        </p:txBody>
      </p:sp>
      <p:sp>
        <p:nvSpPr>
          <p:cNvPr id="4" name="Performance Expectancy"/>
          <p:cNvSpPr/>
          <p:nvPr/>
        </p:nvSpPr>
        <p:spPr>
          <a:xfrm>
            <a:off x="548640" y="1600200"/>
            <a:ext cx="3246120" cy="1783080"/>
          </a:xfrm>
          <a:prstGeom prst="roundRect">
            <a:avLst>
              <a:gd name="adj" fmla="val 6154"/>
            </a:avLst>
          </a:prstGeom>
          <a:solidFill>
            <a:schemeClr val="bg1"/>
          </a:solidFill>
          <a:ln/>
          <a:effectLst>
            <a:outerShdw sx="100000" sy="100000" kx="0" ky="0" algn="bl" rotWithShape="0" blurRad="101600" dist="25400" dir="5400000">
              <a:srgbClr val="1C1A33">
                <a:alpha val="14000"/>
              </a:srgbClr>
            </a:outerShdw>
          </a:effectLst>
        </p:spPr>
      </p:sp>
      <p:sp>
        <p:nvSpPr>
          <p:cNvPr id="5" name="Performance Expectancy lingkaran"/>
          <p:cNvSpPr/>
          <p:nvPr/>
        </p:nvSpPr>
        <p:spPr>
          <a:xfrm>
            <a:off x="777240" y="1828800"/>
            <a:ext cx="502920" cy="502920"/>
          </a:xfrm>
          <a:prstGeom prst="ellipse">
            <a:avLst/>
          </a:prstGeom>
          <a:solidFill>
            <a:schemeClr val="accent1"/>
          </a:solidFill>
          <a:ln/>
        </p:spPr>
      </p:sp>
      <p:pic>
        <p:nvPicPr>
          <p:cNvPr id="6" name="Performance Expectancy ikon" descr="preencoded.png">    </p:cNvPr>
          <p:cNvPicPr>
            <a:picLocks noChangeAspect="1"/>
          </p:cNvPicPr>
          <p:nvPr/>
        </p:nvPicPr>
        <p:blipFill>
          <a:blip r:embed="rId1"/>
          <a:stretch>
            <a:fillRect/>
          </a:stretch>
        </p:blipFill>
        <p:spPr>
          <a:xfrm>
            <a:off x="897941" y="1949501"/>
            <a:ext cx="261518" cy="261518"/>
          </a:xfrm>
          <a:prstGeom prst="rect">
            <a:avLst/>
          </a:prstGeom>
        </p:spPr>
      </p:pic>
      <p:sp>
        <p:nvSpPr>
          <p:cNvPr id="7" name="Text 4"/>
          <p:cNvSpPr txBox="1"/>
          <p:nvPr/>
        </p:nvSpPr>
        <p:spPr>
          <a:xfrm>
            <a:off x="1417320" y="1828800"/>
            <a:ext cx="2240280" cy="502920"/>
          </a:xfrm>
          <a:prstGeom prst="rect">
            <a:avLst/>
          </a:prstGeom>
          <a:noFill/>
          <a:ln/>
        </p:spPr>
        <p:txBody>
          <a:bodyPr wrap="square" lIns="0" tIns="0" rIns="0" bIns="0" rtlCol="0" anchor="ctr"/>
          <a:lstStyle/>
          <a:p>
            <a:pPr indent="0" marL="0">
              <a:buNone/>
            </a:pPr>
            <a:r>
              <a:rPr lang="en-US" sz="1300" b="1" dirty="0">
                <a:solidFill>
                  <a:schemeClr val="accent1"/>
                </a:solidFill>
              </a:rPr>
              <a:t>Performance Expectancy</a:t>
            </a:r>
            <a:endParaRPr lang="en-US" sz="1300" dirty="0"/>
          </a:p>
        </p:txBody>
      </p:sp>
      <p:sp>
        <p:nvSpPr>
          <p:cNvPr id="8" name="Text 5"/>
          <p:cNvSpPr txBox="1"/>
          <p:nvPr/>
        </p:nvSpPr>
        <p:spPr>
          <a:xfrm>
            <a:off x="777240" y="2468880"/>
            <a:ext cx="2788920" cy="777240"/>
          </a:xfrm>
          <a:prstGeom prst="rect">
            <a:avLst/>
          </a:prstGeom>
          <a:noFill/>
          <a:ln/>
        </p:spPr>
        <p:txBody>
          <a:bodyPr wrap="square" lIns="0" tIns="0" rIns="0" bIns="0" rtlCol="0" anchor="t"/>
          <a:lstStyle/>
          <a:p>
            <a:pPr indent="0" marL="0">
              <a:buNone/>
            </a:pPr>
            <a:r>
              <a:rPr lang="en-US" sz="1500" i="1" dirty="0">
                <a:solidFill>
                  <a:schemeClr val="tx1"/>
                </a:solidFill>
              </a:rPr>
              <a:t>“CampusPay membuat pembayaran lebih cepat.”</a:t>
            </a:r>
            <a:endParaRPr lang="en-US" sz="1500" dirty="0"/>
          </a:p>
        </p:txBody>
      </p:sp>
      <p:sp>
        <p:nvSpPr>
          <p:cNvPr id="9" name="Effort Expectancy"/>
          <p:cNvSpPr/>
          <p:nvPr/>
        </p:nvSpPr>
        <p:spPr>
          <a:xfrm>
            <a:off x="4023360" y="1600200"/>
            <a:ext cx="3246120" cy="1783080"/>
          </a:xfrm>
          <a:prstGeom prst="roundRect">
            <a:avLst>
              <a:gd name="adj" fmla="val 6154"/>
            </a:avLst>
          </a:prstGeom>
          <a:solidFill>
            <a:schemeClr val="bg1"/>
          </a:solidFill>
          <a:ln/>
          <a:effectLst>
            <a:outerShdw sx="100000" sy="100000" kx="0" ky="0" algn="bl" rotWithShape="0" blurRad="101600" dist="25400" dir="5400000">
              <a:srgbClr val="1C1A33">
                <a:alpha val="14000"/>
              </a:srgbClr>
            </a:outerShdw>
          </a:effectLst>
        </p:spPr>
      </p:sp>
      <p:sp>
        <p:nvSpPr>
          <p:cNvPr id="10" name="Effort Expectancy lingkaran"/>
          <p:cNvSpPr/>
          <p:nvPr/>
        </p:nvSpPr>
        <p:spPr>
          <a:xfrm>
            <a:off x="4251960" y="1828800"/>
            <a:ext cx="502920" cy="502920"/>
          </a:xfrm>
          <a:prstGeom prst="ellipse">
            <a:avLst/>
          </a:prstGeom>
          <a:solidFill>
            <a:schemeClr val="accent1"/>
          </a:solidFill>
          <a:ln/>
        </p:spPr>
      </p:sp>
      <p:pic>
        <p:nvPicPr>
          <p:cNvPr id="11" name="Effort Expectancy ikon" descr="preencoded.png">    </p:cNvPr>
          <p:cNvPicPr>
            <a:picLocks noChangeAspect="1"/>
          </p:cNvPicPr>
          <p:nvPr/>
        </p:nvPicPr>
        <p:blipFill>
          <a:blip r:embed="rId2"/>
          <a:stretch>
            <a:fillRect/>
          </a:stretch>
        </p:blipFill>
        <p:spPr>
          <a:xfrm>
            <a:off x="4372661" y="1949501"/>
            <a:ext cx="261518" cy="261518"/>
          </a:xfrm>
          <a:prstGeom prst="rect">
            <a:avLst/>
          </a:prstGeom>
        </p:spPr>
      </p:pic>
      <p:sp>
        <p:nvSpPr>
          <p:cNvPr id="12" name="Text 8"/>
          <p:cNvSpPr txBox="1"/>
          <p:nvPr/>
        </p:nvSpPr>
        <p:spPr>
          <a:xfrm>
            <a:off x="4892040" y="1828800"/>
            <a:ext cx="2240280" cy="502920"/>
          </a:xfrm>
          <a:prstGeom prst="rect">
            <a:avLst/>
          </a:prstGeom>
          <a:noFill/>
          <a:ln/>
        </p:spPr>
        <p:txBody>
          <a:bodyPr wrap="square" lIns="0" tIns="0" rIns="0" bIns="0" rtlCol="0" anchor="ctr"/>
          <a:lstStyle/>
          <a:p>
            <a:pPr indent="0" marL="0">
              <a:buNone/>
            </a:pPr>
            <a:r>
              <a:rPr lang="en-US" sz="1300" b="1" dirty="0">
                <a:solidFill>
                  <a:schemeClr val="accent1"/>
                </a:solidFill>
              </a:rPr>
              <a:t>Effort Expectancy</a:t>
            </a:r>
            <a:endParaRPr lang="en-US" sz="1300" dirty="0"/>
          </a:p>
        </p:txBody>
      </p:sp>
      <p:sp>
        <p:nvSpPr>
          <p:cNvPr id="13" name="Text 9"/>
          <p:cNvSpPr txBox="1"/>
          <p:nvPr/>
        </p:nvSpPr>
        <p:spPr>
          <a:xfrm>
            <a:off x="4251960" y="2468880"/>
            <a:ext cx="2788920" cy="777240"/>
          </a:xfrm>
          <a:prstGeom prst="rect">
            <a:avLst/>
          </a:prstGeom>
          <a:noFill/>
          <a:ln/>
        </p:spPr>
        <p:txBody>
          <a:bodyPr wrap="square" lIns="0" tIns="0" rIns="0" bIns="0" rtlCol="0" anchor="t"/>
          <a:lstStyle/>
          <a:p>
            <a:pPr indent="0" marL="0">
              <a:buNone/>
            </a:pPr>
            <a:r>
              <a:rPr lang="en-US" sz="1500" i="1" dirty="0">
                <a:solidFill>
                  <a:schemeClr val="tx1"/>
                </a:solidFill>
              </a:rPr>
              <a:t>“Aplikasinya gampang dipakai.”</a:t>
            </a:r>
            <a:endParaRPr lang="en-US" sz="1500" dirty="0"/>
          </a:p>
        </p:txBody>
      </p:sp>
      <p:sp>
        <p:nvSpPr>
          <p:cNvPr id="14" name="Social Influence"/>
          <p:cNvSpPr/>
          <p:nvPr/>
        </p:nvSpPr>
        <p:spPr>
          <a:xfrm>
            <a:off x="548640" y="3611880"/>
            <a:ext cx="3246120" cy="1783080"/>
          </a:xfrm>
          <a:prstGeom prst="roundRect">
            <a:avLst>
              <a:gd name="adj" fmla="val 6154"/>
            </a:avLst>
          </a:prstGeom>
          <a:solidFill>
            <a:schemeClr val="bg1"/>
          </a:solidFill>
          <a:ln/>
          <a:effectLst>
            <a:outerShdw sx="100000" sy="100000" kx="0" ky="0" algn="bl" rotWithShape="0" blurRad="101600" dist="25400" dir="5400000">
              <a:srgbClr val="1C1A33">
                <a:alpha val="14000"/>
              </a:srgbClr>
            </a:outerShdw>
          </a:effectLst>
        </p:spPr>
      </p:sp>
      <p:sp>
        <p:nvSpPr>
          <p:cNvPr id="15" name="Social Influence lingkaran"/>
          <p:cNvSpPr/>
          <p:nvPr/>
        </p:nvSpPr>
        <p:spPr>
          <a:xfrm>
            <a:off x="777240" y="3840480"/>
            <a:ext cx="502920" cy="502920"/>
          </a:xfrm>
          <a:prstGeom prst="ellipse">
            <a:avLst/>
          </a:prstGeom>
          <a:solidFill>
            <a:schemeClr val="accent1"/>
          </a:solidFill>
          <a:ln/>
        </p:spPr>
      </p:sp>
      <p:pic>
        <p:nvPicPr>
          <p:cNvPr id="16" name="Social Influence ikon" descr="preencoded.png">    </p:cNvPr>
          <p:cNvPicPr>
            <a:picLocks noChangeAspect="1"/>
          </p:cNvPicPr>
          <p:nvPr/>
        </p:nvPicPr>
        <p:blipFill>
          <a:blip r:embed="rId3"/>
          <a:stretch>
            <a:fillRect/>
          </a:stretch>
        </p:blipFill>
        <p:spPr>
          <a:xfrm>
            <a:off x="897941" y="3961181"/>
            <a:ext cx="261518" cy="261518"/>
          </a:xfrm>
          <a:prstGeom prst="rect">
            <a:avLst/>
          </a:prstGeom>
        </p:spPr>
      </p:pic>
      <p:sp>
        <p:nvSpPr>
          <p:cNvPr id="17" name="Text 12"/>
          <p:cNvSpPr txBox="1"/>
          <p:nvPr/>
        </p:nvSpPr>
        <p:spPr>
          <a:xfrm>
            <a:off x="1417320" y="3840480"/>
            <a:ext cx="2240280" cy="502920"/>
          </a:xfrm>
          <a:prstGeom prst="rect">
            <a:avLst/>
          </a:prstGeom>
          <a:noFill/>
          <a:ln/>
        </p:spPr>
        <p:txBody>
          <a:bodyPr wrap="square" lIns="0" tIns="0" rIns="0" bIns="0" rtlCol="0" anchor="ctr"/>
          <a:lstStyle/>
          <a:p>
            <a:pPr indent="0" marL="0">
              <a:buNone/>
            </a:pPr>
            <a:r>
              <a:rPr lang="en-US" sz="1300" b="1" dirty="0">
                <a:solidFill>
                  <a:schemeClr val="accent1"/>
                </a:solidFill>
              </a:rPr>
              <a:t>Social Influence</a:t>
            </a:r>
            <a:endParaRPr lang="en-US" sz="1300" dirty="0"/>
          </a:p>
        </p:txBody>
      </p:sp>
      <p:sp>
        <p:nvSpPr>
          <p:cNvPr id="18" name="Text 13"/>
          <p:cNvSpPr txBox="1"/>
          <p:nvPr/>
        </p:nvSpPr>
        <p:spPr>
          <a:xfrm>
            <a:off x="777240" y="4480560"/>
            <a:ext cx="2788920" cy="777240"/>
          </a:xfrm>
          <a:prstGeom prst="rect">
            <a:avLst/>
          </a:prstGeom>
          <a:noFill/>
          <a:ln/>
        </p:spPr>
        <p:txBody>
          <a:bodyPr wrap="square" lIns="0" tIns="0" rIns="0" bIns="0" rtlCol="0" anchor="t"/>
          <a:lstStyle/>
          <a:p>
            <a:pPr indent="0" marL="0">
              <a:buNone/>
            </a:pPr>
            <a:r>
              <a:rPr lang="en-US" sz="1500" i="1" dirty="0">
                <a:solidFill>
                  <a:schemeClr val="tx1"/>
                </a:solidFill>
              </a:rPr>
              <a:t>“Teman-teman saya juga pakai CampusPay.”</a:t>
            </a:r>
            <a:endParaRPr lang="en-US" sz="1500" dirty="0"/>
          </a:p>
        </p:txBody>
      </p:sp>
      <p:sp>
        <p:nvSpPr>
          <p:cNvPr id="19" name="Facilitating Conditions"/>
          <p:cNvSpPr/>
          <p:nvPr/>
        </p:nvSpPr>
        <p:spPr>
          <a:xfrm>
            <a:off x="4023360" y="3611880"/>
            <a:ext cx="3246120" cy="1783080"/>
          </a:xfrm>
          <a:prstGeom prst="roundRect">
            <a:avLst>
              <a:gd name="adj" fmla="val 6154"/>
            </a:avLst>
          </a:prstGeom>
          <a:solidFill>
            <a:schemeClr val="bg1"/>
          </a:solidFill>
          <a:ln/>
          <a:effectLst>
            <a:outerShdw sx="100000" sy="100000" kx="0" ky="0" algn="bl" rotWithShape="0" blurRad="101600" dist="25400" dir="5400000">
              <a:srgbClr val="1C1A33">
                <a:alpha val="14000"/>
              </a:srgbClr>
            </a:outerShdw>
          </a:effectLst>
        </p:spPr>
      </p:sp>
      <p:sp>
        <p:nvSpPr>
          <p:cNvPr id="20" name="Facilitating Conditions lingkaran"/>
          <p:cNvSpPr/>
          <p:nvPr/>
        </p:nvSpPr>
        <p:spPr>
          <a:xfrm>
            <a:off x="4251960" y="3840480"/>
            <a:ext cx="502920" cy="502920"/>
          </a:xfrm>
          <a:prstGeom prst="ellipse">
            <a:avLst/>
          </a:prstGeom>
          <a:solidFill>
            <a:schemeClr val="accent1"/>
          </a:solidFill>
          <a:ln/>
        </p:spPr>
      </p:sp>
      <p:pic>
        <p:nvPicPr>
          <p:cNvPr id="21" name="Facilitating Conditions ikon" descr="preencoded.png">    </p:cNvPr>
          <p:cNvPicPr>
            <a:picLocks noChangeAspect="1"/>
          </p:cNvPicPr>
          <p:nvPr/>
        </p:nvPicPr>
        <p:blipFill>
          <a:blip r:embed="rId4"/>
          <a:stretch>
            <a:fillRect/>
          </a:stretch>
        </p:blipFill>
        <p:spPr>
          <a:xfrm>
            <a:off x="4372661" y="3961181"/>
            <a:ext cx="261518" cy="261518"/>
          </a:xfrm>
          <a:prstGeom prst="rect">
            <a:avLst/>
          </a:prstGeom>
        </p:spPr>
      </p:pic>
      <p:sp>
        <p:nvSpPr>
          <p:cNvPr id="22" name="Text 16"/>
          <p:cNvSpPr txBox="1"/>
          <p:nvPr/>
        </p:nvSpPr>
        <p:spPr>
          <a:xfrm>
            <a:off x="4892040" y="3840480"/>
            <a:ext cx="2240280" cy="502920"/>
          </a:xfrm>
          <a:prstGeom prst="rect">
            <a:avLst/>
          </a:prstGeom>
          <a:noFill/>
          <a:ln/>
        </p:spPr>
        <p:txBody>
          <a:bodyPr wrap="square" lIns="0" tIns="0" rIns="0" bIns="0" rtlCol="0" anchor="ctr"/>
          <a:lstStyle/>
          <a:p>
            <a:pPr indent="0" marL="0">
              <a:buNone/>
            </a:pPr>
            <a:r>
              <a:rPr lang="en-US" sz="1300" b="1" dirty="0">
                <a:solidFill>
                  <a:schemeClr val="accent1"/>
                </a:solidFill>
              </a:rPr>
              <a:t>Facilitating Conditions</a:t>
            </a:r>
            <a:endParaRPr lang="en-US" sz="1300" dirty="0"/>
          </a:p>
        </p:txBody>
      </p:sp>
      <p:sp>
        <p:nvSpPr>
          <p:cNvPr id="23" name="Text 17"/>
          <p:cNvSpPr txBox="1"/>
          <p:nvPr/>
        </p:nvSpPr>
        <p:spPr>
          <a:xfrm>
            <a:off x="4251960" y="4480560"/>
            <a:ext cx="2788920" cy="777240"/>
          </a:xfrm>
          <a:prstGeom prst="rect">
            <a:avLst/>
          </a:prstGeom>
          <a:noFill/>
          <a:ln/>
        </p:spPr>
        <p:txBody>
          <a:bodyPr wrap="square" lIns="0" tIns="0" rIns="0" bIns="0" rtlCol="0" anchor="t"/>
          <a:lstStyle/>
          <a:p>
            <a:pPr indent="0" marL="0">
              <a:buNone/>
            </a:pPr>
            <a:r>
              <a:rPr lang="en-US" sz="1500" i="1" dirty="0">
                <a:solidFill>
                  <a:schemeClr val="tx1"/>
                </a:solidFill>
              </a:rPr>
              <a:t>“Saya punya smartphone dan internet.”</a:t>
            </a:r>
            <a:endParaRPr lang="en-US" sz="1500" dirty="0"/>
          </a:p>
        </p:txBody>
      </p:sp>
      <p:sp>
        <p:nvSpPr>
          <p:cNvPr id="24" name="Panah 1"/>
          <p:cNvSpPr/>
          <p:nvPr/>
        </p:nvSpPr>
        <p:spPr>
          <a:xfrm>
            <a:off x="7452360" y="3310128"/>
            <a:ext cx="457200" cy="411480"/>
          </a:xfrm>
          <a:prstGeom prst="rightArrow">
            <a:avLst/>
          </a:prstGeom>
          <a:solidFill>
            <a:schemeClr val="accent2"/>
          </a:solidFill>
          <a:ln/>
        </p:spPr>
      </p:sp>
      <p:sp>
        <p:nvSpPr>
          <p:cNvPr id="25" name="Kartu BI"/>
          <p:cNvSpPr/>
          <p:nvPr/>
        </p:nvSpPr>
        <p:spPr>
          <a:xfrm>
            <a:off x="8046720" y="1600200"/>
            <a:ext cx="3593592" cy="1783080"/>
          </a:xfrm>
          <a:prstGeom prst="roundRect">
            <a:avLst>
              <a:gd name="adj" fmla="val 6154"/>
            </a:avLst>
          </a:prstGeom>
          <a:solidFill>
            <a:schemeClr val="tx2"/>
          </a:solidFill>
          <a:ln/>
          <a:effectLst>
            <a:outerShdw sx="100000" sy="100000" kx="0" ky="0" algn="bl" rotWithShape="0" blurRad="101600" dist="25400" dir="5400000">
              <a:srgbClr val="1C1A33">
                <a:alpha val="14000"/>
              </a:srgbClr>
            </a:outerShdw>
          </a:effectLst>
        </p:spPr>
      </p:sp>
      <p:sp>
        <p:nvSpPr>
          <p:cNvPr id="26" name="BI lingkaran"/>
          <p:cNvSpPr/>
          <p:nvPr/>
        </p:nvSpPr>
        <p:spPr>
          <a:xfrm>
            <a:off x="8275320" y="1828800"/>
            <a:ext cx="502920" cy="502920"/>
          </a:xfrm>
          <a:prstGeom prst="ellipse">
            <a:avLst/>
          </a:prstGeom>
          <a:solidFill>
            <a:schemeClr val="accent1"/>
          </a:solidFill>
          <a:ln/>
        </p:spPr>
      </p:sp>
      <p:pic>
        <p:nvPicPr>
          <p:cNvPr id="27" name="BI ikon" descr="preencoded.png">    </p:cNvPr>
          <p:cNvPicPr>
            <a:picLocks noChangeAspect="1"/>
          </p:cNvPicPr>
          <p:nvPr/>
        </p:nvPicPr>
        <p:blipFill>
          <a:blip r:embed="rId5"/>
          <a:stretch>
            <a:fillRect/>
          </a:stretch>
        </p:blipFill>
        <p:spPr>
          <a:xfrm>
            <a:off x="8396021" y="1949501"/>
            <a:ext cx="261518" cy="261518"/>
          </a:xfrm>
          <a:prstGeom prst="rect">
            <a:avLst/>
          </a:prstGeom>
        </p:spPr>
      </p:pic>
      <p:sp>
        <p:nvSpPr>
          <p:cNvPr id="28" name="Text 21"/>
          <p:cNvSpPr txBox="1"/>
          <p:nvPr/>
        </p:nvSpPr>
        <p:spPr>
          <a:xfrm>
            <a:off x="8915400" y="1828800"/>
            <a:ext cx="2560320" cy="502920"/>
          </a:xfrm>
          <a:prstGeom prst="rect">
            <a:avLst/>
          </a:prstGeom>
          <a:noFill/>
          <a:ln/>
        </p:spPr>
        <p:txBody>
          <a:bodyPr wrap="square" lIns="0" tIns="0" rIns="0" bIns="0" rtlCol="0" anchor="ctr"/>
          <a:lstStyle/>
          <a:p>
            <a:pPr indent="0" marL="0">
              <a:buNone/>
            </a:pPr>
            <a:r>
              <a:rPr lang="en-US" sz="1400" b="1" dirty="0">
                <a:solidFill>
                  <a:schemeClr val="bg1"/>
                </a:solidFill>
              </a:rPr>
              <a:t>Behavioral Intention</a:t>
            </a:r>
            <a:endParaRPr lang="en-US" sz="1400" dirty="0"/>
          </a:p>
        </p:txBody>
      </p:sp>
      <p:sp>
        <p:nvSpPr>
          <p:cNvPr id="29" name="Text 22"/>
          <p:cNvSpPr txBox="1"/>
          <p:nvPr/>
        </p:nvSpPr>
        <p:spPr>
          <a:xfrm>
            <a:off x="8275320" y="2468880"/>
            <a:ext cx="3154680" cy="777240"/>
          </a:xfrm>
          <a:prstGeom prst="rect">
            <a:avLst/>
          </a:prstGeom>
          <a:noFill/>
          <a:ln/>
        </p:spPr>
        <p:txBody>
          <a:bodyPr wrap="square" lIns="0" tIns="0" rIns="0" bIns="0" rtlCol="0" anchor="t"/>
          <a:lstStyle/>
          <a:p>
            <a:pPr indent="0" marL="0">
              <a:buNone/>
            </a:pPr>
            <a:r>
              <a:rPr lang="en-US" sz="1500" i="1" dirty="0">
                <a:solidFill>
                  <a:schemeClr val="bg2"/>
                </a:solidFill>
              </a:rPr>
              <a:t>“Saya ingin menggunakan CampusPay.”</a:t>
            </a:r>
            <a:endParaRPr lang="en-US" sz="1500" dirty="0"/>
          </a:p>
        </p:txBody>
      </p:sp>
      <p:sp>
        <p:nvSpPr>
          <p:cNvPr id="30" name="Panah 2"/>
          <p:cNvSpPr/>
          <p:nvPr/>
        </p:nvSpPr>
        <p:spPr>
          <a:xfrm rot="5400000">
            <a:off x="9601200" y="3456432"/>
            <a:ext cx="457200" cy="320040"/>
          </a:xfrm>
          <a:prstGeom prst="rightArrow">
            <a:avLst/>
          </a:prstGeom>
          <a:solidFill>
            <a:schemeClr val="accent2"/>
          </a:solidFill>
          <a:ln/>
        </p:spPr>
      </p:sp>
      <p:sp>
        <p:nvSpPr>
          <p:cNvPr id="31" name="Kartu UB"/>
          <p:cNvSpPr/>
          <p:nvPr/>
        </p:nvSpPr>
        <p:spPr>
          <a:xfrm>
            <a:off x="8046720" y="3840480"/>
            <a:ext cx="3593592" cy="1783080"/>
          </a:xfrm>
          <a:prstGeom prst="roundRect">
            <a:avLst>
              <a:gd name="adj" fmla="val 6154"/>
            </a:avLst>
          </a:prstGeom>
          <a:solidFill>
            <a:schemeClr val="tx1"/>
          </a:solidFill>
          <a:ln/>
          <a:effectLst>
            <a:outerShdw sx="100000" sy="100000" kx="0" ky="0" algn="bl" rotWithShape="0" blurRad="101600" dist="25400" dir="5400000">
              <a:srgbClr val="1C1A33">
                <a:alpha val="14000"/>
              </a:srgbClr>
            </a:outerShdw>
          </a:effectLst>
        </p:spPr>
      </p:sp>
      <p:sp>
        <p:nvSpPr>
          <p:cNvPr id="32" name="UB lingkaran"/>
          <p:cNvSpPr/>
          <p:nvPr/>
        </p:nvSpPr>
        <p:spPr>
          <a:xfrm>
            <a:off x="8275320" y="4069080"/>
            <a:ext cx="502920" cy="502920"/>
          </a:xfrm>
          <a:prstGeom prst="ellipse">
            <a:avLst/>
          </a:prstGeom>
          <a:solidFill>
            <a:schemeClr val="accent1"/>
          </a:solidFill>
          <a:ln/>
        </p:spPr>
      </p:sp>
      <p:pic>
        <p:nvPicPr>
          <p:cNvPr id="33" name="UB ikon" descr="preencoded.png">    </p:cNvPr>
          <p:cNvPicPr>
            <a:picLocks noChangeAspect="1"/>
          </p:cNvPicPr>
          <p:nvPr/>
        </p:nvPicPr>
        <p:blipFill>
          <a:blip r:embed="rId6"/>
          <a:stretch>
            <a:fillRect/>
          </a:stretch>
        </p:blipFill>
        <p:spPr>
          <a:xfrm>
            <a:off x="8396021" y="4189781"/>
            <a:ext cx="261518" cy="261518"/>
          </a:xfrm>
          <a:prstGeom prst="rect">
            <a:avLst/>
          </a:prstGeom>
        </p:spPr>
      </p:pic>
      <p:sp>
        <p:nvSpPr>
          <p:cNvPr id="34" name="Text 26"/>
          <p:cNvSpPr txBox="1"/>
          <p:nvPr/>
        </p:nvSpPr>
        <p:spPr>
          <a:xfrm>
            <a:off x="8915400" y="4069080"/>
            <a:ext cx="2560320" cy="502920"/>
          </a:xfrm>
          <a:prstGeom prst="rect">
            <a:avLst/>
          </a:prstGeom>
          <a:noFill/>
          <a:ln/>
        </p:spPr>
        <p:txBody>
          <a:bodyPr wrap="square" lIns="0" tIns="0" rIns="0" bIns="0" rtlCol="0" anchor="ctr"/>
          <a:lstStyle/>
          <a:p>
            <a:pPr indent="0" marL="0">
              <a:buNone/>
            </a:pPr>
            <a:r>
              <a:rPr lang="en-US" sz="1400" b="1" dirty="0">
                <a:solidFill>
                  <a:schemeClr val="bg1"/>
                </a:solidFill>
              </a:rPr>
              <a:t>Use Behavior</a:t>
            </a:r>
            <a:endParaRPr lang="en-US" sz="1400" dirty="0"/>
          </a:p>
        </p:txBody>
      </p:sp>
      <p:sp>
        <p:nvSpPr>
          <p:cNvPr id="35" name="Text 27"/>
          <p:cNvSpPr txBox="1"/>
          <p:nvPr/>
        </p:nvSpPr>
        <p:spPr>
          <a:xfrm>
            <a:off x="8275320" y="4709160"/>
            <a:ext cx="3154680" cy="777240"/>
          </a:xfrm>
          <a:prstGeom prst="rect">
            <a:avLst/>
          </a:prstGeom>
          <a:noFill/>
          <a:ln/>
        </p:spPr>
        <p:txBody>
          <a:bodyPr wrap="square" lIns="0" tIns="0" rIns="0" bIns="0" rtlCol="0" anchor="t"/>
          <a:lstStyle/>
          <a:p>
            <a:pPr indent="0" marL="0">
              <a:buNone/>
            </a:pPr>
            <a:r>
              <a:rPr lang="en-US" sz="1500" dirty="0">
                <a:solidFill>
                  <a:schemeClr val="bg2"/>
                </a:solidFill>
              </a:rPr>
              <a:t>Mahasiswa benar-benar bertransaksi dengan CampusPay setiap hari.</a:t>
            </a:r>
            <a:endParaRPr lang="en-US" sz="1500" dirty="0"/>
          </a:p>
        </p:txBody>
      </p:sp>
      <p:sp>
        <p:nvSpPr>
          <p:cNvPr id="36" name="Text 28"/>
          <p:cNvSpPr txBox="1"/>
          <p:nvPr/>
        </p:nvSpPr>
        <p:spPr>
          <a:xfrm>
            <a:off x="548640" y="5897880"/>
            <a:ext cx="6766560" cy="274320"/>
          </a:xfrm>
          <a:prstGeom prst="rect">
            <a:avLst/>
          </a:prstGeom>
          <a:noFill/>
          <a:ln/>
        </p:spPr>
        <p:txBody>
          <a:bodyPr wrap="square" lIns="0" tIns="0" rIns="0" bIns="0" rtlCol="0" anchor="t"/>
          <a:lstStyle/>
          <a:p>
            <a:pPr indent="0" marL="0">
              <a:buNone/>
            </a:pPr>
            <a:r>
              <a:rPr lang="en-US" sz="1100" i="1" dirty="0">
                <a:solidFill>
                  <a:schemeClr val="accent6"/>
                </a:solidFill>
              </a:rPr>
              <a:t>Ilustrasi hipotetis untuk memahami alur model.</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KETERBATASAN UTAUT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Dari ruang kerja ke kehidupan konsumen</a:t>
            </a:r>
            <a:endParaRPr lang="en-US" sz="3400" dirty="0"/>
          </a:p>
        </p:txBody>
      </p:sp>
      <p:sp>
        <p:nvSpPr>
          <p:cNvPr id="4" name="Konteks organisasi (UTAUT)"/>
          <p:cNvSpPr/>
          <p:nvPr/>
        </p:nvSpPr>
        <p:spPr>
          <a:xfrm>
            <a:off x="548640" y="1554480"/>
            <a:ext cx="5120640" cy="3063240"/>
          </a:xfrm>
          <a:prstGeom prst="roundRect">
            <a:avLst>
              <a:gd name="adj" fmla="val 3582"/>
            </a:avLst>
          </a:prstGeom>
          <a:solidFill>
            <a:schemeClr val="bg2"/>
          </a:solidFill>
          <a:ln/>
        </p:spPr>
      </p:sp>
      <p:sp>
        <p:nvSpPr>
          <p:cNvPr id="5" name="Konteks organisasi (UTAUT) lingkaran"/>
          <p:cNvSpPr/>
          <p:nvPr/>
        </p:nvSpPr>
        <p:spPr>
          <a:xfrm>
            <a:off x="868680" y="1783080"/>
            <a:ext cx="685800" cy="685800"/>
          </a:xfrm>
          <a:prstGeom prst="ellipse">
            <a:avLst/>
          </a:prstGeom>
          <a:solidFill>
            <a:schemeClr val="accent1"/>
          </a:solidFill>
          <a:ln/>
        </p:spPr>
      </p:sp>
      <p:pic>
        <p:nvPicPr>
          <p:cNvPr id="6" name="Konteks organisasi (UTAUT) ikon" descr="preencoded.png">    </p:cNvPr>
          <p:cNvPicPr>
            <a:picLocks noChangeAspect="1"/>
          </p:cNvPicPr>
          <p:nvPr/>
        </p:nvPicPr>
        <p:blipFill>
          <a:blip r:embed="rId1"/>
          <a:stretch>
            <a:fillRect/>
          </a:stretch>
        </p:blipFill>
        <p:spPr>
          <a:xfrm>
            <a:off x="1033272" y="1947672"/>
            <a:ext cx="356616" cy="356616"/>
          </a:xfrm>
          <a:prstGeom prst="rect">
            <a:avLst/>
          </a:prstGeom>
        </p:spPr>
      </p:pic>
      <p:sp>
        <p:nvSpPr>
          <p:cNvPr id="7" name="Text 4"/>
          <p:cNvSpPr txBox="1"/>
          <p:nvPr/>
        </p:nvSpPr>
        <p:spPr>
          <a:xfrm>
            <a:off x="1737360" y="1783080"/>
            <a:ext cx="37490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Konteks organisasi (UTAUT)</a:t>
            </a:r>
            <a:endParaRPr lang="en-US" sz="2000" dirty="0"/>
          </a:p>
        </p:txBody>
      </p:sp>
      <p:sp>
        <p:nvSpPr>
          <p:cNvPr id="8" name="Text 5"/>
          <p:cNvSpPr txBox="1"/>
          <p:nvPr/>
        </p:nvSpPr>
        <p:spPr>
          <a:xfrm>
            <a:off x="914400" y="2697480"/>
            <a:ext cx="45262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Contoh: ERP, HRMS, sistem akademik</a:t>
            </a:r>
            <a:endParaRPr lang="en-US" sz="1500" dirty="0"/>
          </a:p>
          <a:p>
            <a:pPr marL="342900" indent="-342900">
              <a:spcAft>
                <a:spcPts val="600"/>
              </a:spcAft>
              <a:buSzPct val="100000"/>
              <a:buChar char="•"/>
            </a:pPr>
            <a:r>
              <a:rPr lang="en-US" sz="1500" dirty="0">
                <a:solidFill>
                  <a:schemeClr val="tx1"/>
                </a:solidFill>
              </a:rPr>
              <a:t>Motif utama: produktivitas kerja</a:t>
            </a:r>
            <a:endParaRPr lang="en-US" sz="1500" dirty="0"/>
          </a:p>
          <a:p>
            <a:pPr marL="342900" indent="-342900">
              <a:spcAft>
                <a:spcPts val="600"/>
              </a:spcAft>
              <a:buSzPct val="100000"/>
              <a:buChar char="•"/>
            </a:pPr>
            <a:r>
              <a:rPr lang="en-US" sz="1500" dirty="0">
                <a:solidFill>
                  <a:schemeClr val="tx1"/>
                </a:solidFill>
              </a:rPr>
              <a:t>Penggunaan sering diwajibkan</a:t>
            </a:r>
            <a:endParaRPr lang="en-US" sz="1500" dirty="0"/>
          </a:p>
          <a:p>
            <a:pPr marL="342900" indent="-342900">
              <a:spcAft>
                <a:spcPts val="600"/>
              </a:spcAft>
              <a:buSzPct val="100000"/>
              <a:buChar char="•"/>
            </a:pPr>
            <a:r>
              <a:rPr lang="en-US" sz="1500" dirty="0">
                <a:solidFill>
                  <a:schemeClr val="tx1"/>
                </a:solidFill>
              </a:rPr>
              <a:t>Biaya ditanggung organisasi</a:t>
            </a:r>
            <a:endParaRPr lang="en-US" sz="1500" dirty="0"/>
          </a:p>
        </p:txBody>
      </p:sp>
      <p:sp>
        <p:nvSpPr>
          <p:cNvPr id="9" name="Konteks konsumen"/>
          <p:cNvSpPr/>
          <p:nvPr/>
        </p:nvSpPr>
        <p:spPr>
          <a:xfrm>
            <a:off x="6519672" y="1554480"/>
            <a:ext cx="5120640" cy="3063240"/>
          </a:xfrm>
          <a:prstGeom prst="roundRect">
            <a:avLst>
              <a:gd name="adj" fmla="val 3582"/>
            </a:avLst>
          </a:prstGeom>
          <a:solidFill>
            <a:schemeClr val="bg2"/>
          </a:solidFill>
          <a:ln/>
        </p:spPr>
      </p:sp>
      <p:sp>
        <p:nvSpPr>
          <p:cNvPr id="10" name="Konteks konsumen lingkaran"/>
          <p:cNvSpPr/>
          <p:nvPr/>
        </p:nvSpPr>
        <p:spPr>
          <a:xfrm>
            <a:off x="6839712" y="1783080"/>
            <a:ext cx="685800" cy="685800"/>
          </a:xfrm>
          <a:prstGeom prst="ellipse">
            <a:avLst/>
          </a:prstGeom>
          <a:solidFill>
            <a:schemeClr val="accent2"/>
          </a:solidFill>
          <a:ln/>
        </p:spPr>
      </p:sp>
      <p:pic>
        <p:nvPicPr>
          <p:cNvPr id="11" name="Konteks konsumen ikon" descr="preencoded.png">    </p:cNvPr>
          <p:cNvPicPr>
            <a:picLocks noChangeAspect="1"/>
          </p:cNvPicPr>
          <p:nvPr/>
        </p:nvPicPr>
        <p:blipFill>
          <a:blip r:embed="rId2"/>
          <a:stretch>
            <a:fillRect/>
          </a:stretch>
        </p:blipFill>
        <p:spPr>
          <a:xfrm>
            <a:off x="7004304" y="1947672"/>
            <a:ext cx="356616" cy="356616"/>
          </a:xfrm>
          <a:prstGeom prst="rect">
            <a:avLst/>
          </a:prstGeom>
        </p:spPr>
      </p:pic>
      <p:sp>
        <p:nvSpPr>
          <p:cNvPr id="12" name="Text 8"/>
          <p:cNvSpPr txBox="1"/>
          <p:nvPr/>
        </p:nvSpPr>
        <p:spPr>
          <a:xfrm>
            <a:off x="7708392" y="1783080"/>
            <a:ext cx="37490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Konteks konsumen</a:t>
            </a:r>
            <a:endParaRPr lang="en-US" sz="2000" dirty="0"/>
          </a:p>
        </p:txBody>
      </p:sp>
      <p:sp>
        <p:nvSpPr>
          <p:cNvPr id="13" name="Text 9"/>
          <p:cNvSpPr txBox="1"/>
          <p:nvPr/>
        </p:nvSpPr>
        <p:spPr>
          <a:xfrm>
            <a:off x="6885432" y="2697480"/>
            <a:ext cx="45262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Contoh: e-commerce, e-wallet, streaming, game</a:t>
            </a:r>
            <a:endParaRPr lang="en-US" sz="1500" dirty="0"/>
          </a:p>
          <a:p>
            <a:pPr marL="342900" indent="-342900">
              <a:spcAft>
                <a:spcPts val="600"/>
              </a:spcAft>
              <a:buSzPct val="100000"/>
              <a:buChar char="•"/>
            </a:pPr>
            <a:r>
              <a:rPr lang="en-US" sz="1500" dirty="0">
                <a:solidFill>
                  <a:schemeClr val="tx1"/>
                </a:solidFill>
              </a:rPr>
              <a:t>Motif: juga kesenangan dan hiburan</a:t>
            </a:r>
            <a:endParaRPr lang="en-US" sz="1500" dirty="0"/>
          </a:p>
          <a:p>
            <a:pPr marL="342900" indent="-342900">
              <a:spcAft>
                <a:spcPts val="600"/>
              </a:spcAft>
              <a:buSzPct val="100000"/>
              <a:buChar char="•"/>
            </a:pPr>
            <a:r>
              <a:rPr lang="en-US" sz="1500" dirty="0">
                <a:solidFill>
                  <a:schemeClr val="tx1"/>
                </a:solidFill>
              </a:rPr>
              <a:t>Penggunaan sukarela</a:t>
            </a:r>
            <a:endParaRPr lang="en-US" sz="1500" dirty="0"/>
          </a:p>
          <a:p>
            <a:pPr marL="342900" indent="-342900">
              <a:spcAft>
                <a:spcPts val="600"/>
              </a:spcAft>
              <a:buSzPct val="100000"/>
              <a:buChar char="•"/>
            </a:pPr>
            <a:r>
              <a:rPr lang="en-US" sz="1500" dirty="0">
                <a:solidFill>
                  <a:schemeClr val="tx1"/>
                </a:solidFill>
              </a:rPr>
              <a:t>Konsumen membayar sendiri dan memakai berulang</a:t>
            </a:r>
            <a:endParaRPr lang="en-US" sz="1500" dirty="0"/>
          </a:p>
        </p:txBody>
      </p:sp>
      <p:sp>
        <p:nvSpPr>
          <p:cNvPr id="14" name="Panah konteks"/>
          <p:cNvSpPr/>
          <p:nvPr/>
        </p:nvSpPr>
        <p:spPr>
          <a:xfrm>
            <a:off x="5788152" y="2834640"/>
            <a:ext cx="621792" cy="548640"/>
          </a:xfrm>
          <a:prstGeom prst="rightArrow">
            <a:avLst/>
          </a:prstGeom>
          <a:solidFill>
            <a:schemeClr val="accent2"/>
          </a:solidFill>
          <a:ln/>
        </p:spPr>
      </p:sp>
      <p:sp>
        <p:nvSpPr>
          <p:cNvPr id="15" name="Text 11"/>
          <p:cNvSpPr txBox="1"/>
          <p:nvPr/>
        </p:nvSpPr>
        <p:spPr>
          <a:xfrm>
            <a:off x="548640" y="4892040"/>
            <a:ext cx="5486400" cy="365760"/>
          </a:xfrm>
          <a:prstGeom prst="rect">
            <a:avLst/>
          </a:prstGeom>
          <a:noFill/>
          <a:ln/>
        </p:spPr>
        <p:txBody>
          <a:bodyPr wrap="square" lIns="0" tIns="0" rIns="0" bIns="0" rtlCol="0" anchor="t"/>
          <a:lstStyle/>
          <a:p>
            <a:pPr indent="0" marL="0">
              <a:buNone/>
            </a:pPr>
            <a:r>
              <a:rPr lang="en-US" sz="1600" b="1" dirty="0">
                <a:solidFill>
                  <a:schemeClr val="tx1"/>
                </a:solidFill>
              </a:rPr>
              <a:t>Faktor yang belum ditangkap UTAUT:</a:t>
            </a:r>
            <a:endParaRPr lang="en-US" sz="1600" dirty="0"/>
          </a:p>
        </p:txBody>
      </p:sp>
      <p:sp>
        <p:nvSpPr>
          <p:cNvPr id="16" name="Kesenangan lingkaran"/>
          <p:cNvSpPr/>
          <p:nvPr/>
        </p:nvSpPr>
        <p:spPr>
          <a:xfrm>
            <a:off x="548640" y="5394960"/>
            <a:ext cx="640080" cy="640080"/>
          </a:xfrm>
          <a:prstGeom prst="ellipse">
            <a:avLst/>
          </a:prstGeom>
          <a:solidFill>
            <a:schemeClr val="accent2"/>
          </a:solidFill>
          <a:ln/>
        </p:spPr>
      </p:sp>
      <p:pic>
        <p:nvPicPr>
          <p:cNvPr id="17" name="Kesenangan ikon" descr="preencoded.png">    </p:cNvPr>
          <p:cNvPicPr>
            <a:picLocks noChangeAspect="1"/>
          </p:cNvPicPr>
          <p:nvPr/>
        </p:nvPicPr>
        <p:blipFill>
          <a:blip r:embed="rId3"/>
          <a:stretch>
            <a:fillRect/>
          </a:stretch>
        </p:blipFill>
        <p:spPr>
          <a:xfrm>
            <a:off x="702259" y="5548579"/>
            <a:ext cx="332842" cy="332842"/>
          </a:xfrm>
          <a:prstGeom prst="rect">
            <a:avLst/>
          </a:prstGeom>
        </p:spPr>
      </p:pic>
      <p:sp>
        <p:nvSpPr>
          <p:cNvPr id="18" name="Text 13"/>
          <p:cNvSpPr txBox="1"/>
          <p:nvPr/>
        </p:nvSpPr>
        <p:spPr>
          <a:xfrm>
            <a:off x="1325880" y="5394960"/>
            <a:ext cx="2743200" cy="640080"/>
          </a:xfrm>
          <a:prstGeom prst="rect">
            <a:avLst/>
          </a:prstGeom>
          <a:noFill/>
          <a:ln/>
        </p:spPr>
        <p:txBody>
          <a:bodyPr wrap="square" lIns="0" tIns="0" rIns="0" bIns="0" rtlCol="0" anchor="ctr"/>
          <a:lstStyle/>
          <a:p>
            <a:pPr indent="0" marL="0">
              <a:buNone/>
            </a:pPr>
            <a:r>
              <a:rPr lang="en-US" sz="2000" b="1" dirty="0">
                <a:solidFill>
                  <a:schemeClr val="accent2"/>
                </a:solidFill>
              </a:rPr>
              <a:t>Kesenangan</a:t>
            </a:r>
            <a:endParaRPr lang="en-US" sz="2000" dirty="0"/>
          </a:p>
        </p:txBody>
      </p:sp>
      <p:sp>
        <p:nvSpPr>
          <p:cNvPr id="19" name="Harga lingkaran"/>
          <p:cNvSpPr/>
          <p:nvPr/>
        </p:nvSpPr>
        <p:spPr>
          <a:xfrm>
            <a:off x="4297680" y="5394960"/>
            <a:ext cx="640080" cy="640080"/>
          </a:xfrm>
          <a:prstGeom prst="ellipse">
            <a:avLst/>
          </a:prstGeom>
          <a:solidFill>
            <a:schemeClr val="accent2"/>
          </a:solidFill>
          <a:ln/>
        </p:spPr>
      </p:sp>
      <p:pic>
        <p:nvPicPr>
          <p:cNvPr id="20" name="Harga ikon" descr="preencoded.png">    </p:cNvPr>
          <p:cNvPicPr>
            <a:picLocks noChangeAspect="1"/>
          </p:cNvPicPr>
          <p:nvPr/>
        </p:nvPicPr>
        <p:blipFill>
          <a:blip r:embed="rId4"/>
          <a:stretch>
            <a:fillRect/>
          </a:stretch>
        </p:blipFill>
        <p:spPr>
          <a:xfrm>
            <a:off x="4451299" y="5548579"/>
            <a:ext cx="332842" cy="332842"/>
          </a:xfrm>
          <a:prstGeom prst="rect">
            <a:avLst/>
          </a:prstGeom>
        </p:spPr>
      </p:pic>
      <p:sp>
        <p:nvSpPr>
          <p:cNvPr id="21" name="Text 15"/>
          <p:cNvSpPr txBox="1"/>
          <p:nvPr/>
        </p:nvSpPr>
        <p:spPr>
          <a:xfrm>
            <a:off x="5074920" y="5394960"/>
            <a:ext cx="2743200" cy="640080"/>
          </a:xfrm>
          <a:prstGeom prst="rect">
            <a:avLst/>
          </a:prstGeom>
          <a:noFill/>
          <a:ln/>
        </p:spPr>
        <p:txBody>
          <a:bodyPr wrap="square" lIns="0" tIns="0" rIns="0" bIns="0" rtlCol="0" anchor="ctr"/>
          <a:lstStyle/>
          <a:p>
            <a:pPr indent="0" marL="0">
              <a:buNone/>
            </a:pPr>
            <a:r>
              <a:rPr lang="en-US" sz="2000" b="1" dirty="0">
                <a:solidFill>
                  <a:schemeClr val="accent2"/>
                </a:solidFill>
              </a:rPr>
              <a:t>Harga</a:t>
            </a:r>
            <a:endParaRPr lang="en-US" sz="2000" dirty="0"/>
          </a:p>
        </p:txBody>
      </p:sp>
      <p:sp>
        <p:nvSpPr>
          <p:cNvPr id="22" name="Kebiasaan lingkaran"/>
          <p:cNvSpPr/>
          <p:nvPr/>
        </p:nvSpPr>
        <p:spPr>
          <a:xfrm>
            <a:off x="8046720" y="5394960"/>
            <a:ext cx="640080" cy="640080"/>
          </a:xfrm>
          <a:prstGeom prst="ellipse">
            <a:avLst/>
          </a:prstGeom>
          <a:solidFill>
            <a:schemeClr val="accent2"/>
          </a:solidFill>
          <a:ln/>
        </p:spPr>
      </p:sp>
      <p:pic>
        <p:nvPicPr>
          <p:cNvPr id="23" name="Kebiasaan ikon" descr="preencoded.png">    </p:cNvPr>
          <p:cNvPicPr>
            <a:picLocks noChangeAspect="1"/>
          </p:cNvPicPr>
          <p:nvPr/>
        </p:nvPicPr>
        <p:blipFill>
          <a:blip r:embed="rId5"/>
          <a:stretch>
            <a:fillRect/>
          </a:stretch>
        </p:blipFill>
        <p:spPr>
          <a:xfrm>
            <a:off x="8200339" y="5548579"/>
            <a:ext cx="332842" cy="332842"/>
          </a:xfrm>
          <a:prstGeom prst="rect">
            <a:avLst/>
          </a:prstGeom>
        </p:spPr>
      </p:pic>
      <p:sp>
        <p:nvSpPr>
          <p:cNvPr id="24" name="Text 17"/>
          <p:cNvSpPr txBox="1"/>
          <p:nvPr/>
        </p:nvSpPr>
        <p:spPr>
          <a:xfrm>
            <a:off x="8823960" y="5394960"/>
            <a:ext cx="2743200" cy="640080"/>
          </a:xfrm>
          <a:prstGeom prst="rect">
            <a:avLst/>
          </a:prstGeom>
          <a:noFill/>
          <a:ln/>
        </p:spPr>
        <p:txBody>
          <a:bodyPr wrap="square" lIns="0" tIns="0" rIns="0" bIns="0" rtlCol="0" anchor="ctr"/>
          <a:lstStyle/>
          <a:p>
            <a:pPr indent="0" marL="0">
              <a:buNone/>
            </a:pPr>
            <a:r>
              <a:rPr lang="en-US" sz="2000" b="1" dirty="0">
                <a:solidFill>
                  <a:schemeClr val="accent2"/>
                </a:solidFill>
              </a:rPr>
              <a:t>Kebiasaan</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280160"/>
          </a:xfrm>
          <a:prstGeom prst="rect">
            <a:avLst/>
          </a:prstGeom>
          <a:noFill/>
          <a:ln/>
        </p:spPr>
        <p:txBody>
          <a:bodyPr wrap="square" lIns="0" tIns="0" rIns="0" bIns="0" rtlCol="0"/>
          <a:lstStyle/>
          <a:p>
            <a:pPr indent="0" marL="0">
              <a:buNone/>
            </a:pPr>
            <a:r>
              <a:rPr lang="en-US" sz="8000" b="1" dirty="0">
                <a:solidFill>
                  <a:schemeClr val="accent1"/>
                </a:solidFill>
                <a:latin typeface="Cambria" pitchFamily="34" charset="0"/>
                <a:ea typeface="Cambria" pitchFamily="34" charset="-122"/>
                <a:cs typeface="Cambria" pitchFamily="34" charset="-120"/>
              </a:rPr>
              <a:t>02</a:t>
            </a:r>
            <a:endParaRPr lang="en-US" sz="8000" dirty="0"/>
          </a:p>
        </p:txBody>
      </p:sp>
      <p:sp>
        <p:nvSpPr>
          <p:cNvPr id="3" name="Text 0"/>
          <p:cNvSpPr/>
          <p:nvPr>
            <p:ph idx="101" type="title" hasCustomPrompt="1"/>
          </p:nvPr>
        </p:nvSpPr>
        <p:spPr>
          <a:xfrm>
            <a:off x="731520" y="2743200"/>
            <a:ext cx="7772400" cy="1097280"/>
          </a:xfrm>
          <a:prstGeom prst="rect">
            <a:avLst/>
          </a:prstGeom>
          <a:noFill/>
          <a:ln/>
        </p:spPr>
        <p:txBody>
          <a:bodyPr wrap="square" lIns="0" tIns="0" rIns="0" bIns="0" rtlCol="0"/>
          <a:lstStyle/>
          <a:p>
            <a:pPr algn="l" indent="0" marL="0">
              <a:buNone/>
            </a:pPr>
            <a:r>
              <a:rPr lang="en-US" sz="5400" b="1" dirty="0">
                <a:solidFill>
                  <a:schemeClr val="bg1"/>
                </a:solidFill>
              </a:rPr>
              <a:t>UTAUT2</a:t>
            </a:r>
            <a:endParaRPr lang="en-US" sz="5400" dirty="0"/>
          </a:p>
        </p:txBody>
      </p:sp>
      <p:sp>
        <p:nvSpPr>
          <p:cNvPr id="4" name="Text 0"/>
          <p:cNvSpPr/>
          <p:nvPr>
            <p:ph idx="102" type="body" hasCustomPrompt="1"/>
          </p:nvPr>
        </p:nvSpPr>
        <p:spPr>
          <a:xfrm>
            <a:off x="731520" y="3886200"/>
            <a:ext cx="7772400" cy="914400"/>
          </a:xfrm>
          <a:prstGeom prst="rect">
            <a:avLst/>
          </a:prstGeom>
          <a:noFill/>
          <a:ln/>
        </p:spPr>
        <p:txBody>
          <a:bodyPr wrap="square" lIns="0" tIns="0" rIns="0" bIns="0" rtlCol="0" anchor="t"/>
          <a:lstStyle/>
          <a:p>
            <a:pPr indent="0" marL="0">
              <a:buNone/>
            </a:pPr>
            <a:r>
              <a:rPr lang="en-US" sz="1800" dirty="0">
                <a:solidFill>
                  <a:schemeClr val="bg2"/>
                </a:solidFill>
              </a:rPr>
              <a:t>Extending UTAUT to the consumer context</a:t>
            </a:r>
            <a:endParaRPr lang="en-US" sz="1800" dirty="0"/>
          </a:p>
          <a:p>
            <a:pPr indent="0" marL="0">
              <a:buNone/>
            </a:pPr>
            <a:r>
              <a:rPr lang="en-US" sz="1800" dirty="0">
                <a:solidFill>
                  <a:schemeClr val="bg2"/>
                </a:solidFill>
              </a:rPr>
              <a:t>Venkatesh, Thong &amp; Xu (2012)</a:t>
            </a:r>
            <a:endParaRPr lang="en-US" sz="1800" dirty="0"/>
          </a:p>
        </p:txBody>
      </p:sp>
      <p:sp>
        <p:nvSpPr>
          <p:cNvPr id="5" name="Konstruk UTAUT2 hm lingkaran"/>
          <p:cNvSpPr/>
          <p:nvPr/>
        </p:nvSpPr>
        <p:spPr>
          <a:xfrm>
            <a:off x="9052560" y="2011680"/>
            <a:ext cx="1097280" cy="1097280"/>
          </a:xfrm>
          <a:prstGeom prst="ellipse">
            <a:avLst/>
          </a:prstGeom>
          <a:solidFill>
            <a:schemeClr val="accent2"/>
          </a:solidFill>
          <a:ln/>
        </p:spPr>
      </p:sp>
      <p:pic>
        <p:nvPicPr>
          <p:cNvPr id="6" name="Konstruk UTAUT2 hm ikon" descr="preencoded.png">    </p:cNvPr>
          <p:cNvPicPr>
            <a:picLocks noChangeAspect="1"/>
          </p:cNvPicPr>
          <p:nvPr/>
        </p:nvPicPr>
        <p:blipFill>
          <a:blip r:embed="rId1"/>
          <a:stretch>
            <a:fillRect/>
          </a:stretch>
        </p:blipFill>
        <p:spPr>
          <a:xfrm>
            <a:off x="9315907" y="2275027"/>
            <a:ext cx="570586" cy="570586"/>
          </a:xfrm>
          <a:prstGeom prst="rect">
            <a:avLst/>
          </a:prstGeom>
        </p:spPr>
      </p:pic>
      <p:sp>
        <p:nvSpPr>
          <p:cNvPr id="7" name="Konstruk UTAUT2 pv lingkaran"/>
          <p:cNvSpPr/>
          <p:nvPr/>
        </p:nvSpPr>
        <p:spPr>
          <a:xfrm>
            <a:off x="10424160" y="2011680"/>
            <a:ext cx="1097280" cy="1097280"/>
          </a:xfrm>
          <a:prstGeom prst="ellipse">
            <a:avLst/>
          </a:prstGeom>
          <a:solidFill>
            <a:schemeClr val="accent2"/>
          </a:solidFill>
          <a:ln/>
        </p:spPr>
      </p:sp>
      <p:pic>
        <p:nvPicPr>
          <p:cNvPr id="8" name="Konstruk UTAUT2 pv ikon" descr="preencoded.png">    </p:cNvPr>
          <p:cNvPicPr>
            <a:picLocks noChangeAspect="1"/>
          </p:cNvPicPr>
          <p:nvPr/>
        </p:nvPicPr>
        <p:blipFill>
          <a:blip r:embed="rId2"/>
          <a:stretch>
            <a:fillRect/>
          </a:stretch>
        </p:blipFill>
        <p:spPr>
          <a:xfrm>
            <a:off x="10687507" y="2275027"/>
            <a:ext cx="570586" cy="570586"/>
          </a:xfrm>
          <a:prstGeom prst="rect">
            <a:avLst/>
          </a:prstGeom>
        </p:spPr>
      </p:pic>
      <p:sp>
        <p:nvSpPr>
          <p:cNvPr id="9" name="Konstruk UTAUT2 ht lingkaran"/>
          <p:cNvSpPr/>
          <p:nvPr/>
        </p:nvSpPr>
        <p:spPr>
          <a:xfrm>
            <a:off x="9052560" y="3383280"/>
            <a:ext cx="1097280" cy="1097280"/>
          </a:xfrm>
          <a:prstGeom prst="ellipse">
            <a:avLst/>
          </a:prstGeom>
          <a:solidFill>
            <a:schemeClr val="accent2"/>
          </a:solidFill>
          <a:ln/>
        </p:spPr>
      </p:sp>
      <p:pic>
        <p:nvPicPr>
          <p:cNvPr id="10" name="Konstruk UTAUT2 ht ikon" descr="preencoded.png">    </p:cNvPr>
          <p:cNvPicPr>
            <a:picLocks noChangeAspect="1"/>
          </p:cNvPicPr>
          <p:nvPr/>
        </p:nvPicPr>
        <p:blipFill>
          <a:blip r:embed="rId3"/>
          <a:stretch>
            <a:fillRect/>
          </a:stretch>
        </p:blipFill>
        <p:spPr>
          <a:xfrm>
            <a:off x="9315907" y="3646627"/>
            <a:ext cx="570586" cy="570586"/>
          </a:xfrm>
          <a:prstGeom prst="rect">
            <a:avLst/>
          </a:prstGeom>
        </p:spPr>
      </p:pic>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PENGERTIAN UTAUT2</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UTAUT yang diperluas untuk konsumen</a:t>
            </a:r>
            <a:endParaRPr lang="en-US" sz="3400" dirty="0"/>
          </a:p>
        </p:txBody>
      </p:sp>
      <p:sp>
        <p:nvSpPr>
          <p:cNvPr id="4" name="Kartu definisi UTAUT2"/>
          <p:cNvSpPr/>
          <p:nvPr/>
        </p:nvSpPr>
        <p:spPr>
          <a:xfrm>
            <a:off x="548640" y="1554480"/>
            <a:ext cx="5760720" cy="1600200"/>
          </a:xfrm>
          <a:prstGeom prst="roundRect">
            <a:avLst>
              <a:gd name="adj" fmla="val 6857"/>
            </a:avLst>
          </a:prstGeom>
          <a:solidFill>
            <a:schemeClr val="bg2"/>
          </a:solidFill>
          <a:ln/>
        </p:spPr>
      </p:sp>
      <p:pic>
        <p:nvPicPr>
          <p:cNvPr id="5" name="Ikon kutipan" descr="preencoded.png">    </p:cNvPr>
          <p:cNvPicPr>
            <a:picLocks noChangeAspect="1"/>
          </p:cNvPicPr>
          <p:nvPr/>
        </p:nvPicPr>
        <p:blipFill>
          <a:blip r:embed="rId1"/>
          <a:stretch>
            <a:fillRect/>
          </a:stretch>
        </p:blipFill>
        <p:spPr>
          <a:xfrm>
            <a:off x="868680" y="1828800"/>
            <a:ext cx="411480" cy="411480"/>
          </a:xfrm>
          <a:prstGeom prst="rect">
            <a:avLst/>
          </a:prstGeom>
        </p:spPr>
      </p:pic>
      <p:sp>
        <p:nvSpPr>
          <p:cNvPr id="6" name="Text 3"/>
          <p:cNvSpPr txBox="1"/>
          <p:nvPr/>
        </p:nvSpPr>
        <p:spPr>
          <a:xfrm>
            <a:off x="1463040" y="1691640"/>
            <a:ext cx="4663440" cy="1325880"/>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UTAUT2 menjelaskan penerimaan dan penggunaan teknologi oleh konsumen (B2C), dengan mempertahankan 4 konstruk UTAUT dan menambahkan 3 konstruk baru.</a:t>
            </a:r>
            <a:endParaRPr lang="en-US" sz="1700" dirty="0"/>
          </a:p>
        </p:txBody>
      </p:sp>
      <p:sp>
        <p:nvSpPr>
          <p:cNvPr id="7" name="Text 4"/>
          <p:cNvSpPr txBox="1"/>
          <p:nvPr/>
        </p:nvSpPr>
        <p:spPr>
          <a:xfrm>
            <a:off x="548640" y="3383280"/>
            <a:ext cx="1600200" cy="594360"/>
          </a:xfrm>
          <a:prstGeom prst="rect">
            <a:avLst/>
          </a:prstGeom>
          <a:noFill/>
          <a:ln/>
        </p:spPr>
        <p:txBody>
          <a:bodyPr wrap="square" lIns="0" tIns="0" rIns="0" bIns="0" rtlCol="0" anchor="t"/>
          <a:lstStyle/>
          <a:p>
            <a:pPr indent="0" marL="0">
              <a:buNone/>
            </a:pPr>
            <a:r>
              <a:rPr lang="en-US" sz="1400" b="1" dirty="0">
                <a:solidFill>
                  <a:schemeClr val="accent2"/>
                </a:solidFill>
              </a:rPr>
              <a:t>Publikasi</a:t>
            </a:r>
            <a:endParaRPr lang="en-US" sz="1400" dirty="0"/>
          </a:p>
        </p:txBody>
      </p:sp>
      <p:sp>
        <p:nvSpPr>
          <p:cNvPr id="8" name="Text 5"/>
          <p:cNvSpPr txBox="1"/>
          <p:nvPr/>
        </p:nvSpPr>
        <p:spPr>
          <a:xfrm>
            <a:off x="2194560" y="3383280"/>
            <a:ext cx="4114800" cy="594360"/>
          </a:xfrm>
          <a:prstGeom prst="rect">
            <a:avLst/>
          </a:prstGeom>
          <a:noFill/>
          <a:ln/>
        </p:spPr>
        <p:txBody>
          <a:bodyPr wrap="square" lIns="0" tIns="0" rIns="0" bIns="0" rtlCol="0" anchor="t"/>
          <a:lstStyle/>
          <a:p>
            <a:pPr indent="0" marL="0">
              <a:buNone/>
            </a:pPr>
            <a:r>
              <a:rPr lang="en-US" sz="1400" dirty="0">
                <a:solidFill>
                  <a:schemeClr val="tx1"/>
                </a:solidFill>
              </a:rPr>
              <a:t>MIS Quarterly, 36(1), 157–178</a:t>
            </a:r>
            <a:endParaRPr lang="en-US" sz="1400" dirty="0"/>
          </a:p>
        </p:txBody>
      </p:sp>
      <p:sp>
        <p:nvSpPr>
          <p:cNvPr id="9" name="Text 6"/>
          <p:cNvSpPr txBox="1"/>
          <p:nvPr/>
        </p:nvSpPr>
        <p:spPr>
          <a:xfrm>
            <a:off x="548640" y="4069080"/>
            <a:ext cx="1600200" cy="594360"/>
          </a:xfrm>
          <a:prstGeom prst="rect">
            <a:avLst/>
          </a:prstGeom>
          <a:noFill/>
          <a:ln/>
        </p:spPr>
        <p:txBody>
          <a:bodyPr wrap="square" lIns="0" tIns="0" rIns="0" bIns="0" rtlCol="0" anchor="t"/>
          <a:lstStyle/>
          <a:p>
            <a:pPr indent="0" marL="0">
              <a:buNone/>
            </a:pPr>
            <a:r>
              <a:rPr lang="en-US" sz="1400" b="1" dirty="0">
                <a:solidFill>
                  <a:schemeClr val="accent2"/>
                </a:solidFill>
              </a:rPr>
              <a:t>Konteks studi</a:t>
            </a:r>
            <a:endParaRPr lang="en-US" sz="1400" dirty="0"/>
          </a:p>
        </p:txBody>
      </p:sp>
      <p:sp>
        <p:nvSpPr>
          <p:cNvPr id="10" name="Text 7"/>
          <p:cNvSpPr txBox="1"/>
          <p:nvPr/>
        </p:nvSpPr>
        <p:spPr>
          <a:xfrm>
            <a:off x="2194560" y="4069080"/>
            <a:ext cx="4114800" cy="594360"/>
          </a:xfrm>
          <a:prstGeom prst="rect">
            <a:avLst/>
          </a:prstGeom>
          <a:noFill/>
          <a:ln/>
        </p:spPr>
        <p:txBody>
          <a:bodyPr wrap="square" lIns="0" tIns="0" rIns="0" bIns="0" rtlCol="0" anchor="t"/>
          <a:lstStyle/>
          <a:p>
            <a:pPr indent="0" marL="0">
              <a:buNone/>
            </a:pPr>
            <a:r>
              <a:rPr lang="en-US" sz="1400" dirty="0">
                <a:solidFill>
                  <a:schemeClr val="tx1"/>
                </a:solidFill>
              </a:rPr>
              <a:t>Mobile internet; 1.512 konsumen di Hong Kong, survei dua tahap berjarak 4 bulan</a:t>
            </a:r>
            <a:endParaRPr lang="en-US" sz="1400" dirty="0"/>
          </a:p>
        </p:txBody>
      </p:sp>
      <p:sp>
        <p:nvSpPr>
          <p:cNvPr id="11" name="Text 8"/>
          <p:cNvSpPr txBox="1"/>
          <p:nvPr/>
        </p:nvSpPr>
        <p:spPr>
          <a:xfrm>
            <a:off x="548640" y="4754880"/>
            <a:ext cx="1600200" cy="594360"/>
          </a:xfrm>
          <a:prstGeom prst="rect">
            <a:avLst/>
          </a:prstGeom>
          <a:noFill/>
          <a:ln/>
        </p:spPr>
        <p:txBody>
          <a:bodyPr wrap="square" lIns="0" tIns="0" rIns="0" bIns="0" rtlCol="0" anchor="t"/>
          <a:lstStyle/>
          <a:p>
            <a:pPr indent="0" marL="0">
              <a:buNone/>
            </a:pPr>
            <a:r>
              <a:rPr lang="en-US" sz="1400" b="1" dirty="0">
                <a:solidFill>
                  <a:schemeClr val="accent2"/>
                </a:solidFill>
              </a:rPr>
              <a:t>Ditambahkan</a:t>
            </a:r>
            <a:endParaRPr lang="en-US" sz="1400" dirty="0"/>
          </a:p>
        </p:txBody>
      </p:sp>
      <p:sp>
        <p:nvSpPr>
          <p:cNvPr id="12" name="Text 9"/>
          <p:cNvSpPr txBox="1"/>
          <p:nvPr/>
        </p:nvSpPr>
        <p:spPr>
          <a:xfrm>
            <a:off x="2194560" y="4754880"/>
            <a:ext cx="4114800" cy="594360"/>
          </a:xfrm>
          <a:prstGeom prst="rect">
            <a:avLst/>
          </a:prstGeom>
          <a:noFill/>
          <a:ln/>
        </p:spPr>
        <p:txBody>
          <a:bodyPr wrap="square" lIns="0" tIns="0" rIns="0" bIns="0" rtlCol="0" anchor="t"/>
          <a:lstStyle/>
          <a:p>
            <a:pPr indent="0" marL="0">
              <a:buNone/>
            </a:pPr>
            <a:r>
              <a:rPr lang="en-US" sz="1400" dirty="0">
                <a:solidFill>
                  <a:schemeClr val="tx1"/>
                </a:solidFill>
              </a:rPr>
              <a:t>Hedonic Motivation, Price Value, Habit</a:t>
            </a:r>
            <a:endParaRPr lang="en-US" sz="1400" dirty="0"/>
          </a:p>
        </p:txBody>
      </p:sp>
      <p:sp>
        <p:nvSpPr>
          <p:cNvPr id="13" name="Text 10"/>
          <p:cNvSpPr txBox="1"/>
          <p:nvPr/>
        </p:nvSpPr>
        <p:spPr>
          <a:xfrm>
            <a:off x="548640" y="5440680"/>
            <a:ext cx="1600200" cy="594360"/>
          </a:xfrm>
          <a:prstGeom prst="rect">
            <a:avLst/>
          </a:prstGeom>
          <a:noFill/>
          <a:ln/>
        </p:spPr>
        <p:txBody>
          <a:bodyPr wrap="square" lIns="0" tIns="0" rIns="0" bIns="0" rtlCol="0" anchor="t"/>
          <a:lstStyle/>
          <a:p>
            <a:pPr indent="0" marL="0">
              <a:buNone/>
            </a:pPr>
            <a:r>
              <a:rPr lang="en-US" sz="1400" b="1" dirty="0">
                <a:solidFill>
                  <a:schemeClr val="accent2"/>
                </a:solidFill>
              </a:rPr>
              <a:t>Disesuaikan</a:t>
            </a:r>
            <a:endParaRPr lang="en-US" sz="1400" dirty="0"/>
          </a:p>
        </p:txBody>
      </p:sp>
      <p:sp>
        <p:nvSpPr>
          <p:cNvPr id="14" name="Text 11"/>
          <p:cNvSpPr txBox="1"/>
          <p:nvPr/>
        </p:nvSpPr>
        <p:spPr>
          <a:xfrm>
            <a:off x="2194560" y="5440680"/>
            <a:ext cx="4114800" cy="594360"/>
          </a:xfrm>
          <a:prstGeom prst="rect">
            <a:avLst/>
          </a:prstGeom>
          <a:noFill/>
          <a:ln/>
        </p:spPr>
        <p:txBody>
          <a:bodyPr wrap="square" lIns="0" tIns="0" rIns="0" bIns="0" rtlCol="0" anchor="t"/>
          <a:lstStyle/>
          <a:p>
            <a:pPr indent="0" marL="0">
              <a:buNone/>
            </a:pPr>
            <a:r>
              <a:rPr lang="en-US" sz="1400" dirty="0">
                <a:solidFill>
                  <a:schemeClr val="tx1"/>
                </a:solidFill>
              </a:rPr>
              <a:t>Voluntariness dihapus (konsumen umumnya sukarela); FC kini juga memengaruhi niat</a:t>
            </a:r>
            <a:endParaRPr lang="en-US" sz="1400" dirty="0"/>
          </a:p>
        </p:txBody>
      </p:sp>
      <p:graphicFrame>
        <p:nvGraphicFramePr>
          <p:cNvPr id="15" name="Grafik varians UTAUT vs UTAUT2" descr=""/>
          <p:cNvGraphicFramePr/>
          <p:nvPr/>
        </p:nvGraphicFramePr>
        <p:xfrm>
          <a:off x="6675120" y="1554480"/>
          <a:ext cx="4965192" cy="46177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TIGA KONSTRUK BARU</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Kesenangan, harga, dan kebiasaan</a:t>
            </a:r>
            <a:endParaRPr lang="en-US" sz="3400" dirty="0"/>
          </a:p>
        </p:txBody>
      </p:sp>
      <p:sp>
        <p:nvSpPr>
          <p:cNvPr id="4" name="Hedonic Motivation"/>
          <p:cNvSpPr/>
          <p:nvPr/>
        </p:nvSpPr>
        <p:spPr>
          <a:xfrm>
            <a:off x="548640" y="1554480"/>
            <a:ext cx="3547872" cy="3977640"/>
          </a:xfrm>
          <a:prstGeom prst="roundRect">
            <a:avLst>
              <a:gd name="adj" fmla="val 3093"/>
            </a:avLst>
          </a:prstGeom>
          <a:solidFill>
            <a:schemeClr val="bg1"/>
          </a:solidFill>
          <a:ln/>
          <a:effectLst>
            <a:outerShdw sx="100000" sy="100000" kx="0" ky="0" algn="bl" rotWithShape="0" blurRad="101600" dist="25400" dir="5400000">
              <a:srgbClr val="1C1A33">
                <a:alpha val="14000"/>
              </a:srgbClr>
            </a:outerShdw>
          </a:effectLst>
        </p:spPr>
      </p:sp>
      <p:sp>
        <p:nvSpPr>
          <p:cNvPr id="5" name="Hedonic Motivation lingkaran"/>
          <p:cNvSpPr/>
          <p:nvPr/>
        </p:nvSpPr>
        <p:spPr>
          <a:xfrm>
            <a:off x="868680" y="1874520"/>
            <a:ext cx="777240" cy="777240"/>
          </a:xfrm>
          <a:prstGeom prst="ellipse">
            <a:avLst/>
          </a:prstGeom>
          <a:solidFill>
            <a:schemeClr val="accent2"/>
          </a:solidFill>
          <a:ln/>
        </p:spPr>
      </p:sp>
      <p:pic>
        <p:nvPicPr>
          <p:cNvPr id="6" name="Hedonic Motivation ikon" descr="preencoded.png">    </p:cNvPr>
          <p:cNvPicPr>
            <a:picLocks noChangeAspect="1"/>
          </p:cNvPicPr>
          <p:nvPr/>
        </p:nvPicPr>
        <p:blipFill>
          <a:blip r:embed="rId1"/>
          <a:stretch>
            <a:fillRect/>
          </a:stretch>
        </p:blipFill>
        <p:spPr>
          <a:xfrm>
            <a:off x="1055218" y="2061058"/>
            <a:ext cx="404165" cy="404165"/>
          </a:xfrm>
          <a:prstGeom prst="rect">
            <a:avLst/>
          </a:prstGeom>
        </p:spPr>
      </p:pic>
      <p:sp>
        <p:nvSpPr>
          <p:cNvPr id="7" name="Text 4"/>
          <p:cNvSpPr txBox="1"/>
          <p:nvPr/>
        </p:nvSpPr>
        <p:spPr>
          <a:xfrm>
            <a:off x="868680" y="2788920"/>
            <a:ext cx="2907792" cy="731520"/>
          </a:xfrm>
          <a:prstGeom prst="rect">
            <a:avLst/>
          </a:prstGeom>
          <a:noFill/>
          <a:ln/>
        </p:spPr>
        <p:txBody>
          <a:bodyPr wrap="square" lIns="0" tIns="0" rIns="0" bIns="0" rtlCol="0" anchor="t"/>
          <a:lstStyle/>
          <a:p>
            <a:pPr indent="0" marL="0">
              <a:buNone/>
            </a:pPr>
            <a:r>
              <a:rPr lang="en-US" sz="2000" b="1" dirty="0">
                <a:solidFill>
                  <a:schemeClr val="tx1"/>
                </a:solidFill>
              </a:rPr>
              <a:t>Hedonic Motivation</a:t>
            </a:r>
            <a:endParaRPr lang="en-US" sz="1400" dirty="0"/>
          </a:p>
          <a:p>
            <a:pPr indent="0" marL="0">
              <a:buNone/>
            </a:pPr>
            <a:r>
              <a:rPr lang="en-US" sz="1400" b="1" dirty="0">
                <a:solidFill>
                  <a:schemeClr val="accent2"/>
                </a:solidFill>
              </a:rPr>
              <a:t>Motivasi Hedonis</a:t>
            </a:r>
            <a:endParaRPr lang="en-US" sz="1400" dirty="0"/>
          </a:p>
        </p:txBody>
      </p:sp>
      <p:sp>
        <p:nvSpPr>
          <p:cNvPr id="8" name="Text 5"/>
          <p:cNvSpPr txBox="1"/>
          <p:nvPr/>
        </p:nvSpPr>
        <p:spPr>
          <a:xfrm>
            <a:off x="868680" y="3566160"/>
            <a:ext cx="2907792" cy="868680"/>
          </a:xfrm>
          <a:prstGeom prst="rect">
            <a:avLst/>
          </a:prstGeom>
          <a:noFill/>
          <a:ln/>
        </p:spPr>
        <p:txBody>
          <a:bodyPr wrap="square" lIns="0" tIns="0" rIns="0" bIns="0" rtlCol="0" anchor="t"/>
          <a:lstStyle/>
          <a:p>
            <a:pPr indent="0" marL="0">
              <a:buNone/>
            </a:pPr>
            <a:r>
              <a:rPr lang="en-US" sz="1400" dirty="0">
                <a:solidFill>
                  <a:schemeClr val="tx1"/>
                </a:solidFill>
              </a:rPr>
              <a:t>Rasa senang atau nikmat yang diperoleh saat menggunakan teknologi (motivasi intrinsik).</a:t>
            </a:r>
            <a:endParaRPr lang="en-US" sz="1400" dirty="0"/>
          </a:p>
        </p:txBody>
      </p:sp>
      <p:sp>
        <p:nvSpPr>
          <p:cNvPr id="9" name="Text 6"/>
          <p:cNvSpPr txBox="1"/>
          <p:nvPr/>
        </p:nvSpPr>
        <p:spPr>
          <a:xfrm>
            <a:off x="868680" y="4434840"/>
            <a:ext cx="2907792" cy="320040"/>
          </a:xfrm>
          <a:prstGeom prst="rect">
            <a:avLst/>
          </a:prstGeom>
          <a:noFill/>
          <a:ln/>
        </p:spPr>
        <p:txBody>
          <a:bodyPr wrap="square" lIns="0" tIns="0" rIns="0" bIns="0" rtlCol="0" anchor="t"/>
          <a:lstStyle/>
          <a:p>
            <a:pPr indent="0" marL="0">
              <a:buNone/>
            </a:pPr>
            <a:r>
              <a:rPr lang="en-US" sz="1400" b="1" i="1" dirty="0">
                <a:solidFill>
                  <a:schemeClr val="tx2"/>
                </a:solidFill>
              </a:rPr>
              <a:t>“Apakah ini menyenangkan?”</a:t>
            </a:r>
            <a:endParaRPr lang="en-US" sz="1400" dirty="0"/>
          </a:p>
        </p:txBody>
      </p:sp>
      <p:sp>
        <p:nvSpPr>
          <p:cNvPr id="10" name="Text 7"/>
          <p:cNvSpPr txBox="1"/>
          <p:nvPr/>
        </p:nvSpPr>
        <p:spPr>
          <a:xfrm>
            <a:off x="868680" y="4800600"/>
            <a:ext cx="2907792" cy="822960"/>
          </a:xfrm>
          <a:prstGeom prst="rect">
            <a:avLst/>
          </a:prstGeom>
          <a:noFill/>
          <a:ln/>
        </p:spPr>
        <p:txBody>
          <a:bodyPr wrap="square" lIns="0" tIns="0" rIns="0" bIns="0" rtlCol="0" anchor="t"/>
          <a:lstStyle/>
          <a:p>
            <a:pPr indent="0" marL="0">
              <a:buNone/>
            </a:pPr>
            <a:r>
              <a:rPr lang="en-US" sz="1300" dirty="0">
                <a:solidFill>
                  <a:schemeClr val="accent6"/>
                </a:solidFill>
              </a:rPr>
              <a:t>Game yang seru; TikTok yang menghibur dan membuat waktu terasa cepat.</a:t>
            </a:r>
            <a:endParaRPr lang="en-US" sz="1300" dirty="0"/>
          </a:p>
        </p:txBody>
      </p:sp>
      <p:sp>
        <p:nvSpPr>
          <p:cNvPr id="11" name="Price Value"/>
          <p:cNvSpPr/>
          <p:nvPr/>
        </p:nvSpPr>
        <p:spPr>
          <a:xfrm>
            <a:off x="4320540" y="1554480"/>
            <a:ext cx="3547872" cy="3977640"/>
          </a:xfrm>
          <a:prstGeom prst="roundRect">
            <a:avLst>
              <a:gd name="adj" fmla="val 3093"/>
            </a:avLst>
          </a:prstGeom>
          <a:solidFill>
            <a:schemeClr val="bg1"/>
          </a:solidFill>
          <a:ln/>
          <a:effectLst>
            <a:outerShdw sx="100000" sy="100000" kx="0" ky="0" algn="bl" rotWithShape="0" blurRad="101600" dist="25400" dir="5400000">
              <a:srgbClr val="1C1A33">
                <a:alpha val="14000"/>
              </a:srgbClr>
            </a:outerShdw>
          </a:effectLst>
        </p:spPr>
      </p:sp>
      <p:sp>
        <p:nvSpPr>
          <p:cNvPr id="12" name="Price Value lingkaran"/>
          <p:cNvSpPr/>
          <p:nvPr/>
        </p:nvSpPr>
        <p:spPr>
          <a:xfrm>
            <a:off x="4640580" y="1874520"/>
            <a:ext cx="777240" cy="777240"/>
          </a:xfrm>
          <a:prstGeom prst="ellipse">
            <a:avLst/>
          </a:prstGeom>
          <a:solidFill>
            <a:schemeClr val="accent2"/>
          </a:solidFill>
          <a:ln/>
        </p:spPr>
      </p:sp>
      <p:pic>
        <p:nvPicPr>
          <p:cNvPr id="13" name="Price Value ikon" descr="preencoded.png">    </p:cNvPr>
          <p:cNvPicPr>
            <a:picLocks noChangeAspect="1"/>
          </p:cNvPicPr>
          <p:nvPr/>
        </p:nvPicPr>
        <p:blipFill>
          <a:blip r:embed="rId2"/>
          <a:stretch>
            <a:fillRect/>
          </a:stretch>
        </p:blipFill>
        <p:spPr>
          <a:xfrm>
            <a:off x="4827118" y="2061058"/>
            <a:ext cx="404165" cy="404165"/>
          </a:xfrm>
          <a:prstGeom prst="rect">
            <a:avLst/>
          </a:prstGeom>
        </p:spPr>
      </p:pic>
      <p:sp>
        <p:nvSpPr>
          <p:cNvPr id="14" name="Text 10"/>
          <p:cNvSpPr txBox="1"/>
          <p:nvPr/>
        </p:nvSpPr>
        <p:spPr>
          <a:xfrm>
            <a:off x="4640580" y="2788920"/>
            <a:ext cx="2907792" cy="731520"/>
          </a:xfrm>
          <a:prstGeom prst="rect">
            <a:avLst/>
          </a:prstGeom>
          <a:noFill/>
          <a:ln/>
        </p:spPr>
        <p:txBody>
          <a:bodyPr wrap="square" lIns="0" tIns="0" rIns="0" bIns="0" rtlCol="0" anchor="t"/>
          <a:lstStyle/>
          <a:p>
            <a:pPr indent="0" marL="0">
              <a:buNone/>
            </a:pPr>
            <a:r>
              <a:rPr lang="en-US" sz="2000" b="1" dirty="0">
                <a:solidFill>
                  <a:schemeClr val="tx1"/>
                </a:solidFill>
              </a:rPr>
              <a:t>Price Value</a:t>
            </a:r>
            <a:endParaRPr lang="en-US" sz="1400" dirty="0"/>
          </a:p>
          <a:p>
            <a:pPr indent="0" marL="0">
              <a:buNone/>
            </a:pPr>
            <a:r>
              <a:rPr lang="en-US" sz="1400" b="1" dirty="0">
                <a:solidFill>
                  <a:schemeClr val="accent2"/>
                </a:solidFill>
              </a:rPr>
              <a:t>Nilai Harga</a:t>
            </a:r>
            <a:endParaRPr lang="en-US" sz="1400" dirty="0"/>
          </a:p>
        </p:txBody>
      </p:sp>
      <p:sp>
        <p:nvSpPr>
          <p:cNvPr id="15" name="Text 11"/>
          <p:cNvSpPr txBox="1"/>
          <p:nvPr/>
        </p:nvSpPr>
        <p:spPr>
          <a:xfrm>
            <a:off x="4640580" y="3566160"/>
            <a:ext cx="2907792" cy="868680"/>
          </a:xfrm>
          <a:prstGeom prst="rect">
            <a:avLst/>
          </a:prstGeom>
          <a:noFill/>
          <a:ln/>
        </p:spPr>
        <p:txBody>
          <a:bodyPr wrap="square" lIns="0" tIns="0" rIns="0" bIns="0" rtlCol="0" anchor="t"/>
          <a:lstStyle/>
          <a:p>
            <a:pPr indent="0" marL="0">
              <a:buNone/>
            </a:pPr>
            <a:r>
              <a:rPr lang="en-US" sz="1400" dirty="0">
                <a:solidFill>
                  <a:schemeClr val="tx1"/>
                </a:solidFill>
              </a:rPr>
              <a:t>Pertimbangan konsumen antara manfaat yang dirasakan dan biaya uang yang dikeluarkan.</a:t>
            </a:r>
            <a:endParaRPr lang="en-US" sz="1400" dirty="0"/>
          </a:p>
        </p:txBody>
      </p:sp>
      <p:sp>
        <p:nvSpPr>
          <p:cNvPr id="16" name="Text 12"/>
          <p:cNvSpPr txBox="1"/>
          <p:nvPr/>
        </p:nvSpPr>
        <p:spPr>
          <a:xfrm>
            <a:off x="4640580" y="4434840"/>
            <a:ext cx="2907792" cy="320040"/>
          </a:xfrm>
          <a:prstGeom prst="rect">
            <a:avLst/>
          </a:prstGeom>
          <a:noFill/>
          <a:ln/>
        </p:spPr>
        <p:txBody>
          <a:bodyPr wrap="square" lIns="0" tIns="0" rIns="0" bIns="0" rtlCol="0" anchor="t"/>
          <a:lstStyle/>
          <a:p>
            <a:pPr indent="0" marL="0">
              <a:buNone/>
            </a:pPr>
            <a:r>
              <a:rPr lang="en-US" sz="1400" b="1" i="1" dirty="0">
                <a:solidFill>
                  <a:schemeClr val="tx2"/>
                </a:solidFill>
              </a:rPr>
              <a:t>“Apakah harganya sepadan?”</a:t>
            </a:r>
            <a:endParaRPr lang="en-US" sz="1400" dirty="0"/>
          </a:p>
        </p:txBody>
      </p:sp>
      <p:sp>
        <p:nvSpPr>
          <p:cNvPr id="17" name="Text 13"/>
          <p:cNvSpPr txBox="1"/>
          <p:nvPr/>
        </p:nvSpPr>
        <p:spPr>
          <a:xfrm>
            <a:off x="4640580" y="4800600"/>
            <a:ext cx="2907792" cy="822960"/>
          </a:xfrm>
          <a:prstGeom prst="rect">
            <a:avLst/>
          </a:prstGeom>
          <a:noFill/>
          <a:ln/>
        </p:spPr>
        <p:txBody>
          <a:bodyPr wrap="square" lIns="0" tIns="0" rIns="0" bIns="0" rtlCol="0" anchor="t"/>
          <a:lstStyle/>
          <a:p>
            <a:pPr indent="0" marL="0">
              <a:buNone/>
            </a:pPr>
            <a:r>
              <a:rPr lang="en-US" sz="1300" dirty="0">
                <a:solidFill>
                  <a:schemeClr val="accent6"/>
                </a:solidFill>
              </a:rPr>
              <a:t>Streaming Rp60.000/bulan terasa sepadan karena banyak film, tanpa iklan, video jernih.</a:t>
            </a:r>
            <a:endParaRPr lang="en-US" sz="1300" dirty="0"/>
          </a:p>
        </p:txBody>
      </p:sp>
      <p:sp>
        <p:nvSpPr>
          <p:cNvPr id="18" name="Habit"/>
          <p:cNvSpPr/>
          <p:nvPr/>
        </p:nvSpPr>
        <p:spPr>
          <a:xfrm>
            <a:off x="8092440" y="1554480"/>
            <a:ext cx="3547872" cy="3977640"/>
          </a:xfrm>
          <a:prstGeom prst="roundRect">
            <a:avLst>
              <a:gd name="adj" fmla="val 3093"/>
            </a:avLst>
          </a:prstGeom>
          <a:solidFill>
            <a:schemeClr val="bg1"/>
          </a:solidFill>
          <a:ln/>
          <a:effectLst>
            <a:outerShdw sx="100000" sy="100000" kx="0" ky="0" algn="bl" rotWithShape="0" blurRad="101600" dist="25400" dir="5400000">
              <a:srgbClr val="1C1A33">
                <a:alpha val="14000"/>
              </a:srgbClr>
            </a:outerShdw>
          </a:effectLst>
        </p:spPr>
      </p:sp>
      <p:sp>
        <p:nvSpPr>
          <p:cNvPr id="19" name="Habit lingkaran"/>
          <p:cNvSpPr/>
          <p:nvPr/>
        </p:nvSpPr>
        <p:spPr>
          <a:xfrm>
            <a:off x="8412480" y="1874520"/>
            <a:ext cx="777240" cy="777240"/>
          </a:xfrm>
          <a:prstGeom prst="ellipse">
            <a:avLst/>
          </a:prstGeom>
          <a:solidFill>
            <a:schemeClr val="accent2"/>
          </a:solidFill>
          <a:ln/>
        </p:spPr>
      </p:sp>
      <p:pic>
        <p:nvPicPr>
          <p:cNvPr id="20" name="Habit ikon" descr="preencoded.png">    </p:cNvPr>
          <p:cNvPicPr>
            <a:picLocks noChangeAspect="1"/>
          </p:cNvPicPr>
          <p:nvPr/>
        </p:nvPicPr>
        <p:blipFill>
          <a:blip r:embed="rId3"/>
          <a:stretch>
            <a:fillRect/>
          </a:stretch>
        </p:blipFill>
        <p:spPr>
          <a:xfrm>
            <a:off x="8599018" y="2061058"/>
            <a:ext cx="404165" cy="404165"/>
          </a:xfrm>
          <a:prstGeom prst="rect">
            <a:avLst/>
          </a:prstGeom>
        </p:spPr>
      </p:pic>
      <p:sp>
        <p:nvSpPr>
          <p:cNvPr id="21" name="Text 16"/>
          <p:cNvSpPr txBox="1"/>
          <p:nvPr/>
        </p:nvSpPr>
        <p:spPr>
          <a:xfrm>
            <a:off x="8412480" y="2788920"/>
            <a:ext cx="2907792" cy="731520"/>
          </a:xfrm>
          <a:prstGeom prst="rect">
            <a:avLst/>
          </a:prstGeom>
          <a:noFill/>
          <a:ln/>
        </p:spPr>
        <p:txBody>
          <a:bodyPr wrap="square" lIns="0" tIns="0" rIns="0" bIns="0" rtlCol="0" anchor="t"/>
          <a:lstStyle/>
          <a:p>
            <a:pPr indent="0" marL="0">
              <a:buNone/>
            </a:pPr>
            <a:r>
              <a:rPr lang="en-US" sz="2000" b="1" dirty="0">
                <a:solidFill>
                  <a:schemeClr val="tx1"/>
                </a:solidFill>
              </a:rPr>
              <a:t>Habit</a:t>
            </a:r>
            <a:endParaRPr lang="en-US" sz="1400" dirty="0"/>
          </a:p>
          <a:p>
            <a:pPr indent="0" marL="0">
              <a:buNone/>
            </a:pPr>
            <a:r>
              <a:rPr lang="en-US" sz="1400" b="1" dirty="0">
                <a:solidFill>
                  <a:schemeClr val="accent2"/>
                </a:solidFill>
              </a:rPr>
              <a:t>Kebiasaan</a:t>
            </a:r>
            <a:endParaRPr lang="en-US" sz="1400" dirty="0"/>
          </a:p>
        </p:txBody>
      </p:sp>
      <p:sp>
        <p:nvSpPr>
          <p:cNvPr id="22" name="Text 17"/>
          <p:cNvSpPr txBox="1"/>
          <p:nvPr/>
        </p:nvSpPr>
        <p:spPr>
          <a:xfrm>
            <a:off x="8412480" y="3566160"/>
            <a:ext cx="2907792" cy="868680"/>
          </a:xfrm>
          <a:prstGeom prst="rect">
            <a:avLst/>
          </a:prstGeom>
          <a:noFill/>
          <a:ln/>
        </p:spPr>
        <p:txBody>
          <a:bodyPr wrap="square" lIns="0" tIns="0" rIns="0" bIns="0" rtlCol="0" anchor="t"/>
          <a:lstStyle/>
          <a:p>
            <a:pPr indent="0" marL="0">
              <a:buNone/>
            </a:pPr>
            <a:r>
              <a:rPr lang="en-US" sz="1400" dirty="0">
                <a:solidFill>
                  <a:schemeClr val="tx1"/>
                </a:solidFill>
              </a:rPr>
              <a:t>Sejauh mana penggunaan teknologi terjadi secara otomatis sebagai hasil pembelajaran.</a:t>
            </a:r>
            <a:endParaRPr lang="en-US" sz="1400" dirty="0"/>
          </a:p>
        </p:txBody>
      </p:sp>
      <p:sp>
        <p:nvSpPr>
          <p:cNvPr id="23" name="Text 18"/>
          <p:cNvSpPr txBox="1"/>
          <p:nvPr/>
        </p:nvSpPr>
        <p:spPr>
          <a:xfrm>
            <a:off x="8412480" y="4434840"/>
            <a:ext cx="2907792" cy="320040"/>
          </a:xfrm>
          <a:prstGeom prst="rect">
            <a:avLst/>
          </a:prstGeom>
          <a:noFill/>
          <a:ln/>
        </p:spPr>
        <p:txBody>
          <a:bodyPr wrap="square" lIns="0" tIns="0" rIns="0" bIns="0" rtlCol="0" anchor="t"/>
          <a:lstStyle/>
          <a:p>
            <a:pPr indent="0" marL="0">
              <a:buNone/>
            </a:pPr>
            <a:r>
              <a:rPr lang="en-US" sz="1400" b="1" i="1" dirty="0">
                <a:solidFill>
                  <a:schemeClr val="tx2"/>
                </a:solidFill>
              </a:rPr>
              <a:t>“Apakah sudah jadi kebiasaan?”</a:t>
            </a:r>
            <a:endParaRPr lang="en-US" sz="1400" dirty="0"/>
          </a:p>
        </p:txBody>
      </p:sp>
      <p:sp>
        <p:nvSpPr>
          <p:cNvPr id="24" name="Text 19"/>
          <p:cNvSpPr txBox="1"/>
          <p:nvPr/>
        </p:nvSpPr>
        <p:spPr>
          <a:xfrm>
            <a:off x="8412480" y="4800600"/>
            <a:ext cx="2907792" cy="822960"/>
          </a:xfrm>
          <a:prstGeom prst="rect">
            <a:avLst/>
          </a:prstGeom>
          <a:noFill/>
          <a:ln/>
        </p:spPr>
        <p:txBody>
          <a:bodyPr wrap="square" lIns="0" tIns="0" rIns="0" bIns="0" rtlCol="0" anchor="t"/>
          <a:lstStyle/>
          <a:p>
            <a:pPr indent="0" marL="0">
              <a:buNone/>
            </a:pPr>
            <a:r>
              <a:rPr lang="en-US" sz="1300" dirty="0">
                <a:solidFill>
                  <a:schemeClr val="accent6"/>
                </a:solidFill>
              </a:rPr>
              <a:t>Bangun tidur langsung buka WhatsApp; mau ke suatu tempat langsung buka Google Maps.</a:t>
            </a:r>
            <a:endParaRPr lang="en-US" sz="1300" dirty="0"/>
          </a:p>
        </p:txBody>
      </p:sp>
      <p:sp>
        <p:nvSpPr>
          <p:cNvPr id="25" name="Text 20"/>
          <p:cNvSpPr txBox="1"/>
          <p:nvPr/>
        </p:nvSpPr>
        <p:spPr>
          <a:xfrm>
            <a:off x="548640" y="5669280"/>
            <a:ext cx="11091672" cy="548640"/>
          </a:xfrm>
          <a:prstGeom prst="rect">
            <a:avLst/>
          </a:prstGeom>
          <a:noFill/>
          <a:ln/>
        </p:spPr>
        <p:txBody>
          <a:bodyPr wrap="square" lIns="0" tIns="0" rIns="0" bIns="0" rtlCol="0" anchor="ctr"/>
          <a:lstStyle/>
          <a:p>
            <a:pPr indent="0" marL="0">
              <a:buNone/>
            </a:pPr>
            <a:r>
              <a:rPr lang="en-US" sz="1400" b="1" dirty="0">
                <a:solidFill>
                  <a:schemeClr val="accent2"/>
                </a:solidFill>
              </a:rPr>
              <a:t>Khusus Habit: </a:t>
            </a:r>
            <a:pPr indent="0" marL="0">
              <a:buNone/>
            </a:pPr>
            <a:r>
              <a:rPr lang="en-US" sz="1400" dirty="0">
                <a:solidFill>
                  <a:schemeClr val="tx1"/>
                </a:solidFill>
              </a:rPr>
              <a:t>berpengaruh ke niat dan juga langsung ke penggunaan. Teknologi kadang dipakai bukan karena keputusan rasional, tetapi karena “sudah terbiasa”.</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STRUKTUR DASAR</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Model UTAUT2</a:t>
            </a:r>
            <a:endParaRPr lang="en-US" sz="3400" dirty="0"/>
          </a:p>
        </p:txBody>
      </p:sp>
      <p:sp>
        <p:nvSpPr>
          <p:cNvPr id="4" name="Performance Expectancy"/>
          <p:cNvSpPr/>
          <p:nvPr/>
        </p:nvSpPr>
        <p:spPr>
          <a:xfrm>
            <a:off x="548640" y="1554480"/>
            <a:ext cx="3291840" cy="548640"/>
          </a:xfrm>
          <a:prstGeom prst="roundRect">
            <a:avLst>
              <a:gd name="adj" fmla="val 20000"/>
            </a:avLst>
          </a:prstGeom>
          <a:solidFill>
            <a:schemeClr val="accent1"/>
          </a:solidFill>
          <a:ln/>
          <a:effectLst>
            <a:outerShdw sx="100000" sy="100000" kx="0" ky="0" algn="bl" rotWithShape="0" blurRad="101600" dist="25400" dir="5400000">
              <a:srgbClr val="1C1A33">
                <a:alpha val="14000"/>
              </a:srgbClr>
            </a:outerShdw>
          </a:effectLst>
        </p:spPr>
      </p:sp>
      <p:pic>
        <p:nvPicPr>
          <p:cNvPr id="5" name="Performance Expectancy ikon" descr="preencoded.png">    </p:cNvPr>
          <p:cNvPicPr>
            <a:picLocks noChangeAspect="1"/>
          </p:cNvPicPr>
          <p:nvPr/>
        </p:nvPicPr>
        <p:blipFill>
          <a:blip r:embed="rId1"/>
          <a:stretch>
            <a:fillRect/>
          </a:stretch>
        </p:blipFill>
        <p:spPr>
          <a:xfrm>
            <a:off x="749808" y="1682496"/>
            <a:ext cx="292608" cy="292608"/>
          </a:xfrm>
          <a:prstGeom prst="rect">
            <a:avLst/>
          </a:prstGeom>
        </p:spPr>
      </p:pic>
      <p:sp>
        <p:nvSpPr>
          <p:cNvPr id="6" name="Text 3"/>
          <p:cNvSpPr txBox="1"/>
          <p:nvPr/>
        </p:nvSpPr>
        <p:spPr>
          <a:xfrm>
            <a:off x="1234440" y="1554480"/>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Performance Expectancy</a:t>
            </a:r>
            <a:endParaRPr lang="en-US" sz="1500" dirty="0"/>
          </a:p>
        </p:txBody>
      </p:sp>
      <p:sp>
        <p:nvSpPr>
          <p:cNvPr id="7" name="Effort Expectancy"/>
          <p:cNvSpPr/>
          <p:nvPr/>
        </p:nvSpPr>
        <p:spPr>
          <a:xfrm>
            <a:off x="548640" y="2212848"/>
            <a:ext cx="3291840" cy="548640"/>
          </a:xfrm>
          <a:prstGeom prst="roundRect">
            <a:avLst>
              <a:gd name="adj" fmla="val 20000"/>
            </a:avLst>
          </a:prstGeom>
          <a:solidFill>
            <a:schemeClr val="accent1"/>
          </a:solidFill>
          <a:ln/>
          <a:effectLst>
            <a:outerShdw sx="100000" sy="100000" kx="0" ky="0" algn="bl" rotWithShape="0" blurRad="101600" dist="25400" dir="5400000">
              <a:srgbClr val="1C1A33">
                <a:alpha val="14000"/>
              </a:srgbClr>
            </a:outerShdw>
          </a:effectLst>
        </p:spPr>
      </p:sp>
      <p:pic>
        <p:nvPicPr>
          <p:cNvPr id="8" name="Effort Expectancy ikon" descr="preencoded.png">    </p:cNvPr>
          <p:cNvPicPr>
            <a:picLocks noChangeAspect="1"/>
          </p:cNvPicPr>
          <p:nvPr/>
        </p:nvPicPr>
        <p:blipFill>
          <a:blip r:embed="rId2"/>
          <a:stretch>
            <a:fillRect/>
          </a:stretch>
        </p:blipFill>
        <p:spPr>
          <a:xfrm>
            <a:off x="749808" y="2340864"/>
            <a:ext cx="292608" cy="292608"/>
          </a:xfrm>
          <a:prstGeom prst="rect">
            <a:avLst/>
          </a:prstGeom>
        </p:spPr>
      </p:pic>
      <p:sp>
        <p:nvSpPr>
          <p:cNvPr id="9" name="Text 5"/>
          <p:cNvSpPr txBox="1"/>
          <p:nvPr/>
        </p:nvSpPr>
        <p:spPr>
          <a:xfrm>
            <a:off x="1234440" y="2212848"/>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Effort Expectancy</a:t>
            </a:r>
            <a:endParaRPr lang="en-US" sz="1500" dirty="0"/>
          </a:p>
        </p:txBody>
      </p:sp>
      <p:sp>
        <p:nvSpPr>
          <p:cNvPr id="10" name="Social Influence"/>
          <p:cNvSpPr/>
          <p:nvPr/>
        </p:nvSpPr>
        <p:spPr>
          <a:xfrm>
            <a:off x="548640" y="2871216"/>
            <a:ext cx="3291840" cy="548640"/>
          </a:xfrm>
          <a:prstGeom prst="roundRect">
            <a:avLst>
              <a:gd name="adj" fmla="val 20000"/>
            </a:avLst>
          </a:prstGeom>
          <a:solidFill>
            <a:schemeClr val="accent1"/>
          </a:solidFill>
          <a:ln/>
          <a:effectLst>
            <a:outerShdw sx="100000" sy="100000" kx="0" ky="0" algn="bl" rotWithShape="0" blurRad="101600" dist="25400" dir="5400000">
              <a:srgbClr val="1C1A33">
                <a:alpha val="14000"/>
              </a:srgbClr>
            </a:outerShdw>
          </a:effectLst>
        </p:spPr>
      </p:sp>
      <p:pic>
        <p:nvPicPr>
          <p:cNvPr id="11" name="Social Influence ikon" descr="preencoded.png">    </p:cNvPr>
          <p:cNvPicPr>
            <a:picLocks noChangeAspect="1"/>
          </p:cNvPicPr>
          <p:nvPr/>
        </p:nvPicPr>
        <p:blipFill>
          <a:blip r:embed="rId3"/>
          <a:stretch>
            <a:fillRect/>
          </a:stretch>
        </p:blipFill>
        <p:spPr>
          <a:xfrm>
            <a:off x="749808" y="2999232"/>
            <a:ext cx="292608" cy="292608"/>
          </a:xfrm>
          <a:prstGeom prst="rect">
            <a:avLst/>
          </a:prstGeom>
        </p:spPr>
      </p:pic>
      <p:sp>
        <p:nvSpPr>
          <p:cNvPr id="12" name="Text 7"/>
          <p:cNvSpPr txBox="1"/>
          <p:nvPr/>
        </p:nvSpPr>
        <p:spPr>
          <a:xfrm>
            <a:off x="1234440" y="2871216"/>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Social Influence</a:t>
            </a:r>
            <a:endParaRPr lang="en-US" sz="1500" dirty="0"/>
          </a:p>
        </p:txBody>
      </p:sp>
      <p:sp>
        <p:nvSpPr>
          <p:cNvPr id="13" name="Hedonic Motivation"/>
          <p:cNvSpPr/>
          <p:nvPr/>
        </p:nvSpPr>
        <p:spPr>
          <a:xfrm>
            <a:off x="548640" y="3529584"/>
            <a:ext cx="3291840" cy="548640"/>
          </a:xfrm>
          <a:prstGeom prst="roundRect">
            <a:avLst>
              <a:gd name="adj" fmla="val 20000"/>
            </a:avLst>
          </a:prstGeom>
          <a:solidFill>
            <a:schemeClr val="accent2"/>
          </a:solidFill>
          <a:ln/>
          <a:effectLst>
            <a:outerShdw sx="100000" sy="100000" kx="0" ky="0" algn="bl" rotWithShape="0" blurRad="101600" dist="25400" dir="5400000">
              <a:srgbClr val="1C1A33">
                <a:alpha val="14000"/>
              </a:srgbClr>
            </a:outerShdw>
          </a:effectLst>
        </p:spPr>
      </p:sp>
      <p:pic>
        <p:nvPicPr>
          <p:cNvPr id="14" name="Hedonic Motivation ikon" descr="preencoded.png">    </p:cNvPr>
          <p:cNvPicPr>
            <a:picLocks noChangeAspect="1"/>
          </p:cNvPicPr>
          <p:nvPr/>
        </p:nvPicPr>
        <p:blipFill>
          <a:blip r:embed="rId4"/>
          <a:stretch>
            <a:fillRect/>
          </a:stretch>
        </p:blipFill>
        <p:spPr>
          <a:xfrm>
            <a:off x="749808" y="3657600"/>
            <a:ext cx="292608" cy="292608"/>
          </a:xfrm>
          <a:prstGeom prst="rect">
            <a:avLst/>
          </a:prstGeom>
        </p:spPr>
      </p:pic>
      <p:sp>
        <p:nvSpPr>
          <p:cNvPr id="15" name="Text 9"/>
          <p:cNvSpPr txBox="1"/>
          <p:nvPr/>
        </p:nvSpPr>
        <p:spPr>
          <a:xfrm>
            <a:off x="1234440" y="3529584"/>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Hedonic Motivation</a:t>
            </a:r>
            <a:endParaRPr lang="en-US" sz="1500" dirty="0"/>
          </a:p>
        </p:txBody>
      </p:sp>
      <p:sp>
        <p:nvSpPr>
          <p:cNvPr id="16" name="Price Value"/>
          <p:cNvSpPr/>
          <p:nvPr/>
        </p:nvSpPr>
        <p:spPr>
          <a:xfrm>
            <a:off x="548640" y="4187952"/>
            <a:ext cx="3291840" cy="548640"/>
          </a:xfrm>
          <a:prstGeom prst="roundRect">
            <a:avLst>
              <a:gd name="adj" fmla="val 20000"/>
            </a:avLst>
          </a:prstGeom>
          <a:solidFill>
            <a:schemeClr val="accent2"/>
          </a:solidFill>
          <a:ln/>
          <a:effectLst>
            <a:outerShdw sx="100000" sy="100000" kx="0" ky="0" algn="bl" rotWithShape="0" blurRad="101600" dist="25400" dir="5400000">
              <a:srgbClr val="1C1A33">
                <a:alpha val="14000"/>
              </a:srgbClr>
            </a:outerShdw>
          </a:effectLst>
        </p:spPr>
      </p:sp>
      <p:pic>
        <p:nvPicPr>
          <p:cNvPr id="17" name="Price Value ikon" descr="preencoded.png">    </p:cNvPr>
          <p:cNvPicPr>
            <a:picLocks noChangeAspect="1"/>
          </p:cNvPicPr>
          <p:nvPr/>
        </p:nvPicPr>
        <p:blipFill>
          <a:blip r:embed="rId5"/>
          <a:stretch>
            <a:fillRect/>
          </a:stretch>
        </p:blipFill>
        <p:spPr>
          <a:xfrm>
            <a:off x="749808" y="4315968"/>
            <a:ext cx="292608" cy="292608"/>
          </a:xfrm>
          <a:prstGeom prst="rect">
            <a:avLst/>
          </a:prstGeom>
        </p:spPr>
      </p:pic>
      <p:sp>
        <p:nvSpPr>
          <p:cNvPr id="18" name="Text 11"/>
          <p:cNvSpPr txBox="1"/>
          <p:nvPr/>
        </p:nvSpPr>
        <p:spPr>
          <a:xfrm>
            <a:off x="1234440" y="4187952"/>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Price Value</a:t>
            </a:r>
            <a:endParaRPr lang="en-US" sz="1500" dirty="0"/>
          </a:p>
        </p:txBody>
      </p:sp>
      <p:sp>
        <p:nvSpPr>
          <p:cNvPr id="19" name="Facilitating Conditions"/>
          <p:cNvSpPr/>
          <p:nvPr/>
        </p:nvSpPr>
        <p:spPr>
          <a:xfrm>
            <a:off x="548640" y="4846320"/>
            <a:ext cx="3291840" cy="548640"/>
          </a:xfrm>
          <a:prstGeom prst="roundRect">
            <a:avLst>
              <a:gd name="adj" fmla="val 20000"/>
            </a:avLst>
          </a:prstGeom>
          <a:solidFill>
            <a:schemeClr val="accent1"/>
          </a:solidFill>
          <a:ln/>
          <a:effectLst>
            <a:outerShdw sx="100000" sy="100000" kx="0" ky="0" algn="bl" rotWithShape="0" blurRad="101600" dist="25400" dir="5400000">
              <a:srgbClr val="1C1A33">
                <a:alpha val="14000"/>
              </a:srgbClr>
            </a:outerShdw>
          </a:effectLst>
        </p:spPr>
      </p:sp>
      <p:pic>
        <p:nvPicPr>
          <p:cNvPr id="20" name="Facilitating Conditions ikon" descr="preencoded.png">    </p:cNvPr>
          <p:cNvPicPr>
            <a:picLocks noChangeAspect="1"/>
          </p:cNvPicPr>
          <p:nvPr/>
        </p:nvPicPr>
        <p:blipFill>
          <a:blip r:embed="rId6"/>
          <a:stretch>
            <a:fillRect/>
          </a:stretch>
        </p:blipFill>
        <p:spPr>
          <a:xfrm>
            <a:off x="749808" y="4974336"/>
            <a:ext cx="292608" cy="292608"/>
          </a:xfrm>
          <a:prstGeom prst="rect">
            <a:avLst/>
          </a:prstGeom>
        </p:spPr>
      </p:pic>
      <p:sp>
        <p:nvSpPr>
          <p:cNvPr id="21" name="Text 13"/>
          <p:cNvSpPr txBox="1"/>
          <p:nvPr/>
        </p:nvSpPr>
        <p:spPr>
          <a:xfrm>
            <a:off x="1234440" y="4846320"/>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Facilitating Conditions</a:t>
            </a:r>
            <a:endParaRPr lang="en-US" sz="1500" dirty="0"/>
          </a:p>
        </p:txBody>
      </p:sp>
      <p:sp>
        <p:nvSpPr>
          <p:cNvPr id="22" name="Habit"/>
          <p:cNvSpPr/>
          <p:nvPr/>
        </p:nvSpPr>
        <p:spPr>
          <a:xfrm>
            <a:off x="548640" y="5504688"/>
            <a:ext cx="3291840" cy="548640"/>
          </a:xfrm>
          <a:prstGeom prst="roundRect">
            <a:avLst>
              <a:gd name="adj" fmla="val 20000"/>
            </a:avLst>
          </a:prstGeom>
          <a:solidFill>
            <a:schemeClr val="accent2"/>
          </a:solidFill>
          <a:ln/>
          <a:effectLst>
            <a:outerShdw sx="100000" sy="100000" kx="0" ky="0" algn="bl" rotWithShape="0" blurRad="101600" dist="25400" dir="5400000">
              <a:srgbClr val="1C1A33">
                <a:alpha val="14000"/>
              </a:srgbClr>
            </a:outerShdw>
          </a:effectLst>
        </p:spPr>
      </p:sp>
      <p:pic>
        <p:nvPicPr>
          <p:cNvPr id="23" name="Habit ikon" descr="preencoded.png">    </p:cNvPr>
          <p:cNvPicPr>
            <a:picLocks noChangeAspect="1"/>
          </p:cNvPicPr>
          <p:nvPr/>
        </p:nvPicPr>
        <p:blipFill>
          <a:blip r:embed="rId7"/>
          <a:stretch>
            <a:fillRect/>
          </a:stretch>
        </p:blipFill>
        <p:spPr>
          <a:xfrm>
            <a:off x="749808" y="5632704"/>
            <a:ext cx="292608" cy="292608"/>
          </a:xfrm>
          <a:prstGeom prst="rect">
            <a:avLst/>
          </a:prstGeom>
        </p:spPr>
      </p:pic>
      <p:sp>
        <p:nvSpPr>
          <p:cNvPr id="24" name="Text 15"/>
          <p:cNvSpPr txBox="1"/>
          <p:nvPr/>
        </p:nvSpPr>
        <p:spPr>
          <a:xfrm>
            <a:off x="1234440" y="5504688"/>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Habit</a:t>
            </a:r>
            <a:endParaRPr lang="en-US" sz="1500" dirty="0"/>
          </a:p>
        </p:txBody>
      </p:sp>
      <p:sp>
        <p:nvSpPr>
          <p:cNvPr id="25" name="Behavioral Intention"/>
          <p:cNvSpPr/>
          <p:nvPr/>
        </p:nvSpPr>
        <p:spPr>
          <a:xfrm>
            <a:off x="5394960" y="2880360"/>
            <a:ext cx="2560320" cy="1005840"/>
          </a:xfrm>
          <a:prstGeom prst="roundRect">
            <a:avLst>
              <a:gd name="adj" fmla="val 10909"/>
            </a:avLst>
          </a:prstGeom>
          <a:solidFill>
            <a:schemeClr val="tx2"/>
          </a:solidFill>
          <a:ln/>
          <a:effectLst>
            <a:outerShdw sx="100000" sy="100000" kx="0" ky="0" algn="bl" rotWithShape="0" blurRad="101600" dist="25400" dir="5400000">
              <a:srgbClr val="1C1A33">
                <a:alpha val="14000"/>
              </a:srgbClr>
            </a:outerShdw>
          </a:effectLst>
        </p:spPr>
      </p:sp>
      <p:sp>
        <p:nvSpPr>
          <p:cNvPr id="26" name="Text 17"/>
          <p:cNvSpPr txBox="1"/>
          <p:nvPr/>
        </p:nvSpPr>
        <p:spPr>
          <a:xfrm>
            <a:off x="5577840" y="3017520"/>
            <a:ext cx="2194560" cy="411480"/>
          </a:xfrm>
          <a:prstGeom prst="rect">
            <a:avLst/>
          </a:prstGeom>
          <a:noFill/>
          <a:ln/>
        </p:spPr>
        <p:txBody>
          <a:bodyPr wrap="square" lIns="0" tIns="0" rIns="0" bIns="0" rtlCol="0" anchor="t"/>
          <a:lstStyle/>
          <a:p>
            <a:pPr algn="ctr" indent="0" marL="0">
              <a:buNone/>
            </a:pPr>
            <a:r>
              <a:rPr lang="en-US" sz="1700" b="1" dirty="0">
                <a:solidFill>
                  <a:schemeClr val="bg1"/>
                </a:solidFill>
              </a:rPr>
              <a:t>Behavioral Intention</a:t>
            </a:r>
            <a:endParaRPr lang="en-US" sz="1700" dirty="0"/>
          </a:p>
        </p:txBody>
      </p:sp>
      <p:sp>
        <p:nvSpPr>
          <p:cNvPr id="27" name="Text 18"/>
          <p:cNvSpPr txBox="1"/>
          <p:nvPr/>
        </p:nvSpPr>
        <p:spPr>
          <a:xfrm>
            <a:off x="5577840" y="3429000"/>
            <a:ext cx="2194560" cy="320040"/>
          </a:xfrm>
          <a:prstGeom prst="rect">
            <a:avLst/>
          </a:prstGeom>
          <a:noFill/>
          <a:ln/>
        </p:spPr>
        <p:txBody>
          <a:bodyPr wrap="square" lIns="0" tIns="0" rIns="0" bIns="0" rtlCol="0" anchor="t"/>
          <a:lstStyle/>
          <a:p>
            <a:pPr algn="ctr" indent="0" marL="0">
              <a:buNone/>
            </a:pPr>
            <a:r>
              <a:rPr lang="en-US" sz="1300" dirty="0">
                <a:solidFill>
                  <a:schemeClr val="bg2"/>
                </a:solidFill>
              </a:rPr>
              <a:t>Niat menggunakan</a:t>
            </a:r>
            <a:endParaRPr lang="en-US" sz="1300" dirty="0"/>
          </a:p>
        </p:txBody>
      </p:sp>
      <p:sp>
        <p:nvSpPr>
          <p:cNvPr id="28" name="Use Behavior"/>
          <p:cNvSpPr/>
          <p:nvPr/>
        </p:nvSpPr>
        <p:spPr>
          <a:xfrm>
            <a:off x="9052560" y="2880360"/>
            <a:ext cx="2560320" cy="1005840"/>
          </a:xfrm>
          <a:prstGeom prst="roundRect">
            <a:avLst>
              <a:gd name="adj" fmla="val 10909"/>
            </a:avLst>
          </a:prstGeom>
          <a:solidFill>
            <a:schemeClr val="tx2"/>
          </a:solidFill>
          <a:ln/>
          <a:effectLst>
            <a:outerShdw sx="100000" sy="100000" kx="0" ky="0" algn="bl" rotWithShape="0" blurRad="101600" dist="25400" dir="5400000">
              <a:srgbClr val="1C1A33">
                <a:alpha val="14000"/>
              </a:srgbClr>
            </a:outerShdw>
          </a:effectLst>
        </p:spPr>
      </p:sp>
      <p:sp>
        <p:nvSpPr>
          <p:cNvPr id="29" name="Text 20"/>
          <p:cNvSpPr txBox="1"/>
          <p:nvPr/>
        </p:nvSpPr>
        <p:spPr>
          <a:xfrm>
            <a:off x="9235440" y="3017520"/>
            <a:ext cx="2194560" cy="411480"/>
          </a:xfrm>
          <a:prstGeom prst="rect">
            <a:avLst/>
          </a:prstGeom>
          <a:noFill/>
          <a:ln/>
        </p:spPr>
        <p:txBody>
          <a:bodyPr wrap="square" lIns="0" tIns="0" rIns="0" bIns="0" rtlCol="0" anchor="t"/>
          <a:lstStyle/>
          <a:p>
            <a:pPr algn="ctr" indent="0" marL="0">
              <a:buNone/>
            </a:pPr>
            <a:r>
              <a:rPr lang="en-US" sz="1700" b="1" dirty="0">
                <a:solidFill>
                  <a:schemeClr val="bg1"/>
                </a:solidFill>
              </a:rPr>
              <a:t>Use Behavior</a:t>
            </a:r>
            <a:endParaRPr lang="en-US" sz="1700" dirty="0"/>
          </a:p>
        </p:txBody>
      </p:sp>
      <p:sp>
        <p:nvSpPr>
          <p:cNvPr id="30" name="Text 21"/>
          <p:cNvSpPr txBox="1"/>
          <p:nvPr/>
        </p:nvSpPr>
        <p:spPr>
          <a:xfrm>
            <a:off x="9235440" y="3429000"/>
            <a:ext cx="2194560" cy="320040"/>
          </a:xfrm>
          <a:prstGeom prst="rect">
            <a:avLst/>
          </a:prstGeom>
          <a:noFill/>
          <a:ln/>
        </p:spPr>
        <p:txBody>
          <a:bodyPr wrap="square" lIns="0" tIns="0" rIns="0" bIns="0" rtlCol="0" anchor="t"/>
          <a:lstStyle/>
          <a:p>
            <a:pPr algn="ctr" indent="0" marL="0">
              <a:buNone/>
            </a:pPr>
            <a:r>
              <a:rPr lang="en-US" sz="1300" dirty="0">
                <a:solidFill>
                  <a:schemeClr val="bg2"/>
                </a:solidFill>
              </a:rPr>
              <a:t>Penggunaan nyata</a:t>
            </a:r>
            <a:endParaRPr lang="en-US" sz="1300" dirty="0"/>
          </a:p>
        </p:txBody>
      </p:sp>
      <p:sp>
        <p:nvSpPr>
          <p:cNvPr id="31" name="Panah ke BI Performance Expectancy"/>
          <p:cNvSpPr/>
          <p:nvPr/>
        </p:nvSpPr>
        <p:spPr>
          <a:xfrm>
            <a:off x="3840480" y="1828800"/>
            <a:ext cx="1554480" cy="1554480"/>
          </a:xfrm>
          <a:prstGeom prst="line">
            <a:avLst/>
          </a:prstGeom>
          <a:noFill/>
          <a:ln w="19050">
            <a:solidFill>
              <a:schemeClr val="tx2"/>
            </a:solidFill>
            <a:prstDash val="solid"/>
            <a:tailEnd type="triangle"/>
          </a:ln>
        </p:spPr>
      </p:sp>
      <p:sp>
        <p:nvSpPr>
          <p:cNvPr id="32" name="Panah ke BI Effort Expectancy"/>
          <p:cNvSpPr/>
          <p:nvPr/>
        </p:nvSpPr>
        <p:spPr>
          <a:xfrm>
            <a:off x="3840480" y="2487168"/>
            <a:ext cx="1554480" cy="896112"/>
          </a:xfrm>
          <a:prstGeom prst="line">
            <a:avLst/>
          </a:prstGeom>
          <a:noFill/>
          <a:ln w="19050">
            <a:solidFill>
              <a:schemeClr val="tx2"/>
            </a:solidFill>
            <a:prstDash val="solid"/>
            <a:tailEnd type="triangle"/>
          </a:ln>
        </p:spPr>
      </p:sp>
      <p:sp>
        <p:nvSpPr>
          <p:cNvPr id="33" name="Panah ke BI Social Influence"/>
          <p:cNvSpPr/>
          <p:nvPr/>
        </p:nvSpPr>
        <p:spPr>
          <a:xfrm>
            <a:off x="3840480" y="3145536"/>
            <a:ext cx="1554480" cy="237744"/>
          </a:xfrm>
          <a:prstGeom prst="line">
            <a:avLst/>
          </a:prstGeom>
          <a:noFill/>
          <a:ln w="19050">
            <a:solidFill>
              <a:schemeClr val="tx2"/>
            </a:solidFill>
            <a:prstDash val="solid"/>
            <a:tailEnd type="triangle"/>
          </a:ln>
        </p:spPr>
      </p:sp>
      <p:sp>
        <p:nvSpPr>
          <p:cNvPr id="34" name="Panah ke BI Hedonic Motivation"/>
          <p:cNvSpPr/>
          <p:nvPr/>
        </p:nvSpPr>
        <p:spPr>
          <a:xfrm flipV="1">
            <a:off x="3840480" y="3383280"/>
            <a:ext cx="1554480" cy="420624"/>
          </a:xfrm>
          <a:prstGeom prst="line">
            <a:avLst/>
          </a:prstGeom>
          <a:noFill/>
          <a:ln w="19050">
            <a:solidFill>
              <a:schemeClr val="tx2"/>
            </a:solidFill>
            <a:prstDash val="solid"/>
            <a:tailEnd type="triangle"/>
          </a:ln>
        </p:spPr>
      </p:sp>
      <p:sp>
        <p:nvSpPr>
          <p:cNvPr id="35" name="Panah ke BI Price Value"/>
          <p:cNvSpPr/>
          <p:nvPr/>
        </p:nvSpPr>
        <p:spPr>
          <a:xfrm flipV="1">
            <a:off x="3840480" y="3383280"/>
            <a:ext cx="1554480" cy="1078992"/>
          </a:xfrm>
          <a:prstGeom prst="line">
            <a:avLst/>
          </a:prstGeom>
          <a:noFill/>
          <a:ln w="19050">
            <a:solidFill>
              <a:schemeClr val="tx2"/>
            </a:solidFill>
            <a:prstDash val="solid"/>
            <a:tailEnd type="triangle"/>
          </a:ln>
        </p:spPr>
      </p:sp>
      <p:sp>
        <p:nvSpPr>
          <p:cNvPr id="36" name="Panah ke BI Facilitating Conditions"/>
          <p:cNvSpPr/>
          <p:nvPr/>
        </p:nvSpPr>
        <p:spPr>
          <a:xfrm flipV="1">
            <a:off x="3840480" y="3383280"/>
            <a:ext cx="1554480" cy="1737360"/>
          </a:xfrm>
          <a:prstGeom prst="line">
            <a:avLst/>
          </a:prstGeom>
          <a:noFill/>
          <a:ln w="19050">
            <a:solidFill>
              <a:schemeClr val="tx2"/>
            </a:solidFill>
            <a:prstDash val="solid"/>
            <a:tailEnd type="triangle"/>
          </a:ln>
        </p:spPr>
      </p:sp>
      <p:sp>
        <p:nvSpPr>
          <p:cNvPr id="37" name="Panah ke BI Habit"/>
          <p:cNvSpPr/>
          <p:nvPr/>
        </p:nvSpPr>
        <p:spPr>
          <a:xfrm flipV="1">
            <a:off x="3840480" y="3383280"/>
            <a:ext cx="1554480" cy="2395728"/>
          </a:xfrm>
          <a:prstGeom prst="line">
            <a:avLst/>
          </a:prstGeom>
          <a:noFill/>
          <a:ln w="19050">
            <a:solidFill>
              <a:schemeClr val="tx2"/>
            </a:solidFill>
            <a:prstDash val="solid"/>
            <a:tailEnd type="triangle"/>
          </a:ln>
        </p:spPr>
      </p:sp>
      <p:sp>
        <p:nvSpPr>
          <p:cNvPr id="38" name="Panah BI ke UB"/>
          <p:cNvSpPr/>
          <p:nvPr/>
        </p:nvSpPr>
        <p:spPr>
          <a:xfrm>
            <a:off x="7955280" y="3383280"/>
            <a:ext cx="1097280" cy="0"/>
          </a:xfrm>
          <a:prstGeom prst="line">
            <a:avLst/>
          </a:prstGeom>
          <a:noFill/>
          <a:ln w="25400">
            <a:solidFill>
              <a:schemeClr val="tx2"/>
            </a:solidFill>
            <a:prstDash val="solid"/>
            <a:tailEnd type="triangle"/>
          </a:ln>
        </p:spPr>
      </p:sp>
      <p:sp>
        <p:nvSpPr>
          <p:cNvPr id="39" name="FC ke UB horizontal"/>
          <p:cNvSpPr/>
          <p:nvPr/>
        </p:nvSpPr>
        <p:spPr>
          <a:xfrm>
            <a:off x="3840480" y="5120640"/>
            <a:ext cx="6126480" cy="0"/>
          </a:xfrm>
          <a:prstGeom prst="line">
            <a:avLst/>
          </a:prstGeom>
          <a:noFill/>
          <a:ln w="25400">
            <a:solidFill>
              <a:schemeClr val="accent4"/>
            </a:solidFill>
            <a:prstDash val="solid"/>
          </a:ln>
        </p:spPr>
      </p:sp>
      <p:sp>
        <p:nvSpPr>
          <p:cNvPr id="40" name="FC ke UB vertikal"/>
          <p:cNvSpPr/>
          <p:nvPr/>
        </p:nvSpPr>
        <p:spPr>
          <a:xfrm flipV="1">
            <a:off x="9966960" y="3886200"/>
            <a:ext cx="0" cy="1234440"/>
          </a:xfrm>
          <a:prstGeom prst="line">
            <a:avLst/>
          </a:prstGeom>
          <a:noFill/>
          <a:ln w="25400">
            <a:solidFill>
              <a:schemeClr val="accent4"/>
            </a:solidFill>
            <a:prstDash val="solid"/>
            <a:tailEnd type="triangle"/>
          </a:ln>
        </p:spPr>
      </p:sp>
      <p:sp>
        <p:nvSpPr>
          <p:cNvPr id="41" name="Habit ke UB horizontal"/>
          <p:cNvSpPr/>
          <p:nvPr/>
        </p:nvSpPr>
        <p:spPr>
          <a:xfrm>
            <a:off x="3840480" y="5779008"/>
            <a:ext cx="6858000" cy="0"/>
          </a:xfrm>
          <a:prstGeom prst="line">
            <a:avLst/>
          </a:prstGeom>
          <a:noFill/>
          <a:ln w="25400">
            <a:solidFill>
              <a:schemeClr val="accent4"/>
            </a:solidFill>
            <a:prstDash val="solid"/>
          </a:ln>
        </p:spPr>
      </p:sp>
      <p:sp>
        <p:nvSpPr>
          <p:cNvPr id="42" name="Habit ke UB vertikal"/>
          <p:cNvSpPr/>
          <p:nvPr/>
        </p:nvSpPr>
        <p:spPr>
          <a:xfrm flipV="1">
            <a:off x="10698480" y="3886200"/>
            <a:ext cx="0" cy="1892808"/>
          </a:xfrm>
          <a:prstGeom prst="line">
            <a:avLst/>
          </a:prstGeom>
          <a:noFill/>
          <a:ln w="25400">
            <a:solidFill>
              <a:schemeClr val="accent4"/>
            </a:solidFill>
            <a:prstDash val="solid"/>
            <a:tailEnd type="triangle"/>
          </a:ln>
        </p:spPr>
      </p:sp>
      <p:sp>
        <p:nvSpPr>
          <p:cNvPr id="43" name="Text 34"/>
          <p:cNvSpPr txBox="1"/>
          <p:nvPr/>
        </p:nvSpPr>
        <p:spPr>
          <a:xfrm>
            <a:off x="5852160" y="4736592"/>
            <a:ext cx="4023360" cy="292608"/>
          </a:xfrm>
          <a:prstGeom prst="rect">
            <a:avLst/>
          </a:prstGeom>
          <a:noFill/>
          <a:ln/>
        </p:spPr>
        <p:txBody>
          <a:bodyPr wrap="square" lIns="0" tIns="0" rIns="0" bIns="0" rtlCol="0" anchor="t"/>
          <a:lstStyle/>
          <a:p>
            <a:pPr indent="0" marL="0">
              <a:buNone/>
            </a:pPr>
            <a:r>
              <a:rPr lang="en-US" sz="1200" i="1" dirty="0">
                <a:solidFill>
                  <a:schemeClr val="accent4"/>
                </a:solidFill>
              </a:rPr>
              <a:t>FC dan Habit juga berpengaruh langsung ke Use Behavior</a:t>
            </a:r>
            <a:endParaRPr lang="en-US" sz="1200" dirty="0"/>
          </a:p>
        </p:txBody>
      </p:sp>
      <p:sp>
        <p:nvSpPr>
          <p:cNvPr id="44" name="Text 35"/>
          <p:cNvSpPr txBox="1"/>
          <p:nvPr/>
        </p:nvSpPr>
        <p:spPr>
          <a:xfrm>
            <a:off x="5394960" y="1554480"/>
            <a:ext cx="2743200" cy="274320"/>
          </a:xfrm>
          <a:prstGeom prst="rect">
            <a:avLst/>
          </a:prstGeom>
          <a:noFill/>
          <a:ln/>
        </p:spPr>
        <p:txBody>
          <a:bodyPr wrap="square" lIns="0" tIns="0" rIns="0" bIns="0" rtlCol="0" anchor="t"/>
          <a:lstStyle/>
          <a:p>
            <a:pPr indent="0" marL="0">
              <a:buNone/>
            </a:pPr>
            <a:r>
              <a:rPr lang="en-US" sz="1200" b="1" dirty="0">
                <a:solidFill>
                  <a:schemeClr val="accent6"/>
                </a:solidFill>
              </a:rPr>
              <a:t>MODERATOR</a:t>
            </a:r>
            <a:endParaRPr lang="en-US" sz="1200" dirty="0"/>
          </a:p>
        </p:txBody>
      </p:sp>
      <p:sp>
        <p:nvSpPr>
          <p:cNvPr id="45" name="Moderator Age"/>
          <p:cNvSpPr/>
          <p:nvPr/>
        </p:nvSpPr>
        <p:spPr>
          <a:xfrm>
            <a:off x="5394960" y="1874520"/>
            <a:ext cx="868680" cy="384048"/>
          </a:xfrm>
          <a:prstGeom prst="roundRect">
            <a:avLst>
              <a:gd name="adj" fmla="val 50000"/>
            </a:avLst>
          </a:prstGeom>
          <a:solidFill>
            <a:srgbClr val="E7E5F3"/>
          </a:solidFill>
          <a:ln/>
        </p:spPr>
      </p:sp>
      <p:sp>
        <p:nvSpPr>
          <p:cNvPr id="46" name="Moderator Age teks"/>
          <p:cNvSpPr txBox="1"/>
          <p:nvPr/>
        </p:nvSpPr>
        <p:spPr>
          <a:xfrm>
            <a:off x="5394960" y="1874520"/>
            <a:ext cx="868680" cy="384048"/>
          </a:xfrm>
          <a:prstGeom prst="rect">
            <a:avLst/>
          </a:prstGeom>
          <a:noFill/>
          <a:ln/>
        </p:spPr>
        <p:txBody>
          <a:bodyPr wrap="square" lIns="0" tIns="0" rIns="0" bIns="0" rtlCol="0" anchor="ctr"/>
          <a:lstStyle/>
          <a:p>
            <a:pPr algn="ctr" indent="0" marL="0">
              <a:buNone/>
            </a:pPr>
            <a:r>
              <a:rPr lang="en-US" sz="1200" b="1" dirty="0">
                <a:solidFill>
                  <a:schemeClr val="tx2"/>
                </a:solidFill>
              </a:rPr>
              <a:t>Age</a:t>
            </a:r>
            <a:endParaRPr lang="en-US" sz="1200" dirty="0"/>
          </a:p>
        </p:txBody>
      </p:sp>
      <p:sp>
        <p:nvSpPr>
          <p:cNvPr id="47" name="Moderator Gender"/>
          <p:cNvSpPr/>
          <p:nvPr/>
        </p:nvSpPr>
        <p:spPr>
          <a:xfrm>
            <a:off x="6400800" y="1874520"/>
            <a:ext cx="1143000" cy="384048"/>
          </a:xfrm>
          <a:prstGeom prst="roundRect">
            <a:avLst>
              <a:gd name="adj" fmla="val 50000"/>
            </a:avLst>
          </a:prstGeom>
          <a:solidFill>
            <a:srgbClr val="E7E5F3"/>
          </a:solidFill>
          <a:ln/>
        </p:spPr>
      </p:sp>
      <p:sp>
        <p:nvSpPr>
          <p:cNvPr id="48" name="Moderator Gender teks"/>
          <p:cNvSpPr txBox="1"/>
          <p:nvPr/>
        </p:nvSpPr>
        <p:spPr>
          <a:xfrm>
            <a:off x="6400800" y="1874520"/>
            <a:ext cx="1143000" cy="384048"/>
          </a:xfrm>
          <a:prstGeom prst="rect">
            <a:avLst/>
          </a:prstGeom>
          <a:noFill/>
          <a:ln/>
        </p:spPr>
        <p:txBody>
          <a:bodyPr wrap="square" lIns="0" tIns="0" rIns="0" bIns="0" rtlCol="0" anchor="ctr"/>
          <a:lstStyle/>
          <a:p>
            <a:pPr algn="ctr" indent="0" marL="0">
              <a:buNone/>
            </a:pPr>
            <a:r>
              <a:rPr lang="en-US" sz="1200" b="1" dirty="0">
                <a:solidFill>
                  <a:schemeClr val="tx2"/>
                </a:solidFill>
              </a:rPr>
              <a:t>Gender</a:t>
            </a:r>
            <a:endParaRPr lang="en-US" sz="1200" dirty="0"/>
          </a:p>
        </p:txBody>
      </p:sp>
      <p:sp>
        <p:nvSpPr>
          <p:cNvPr id="49" name="Moderator Experience"/>
          <p:cNvSpPr/>
          <p:nvPr/>
        </p:nvSpPr>
        <p:spPr>
          <a:xfrm>
            <a:off x="7680960" y="1874520"/>
            <a:ext cx="1417320" cy="384048"/>
          </a:xfrm>
          <a:prstGeom prst="roundRect">
            <a:avLst>
              <a:gd name="adj" fmla="val 50000"/>
            </a:avLst>
          </a:prstGeom>
          <a:solidFill>
            <a:srgbClr val="E7E5F3"/>
          </a:solidFill>
          <a:ln/>
        </p:spPr>
      </p:sp>
      <p:sp>
        <p:nvSpPr>
          <p:cNvPr id="50" name="Moderator Experience teks"/>
          <p:cNvSpPr txBox="1"/>
          <p:nvPr/>
        </p:nvSpPr>
        <p:spPr>
          <a:xfrm>
            <a:off x="7680960" y="1874520"/>
            <a:ext cx="1417320" cy="384048"/>
          </a:xfrm>
          <a:prstGeom prst="rect">
            <a:avLst/>
          </a:prstGeom>
          <a:noFill/>
          <a:ln/>
        </p:spPr>
        <p:txBody>
          <a:bodyPr wrap="square" lIns="0" tIns="0" rIns="0" bIns="0" rtlCol="0" anchor="ctr"/>
          <a:lstStyle/>
          <a:p>
            <a:pPr algn="ctr" indent="0" marL="0">
              <a:buNone/>
            </a:pPr>
            <a:r>
              <a:rPr lang="en-US" sz="1200" b="1" dirty="0">
                <a:solidFill>
                  <a:schemeClr val="tx2"/>
                </a:solidFill>
              </a:rPr>
              <a:t>Experience</a:t>
            </a:r>
            <a:endParaRPr lang="en-US" sz="1200" dirty="0"/>
          </a:p>
        </p:txBody>
      </p:sp>
      <p:sp>
        <p:nvSpPr>
          <p:cNvPr id="51" name="Moderator dihapus"/>
          <p:cNvSpPr/>
          <p:nvPr/>
        </p:nvSpPr>
        <p:spPr>
          <a:xfrm>
            <a:off x="9235440" y="1874520"/>
            <a:ext cx="2240280" cy="384048"/>
          </a:xfrm>
          <a:prstGeom prst="roundRect">
            <a:avLst>
              <a:gd name="adj" fmla="val 50000"/>
            </a:avLst>
          </a:prstGeom>
          <a:solidFill>
            <a:schemeClr val="bg1"/>
          </a:solidFill>
          <a:ln/>
        </p:spPr>
      </p:sp>
      <p:sp>
        <p:nvSpPr>
          <p:cNvPr id="52" name="Moderator dihapus teks"/>
          <p:cNvSpPr txBox="1"/>
          <p:nvPr/>
        </p:nvSpPr>
        <p:spPr>
          <a:xfrm>
            <a:off x="9235440" y="1874520"/>
            <a:ext cx="2240280" cy="384048"/>
          </a:xfrm>
          <a:prstGeom prst="rect">
            <a:avLst/>
          </a:prstGeom>
          <a:noFill/>
          <a:ln/>
        </p:spPr>
        <p:txBody>
          <a:bodyPr wrap="square" lIns="0" tIns="0" rIns="0" bIns="0" rtlCol="0" anchor="ctr"/>
          <a:lstStyle/>
          <a:p>
            <a:pPr algn="ctr" indent="0" marL="0">
              <a:buNone/>
            </a:pPr>
            <a:r>
              <a:rPr lang="en-US" sz="1200" b="1" dirty="0">
                <a:solidFill>
                  <a:schemeClr val="accent6"/>
                </a:solidFill>
              </a:rPr>
              <a:t>Voluntariness dihapus</a:t>
            </a:r>
            <a:endParaRPr lang="en-US" sz="1200" dirty="0"/>
          </a:p>
        </p:txBody>
      </p:sp>
      <p:sp>
        <p:nvSpPr>
          <p:cNvPr id="53" name="Coret voluntariness"/>
          <p:cNvSpPr/>
          <p:nvPr/>
        </p:nvSpPr>
        <p:spPr>
          <a:xfrm>
            <a:off x="9555480" y="2066544"/>
            <a:ext cx="1600200" cy="0"/>
          </a:xfrm>
          <a:prstGeom prst="line">
            <a:avLst/>
          </a:prstGeom>
          <a:noFill/>
          <a:ln w="12700">
            <a:solidFill>
              <a:schemeClr val="accent6"/>
            </a:solidFill>
            <a:prstDash val="solid"/>
          </a:ln>
        </p:spPr>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MODERATOR UTAUT2</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Usia, gender, dan pengalaman tetap berperan</a:t>
            </a:r>
            <a:endParaRPr lang="en-US" sz="3400" dirty="0"/>
          </a:p>
        </p:txBody>
      </p:sp>
      <p:graphicFrame>
        <p:nvGraphicFramePr>
          <p:cNvPr id="18" name="Tabel moderator UTAUT2"/>
          <p:cNvGraphicFramePr>
            <a:graphicFrameLocks noGrp="1"/>
          </p:cNvGraphicFramePr>
          <p:nvPr>
            <p:extLst>
              <p:ext uri="{D42A27DB-BD31-4B8C-83A1-F6EECF244321}">
                <p14:modId xmlns:p14="http://schemas.microsoft.com/office/powerpoint/2010/main" val="1579011935"/>
              </p:ext>
            </p:extLst>
          </p:nvPr>
        </p:nvGraphicFramePr>
        <p:xfrm>
          <a:off x="548640" y="1554480"/>
          <a:ext cx="7589520" cy="914400"/>
        </p:xfrm>
        <a:graphic>
          <a:graphicData uri="http://schemas.openxmlformats.org/drawingml/2006/table">
            <a:tbl>
              <a:tblPr/>
              <a:tblGrid>
                <a:gridCol w="1325880"/>
                <a:gridCol w="731520"/>
                <a:gridCol w="822960"/>
                <a:gridCol w="731520"/>
                <a:gridCol w="3977640"/>
              </a:tblGrid>
              <a:tr h="640080">
                <a:tc>
                  <a:txBody>
                    <a:bodyPr/>
                    <a:lstStyle/>
                    <a:p>
                      <a:pPr algn="ctr" indent="0" marL="0">
                        <a:buNone/>
                      </a:pPr>
                      <a:r>
                        <a:rPr lang="en-US" sz="1300" b="1" dirty="0">
                          <a:solidFill>
                            <a:schemeClr val="bg1"/>
                          </a:solidFill>
                        </a:rPr>
                        <a:t>Hubungan</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Age</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Gender</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Exp.</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Pola temuan (Venkatesh dkk., 2012)</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r>
              <a:tr h="640080">
                <a:tc>
                  <a:txBody>
                    <a:bodyPr/>
                    <a:lstStyle/>
                    <a:p>
                      <a:pPr indent="0" marL="0">
                        <a:buNone/>
                      </a:pPr>
                      <a:r>
                        <a:rPr lang="en-US" sz="1300" b="1" dirty="0">
                          <a:solidFill>
                            <a:schemeClr val="tx2"/>
                          </a:solidFill>
                        </a:rPr>
                        <a:t>FC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Lebih kuat pada wanita usia lebih tua di tahap awal pengalaman</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tx2"/>
                          </a:solidFill>
                        </a:rPr>
                        <a:t>HM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Lebih kuat pada pria usia muda di tahap awal pengalaman</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2"/>
                          </a:solidFill>
                        </a:rPr>
                        <a:t>PV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Lebih kuat pada wanita usia lebih tua</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tx2"/>
                          </a:solidFill>
                        </a:rPr>
                        <a:t>Habit → BI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Lebih kuat pada pria usia lebih tua dengan pengalaman tinggi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2"/>
                          </a:solidFill>
                        </a:rPr>
                        <a:t>Habit → UB</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Lebih kuat pada pria usia lebih tua dengan pengalaman tinggi</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tx2"/>
                          </a:solidFill>
                        </a:rPr>
                        <a:t>BI → UB</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a:t>
                      </a:r>
                      <a:endParaRPr lang="en-US" sz="16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Melemah seiring bertambahnya pengalaman (kebiasaan mengambil alih)</a:t>
                      </a:r>
                      <a:endParaRPr lang="en-US" sz="1300" dirty="0"/>
                    </a:p>
                  </a:txBody>
                  <a:tcPr marL="73152" marR="73152" marT="73152" marB="73152"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bl>
          </a:graphicData>
        </a:graphic>
      </p:graphicFrame>
      <p:sp>
        <p:nvSpPr>
          <p:cNvPr id="5" name="Kartu insight"/>
          <p:cNvSpPr/>
          <p:nvPr/>
        </p:nvSpPr>
        <p:spPr>
          <a:xfrm>
            <a:off x="8458200" y="1554480"/>
            <a:ext cx="3182112" cy="4480560"/>
          </a:xfrm>
          <a:prstGeom prst="roundRect">
            <a:avLst>
              <a:gd name="adj" fmla="val 3448"/>
            </a:avLst>
          </a:prstGeom>
          <a:solidFill>
            <a:schemeClr val="tx2"/>
          </a:solidFill>
          <a:ln/>
        </p:spPr>
      </p:sp>
      <p:sp>
        <p:nvSpPr>
          <p:cNvPr id="6" name="Insight lingkaran"/>
          <p:cNvSpPr/>
          <p:nvPr/>
        </p:nvSpPr>
        <p:spPr>
          <a:xfrm>
            <a:off x="8732520" y="1828800"/>
            <a:ext cx="640080" cy="640080"/>
          </a:xfrm>
          <a:prstGeom prst="ellipse">
            <a:avLst/>
          </a:prstGeom>
          <a:solidFill>
            <a:schemeClr val="accent2"/>
          </a:solidFill>
          <a:ln/>
        </p:spPr>
      </p:sp>
      <p:pic>
        <p:nvPicPr>
          <p:cNvPr id="7" name="Insight ikon" descr="preencoded.png">    </p:cNvPr>
          <p:cNvPicPr>
            <a:picLocks noChangeAspect="1"/>
          </p:cNvPicPr>
          <p:nvPr/>
        </p:nvPicPr>
        <p:blipFill>
          <a:blip r:embed="rId1"/>
          <a:stretch>
            <a:fillRect/>
          </a:stretch>
        </p:blipFill>
        <p:spPr>
          <a:xfrm>
            <a:off x="8886139" y="1982419"/>
            <a:ext cx="332842" cy="332842"/>
          </a:xfrm>
          <a:prstGeom prst="rect">
            <a:avLst/>
          </a:prstGeom>
        </p:spPr>
      </p:pic>
      <p:sp>
        <p:nvSpPr>
          <p:cNvPr id="8" name="Text 4"/>
          <p:cNvSpPr txBox="1"/>
          <p:nvPr/>
        </p:nvSpPr>
        <p:spPr>
          <a:xfrm>
            <a:off x="8732520" y="2606040"/>
            <a:ext cx="2651760" cy="365760"/>
          </a:xfrm>
          <a:prstGeom prst="rect">
            <a:avLst/>
          </a:prstGeom>
          <a:noFill/>
          <a:ln/>
        </p:spPr>
        <p:txBody>
          <a:bodyPr wrap="square" lIns="0" tIns="0" rIns="0" bIns="0" rtlCol="0" anchor="t"/>
          <a:lstStyle/>
          <a:p>
            <a:pPr indent="0" marL="0">
              <a:buNone/>
            </a:pPr>
            <a:r>
              <a:rPr lang="en-US" sz="1800" b="1" dirty="0">
                <a:solidFill>
                  <a:schemeClr val="accent2"/>
                </a:solidFill>
              </a:rPr>
              <a:t>Insight</a:t>
            </a:r>
            <a:endParaRPr lang="en-US" sz="1800" dirty="0"/>
          </a:p>
        </p:txBody>
      </p:sp>
      <p:sp>
        <p:nvSpPr>
          <p:cNvPr id="9" name="Text 5"/>
          <p:cNvSpPr txBox="1"/>
          <p:nvPr/>
        </p:nvSpPr>
        <p:spPr>
          <a:xfrm>
            <a:off x="8732520" y="3017520"/>
            <a:ext cx="2651760" cy="1828800"/>
          </a:xfrm>
          <a:prstGeom prst="rect">
            <a:avLst/>
          </a:prstGeom>
          <a:noFill/>
          <a:ln/>
        </p:spPr>
        <p:txBody>
          <a:bodyPr wrap="square" lIns="0" tIns="0" rIns="0" bIns="0" rtlCol="0" anchor="t"/>
          <a:lstStyle/>
          <a:p>
            <a:pPr indent="0" marL="0">
              <a:buNone/>
            </a:pPr>
            <a:r>
              <a:rPr lang="en-US" sz="1500" dirty="0">
                <a:solidFill>
                  <a:schemeClr val="bg1"/>
                </a:solidFill>
              </a:rPr>
              <a:t>Semakin berpengalaman seseorang, penggunaannya makin digerakkan oleh kebiasaan, bukan lagi oleh niat yang dipikirkan secara sadar.</a:t>
            </a:r>
            <a:endParaRPr lang="en-US" sz="1500" dirty="0"/>
          </a:p>
        </p:txBody>
      </p:sp>
      <p:sp>
        <p:nvSpPr>
          <p:cNvPr id="10" name="Text 6"/>
          <p:cNvSpPr txBox="1"/>
          <p:nvPr/>
        </p:nvSpPr>
        <p:spPr>
          <a:xfrm>
            <a:off x="8732520" y="4937760"/>
            <a:ext cx="2651760" cy="914400"/>
          </a:xfrm>
          <a:prstGeom prst="rect">
            <a:avLst/>
          </a:prstGeom>
          <a:noFill/>
          <a:ln/>
        </p:spPr>
        <p:txBody>
          <a:bodyPr wrap="square" lIns="0" tIns="0" rIns="0" bIns="0" rtlCol="0" anchor="t"/>
          <a:lstStyle/>
          <a:p>
            <a:pPr indent="0" marL="0">
              <a:buNone/>
            </a:pPr>
            <a:r>
              <a:rPr lang="en-US" sz="1300" dirty="0">
                <a:solidFill>
                  <a:schemeClr val="bg2"/>
                </a:solidFill>
              </a:rPr>
              <a:t>PE, EE, dan SI tetap mengikuti moderasi UTAUT (tanpa voluntariness).</a:t>
            </a:r>
            <a:endParaRPr lang="en-US" sz="13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STUDI KASUS UTAUT2</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Mengapa orang berlangganan Spotify Premium?</a:t>
            </a:r>
            <a:endParaRPr lang="en-US" sz="3400" dirty="0"/>
          </a:p>
        </p:txBody>
      </p:sp>
      <p:sp>
        <p:nvSpPr>
          <p:cNvPr id="4" name="Performance Expectancy"/>
          <p:cNvSpPr/>
          <p:nvPr/>
        </p:nvSpPr>
        <p:spPr>
          <a:xfrm>
            <a:off x="548640" y="155448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5" name="Performance Expectancy lingkaran"/>
          <p:cNvSpPr/>
          <p:nvPr/>
        </p:nvSpPr>
        <p:spPr>
          <a:xfrm>
            <a:off x="731520" y="1737360"/>
            <a:ext cx="457200" cy="457200"/>
          </a:xfrm>
          <a:prstGeom prst="ellipse">
            <a:avLst/>
          </a:prstGeom>
          <a:solidFill>
            <a:schemeClr val="accent1"/>
          </a:solidFill>
          <a:ln/>
        </p:spPr>
      </p:sp>
      <p:pic>
        <p:nvPicPr>
          <p:cNvPr id="6" name="Performance Expectancy ikon" descr="preencoded.png">    </p:cNvPr>
          <p:cNvPicPr>
            <a:picLocks noChangeAspect="1"/>
          </p:cNvPicPr>
          <p:nvPr/>
        </p:nvPicPr>
        <p:blipFill>
          <a:blip r:embed="rId1"/>
          <a:stretch>
            <a:fillRect/>
          </a:stretch>
        </p:blipFill>
        <p:spPr>
          <a:xfrm>
            <a:off x="841248" y="1847088"/>
            <a:ext cx="237744" cy="237744"/>
          </a:xfrm>
          <a:prstGeom prst="rect">
            <a:avLst/>
          </a:prstGeom>
        </p:spPr>
      </p:pic>
      <p:sp>
        <p:nvSpPr>
          <p:cNvPr id="7" name="Text 4"/>
          <p:cNvSpPr txBox="1"/>
          <p:nvPr/>
        </p:nvSpPr>
        <p:spPr>
          <a:xfrm>
            <a:off x="1280160" y="1737360"/>
            <a:ext cx="1737360" cy="457200"/>
          </a:xfrm>
          <a:prstGeom prst="rect">
            <a:avLst/>
          </a:prstGeom>
          <a:noFill/>
          <a:ln/>
        </p:spPr>
        <p:txBody>
          <a:bodyPr wrap="square" lIns="0" tIns="0" rIns="0" bIns="0" rtlCol="0" anchor="ctr"/>
          <a:lstStyle/>
          <a:p>
            <a:pPr indent="0" marL="0">
              <a:buNone/>
            </a:pPr>
            <a:r>
              <a:rPr lang="en-US" sz="1200" b="1" dirty="0">
                <a:solidFill>
                  <a:schemeClr val="accent1"/>
                </a:solidFill>
              </a:rPr>
              <a:t>Performance Expectancy</a:t>
            </a:r>
            <a:endParaRPr lang="en-US" sz="1200" dirty="0"/>
          </a:p>
        </p:txBody>
      </p:sp>
      <p:sp>
        <p:nvSpPr>
          <p:cNvPr id="8" name="Text 5"/>
          <p:cNvSpPr txBox="1"/>
          <p:nvPr/>
        </p:nvSpPr>
        <p:spPr>
          <a:xfrm>
            <a:off x="731520" y="2304288"/>
            <a:ext cx="2240280" cy="868680"/>
          </a:xfrm>
          <a:prstGeom prst="rect">
            <a:avLst/>
          </a:prstGeom>
          <a:noFill/>
          <a:ln/>
        </p:spPr>
        <p:txBody>
          <a:bodyPr wrap="square" lIns="0" tIns="0" rIns="0" bIns="0" rtlCol="0" anchor="t"/>
          <a:lstStyle/>
          <a:p>
            <a:pPr indent="0" marL="0">
              <a:buNone/>
            </a:pPr>
            <a:r>
              <a:rPr lang="en-US" sz="1400" i="1" dirty="0">
                <a:solidFill>
                  <a:schemeClr val="tx1"/>
                </a:solidFill>
              </a:rPr>
              <a:t>“Memudahkan saya mencari dan mendengarkan musik.”</a:t>
            </a:r>
            <a:endParaRPr lang="en-US" sz="1400" dirty="0"/>
          </a:p>
        </p:txBody>
      </p:sp>
      <p:sp>
        <p:nvSpPr>
          <p:cNvPr id="9" name="Effort Expectancy"/>
          <p:cNvSpPr/>
          <p:nvPr/>
        </p:nvSpPr>
        <p:spPr>
          <a:xfrm>
            <a:off x="3376879" y="155448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10" name="Effort Expectancy lingkaran"/>
          <p:cNvSpPr/>
          <p:nvPr/>
        </p:nvSpPr>
        <p:spPr>
          <a:xfrm>
            <a:off x="3559759" y="1737360"/>
            <a:ext cx="457200" cy="457200"/>
          </a:xfrm>
          <a:prstGeom prst="ellipse">
            <a:avLst/>
          </a:prstGeom>
          <a:solidFill>
            <a:schemeClr val="accent1"/>
          </a:solidFill>
          <a:ln/>
        </p:spPr>
      </p:sp>
      <p:pic>
        <p:nvPicPr>
          <p:cNvPr id="11" name="Effort Expectancy ikon" descr="preencoded.png">    </p:cNvPr>
          <p:cNvPicPr>
            <a:picLocks noChangeAspect="1"/>
          </p:cNvPicPr>
          <p:nvPr/>
        </p:nvPicPr>
        <p:blipFill>
          <a:blip r:embed="rId2"/>
          <a:stretch>
            <a:fillRect/>
          </a:stretch>
        </p:blipFill>
        <p:spPr>
          <a:xfrm>
            <a:off x="3669487" y="1847088"/>
            <a:ext cx="237744" cy="237744"/>
          </a:xfrm>
          <a:prstGeom prst="rect">
            <a:avLst/>
          </a:prstGeom>
        </p:spPr>
      </p:pic>
      <p:sp>
        <p:nvSpPr>
          <p:cNvPr id="12" name="Text 8"/>
          <p:cNvSpPr txBox="1"/>
          <p:nvPr/>
        </p:nvSpPr>
        <p:spPr>
          <a:xfrm>
            <a:off x="4108399" y="1737360"/>
            <a:ext cx="1737360" cy="457200"/>
          </a:xfrm>
          <a:prstGeom prst="rect">
            <a:avLst/>
          </a:prstGeom>
          <a:noFill/>
          <a:ln/>
        </p:spPr>
        <p:txBody>
          <a:bodyPr wrap="square" lIns="0" tIns="0" rIns="0" bIns="0" rtlCol="0" anchor="ctr"/>
          <a:lstStyle/>
          <a:p>
            <a:pPr indent="0" marL="0">
              <a:buNone/>
            </a:pPr>
            <a:r>
              <a:rPr lang="en-US" sz="1200" b="1" dirty="0">
                <a:solidFill>
                  <a:schemeClr val="accent1"/>
                </a:solidFill>
              </a:rPr>
              <a:t>Effort Expectancy</a:t>
            </a:r>
            <a:endParaRPr lang="en-US" sz="1200" dirty="0"/>
          </a:p>
        </p:txBody>
      </p:sp>
      <p:sp>
        <p:nvSpPr>
          <p:cNvPr id="13" name="Text 9"/>
          <p:cNvSpPr txBox="1"/>
          <p:nvPr/>
        </p:nvSpPr>
        <p:spPr>
          <a:xfrm>
            <a:off x="3559759" y="2304288"/>
            <a:ext cx="2240280" cy="868680"/>
          </a:xfrm>
          <a:prstGeom prst="rect">
            <a:avLst/>
          </a:prstGeom>
          <a:noFill/>
          <a:ln/>
        </p:spPr>
        <p:txBody>
          <a:bodyPr wrap="square" lIns="0" tIns="0" rIns="0" bIns="0" rtlCol="0" anchor="t"/>
          <a:lstStyle/>
          <a:p>
            <a:pPr indent="0" marL="0">
              <a:buNone/>
            </a:pPr>
            <a:r>
              <a:rPr lang="en-US" sz="1400" i="1" dirty="0">
                <a:solidFill>
                  <a:schemeClr val="tx1"/>
                </a:solidFill>
              </a:rPr>
              <a:t>“Spotify mudah digunakan.”</a:t>
            </a:r>
            <a:endParaRPr lang="en-US" sz="1400" dirty="0"/>
          </a:p>
        </p:txBody>
      </p:sp>
      <p:sp>
        <p:nvSpPr>
          <p:cNvPr id="14" name="Social Influence"/>
          <p:cNvSpPr/>
          <p:nvPr/>
        </p:nvSpPr>
        <p:spPr>
          <a:xfrm>
            <a:off x="6205118" y="155448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15" name="Social Influence lingkaran"/>
          <p:cNvSpPr/>
          <p:nvPr/>
        </p:nvSpPr>
        <p:spPr>
          <a:xfrm>
            <a:off x="6387998" y="1737360"/>
            <a:ext cx="457200" cy="457200"/>
          </a:xfrm>
          <a:prstGeom prst="ellipse">
            <a:avLst/>
          </a:prstGeom>
          <a:solidFill>
            <a:schemeClr val="accent1"/>
          </a:solidFill>
          <a:ln/>
        </p:spPr>
      </p:sp>
      <p:pic>
        <p:nvPicPr>
          <p:cNvPr id="16" name="Social Influence ikon" descr="preencoded.png">    </p:cNvPr>
          <p:cNvPicPr>
            <a:picLocks noChangeAspect="1"/>
          </p:cNvPicPr>
          <p:nvPr/>
        </p:nvPicPr>
        <p:blipFill>
          <a:blip r:embed="rId3"/>
          <a:stretch>
            <a:fillRect/>
          </a:stretch>
        </p:blipFill>
        <p:spPr>
          <a:xfrm>
            <a:off x="6497726" y="1847088"/>
            <a:ext cx="237744" cy="237744"/>
          </a:xfrm>
          <a:prstGeom prst="rect">
            <a:avLst/>
          </a:prstGeom>
        </p:spPr>
      </p:pic>
      <p:sp>
        <p:nvSpPr>
          <p:cNvPr id="17" name="Text 12"/>
          <p:cNvSpPr txBox="1"/>
          <p:nvPr/>
        </p:nvSpPr>
        <p:spPr>
          <a:xfrm>
            <a:off x="6936638" y="1737360"/>
            <a:ext cx="1737360" cy="457200"/>
          </a:xfrm>
          <a:prstGeom prst="rect">
            <a:avLst/>
          </a:prstGeom>
          <a:noFill/>
          <a:ln/>
        </p:spPr>
        <p:txBody>
          <a:bodyPr wrap="square" lIns="0" tIns="0" rIns="0" bIns="0" rtlCol="0" anchor="ctr"/>
          <a:lstStyle/>
          <a:p>
            <a:pPr indent="0" marL="0">
              <a:buNone/>
            </a:pPr>
            <a:r>
              <a:rPr lang="en-US" sz="1200" b="1" dirty="0">
                <a:solidFill>
                  <a:schemeClr val="accent1"/>
                </a:solidFill>
              </a:rPr>
              <a:t>Social Influence</a:t>
            </a:r>
            <a:endParaRPr lang="en-US" sz="1200" dirty="0"/>
          </a:p>
        </p:txBody>
      </p:sp>
      <p:sp>
        <p:nvSpPr>
          <p:cNvPr id="18" name="Text 13"/>
          <p:cNvSpPr txBox="1"/>
          <p:nvPr/>
        </p:nvSpPr>
        <p:spPr>
          <a:xfrm>
            <a:off x="6387998" y="2304288"/>
            <a:ext cx="2240280" cy="868680"/>
          </a:xfrm>
          <a:prstGeom prst="rect">
            <a:avLst/>
          </a:prstGeom>
          <a:noFill/>
          <a:ln/>
        </p:spPr>
        <p:txBody>
          <a:bodyPr wrap="square" lIns="0" tIns="0" rIns="0" bIns="0" rtlCol="0" anchor="t"/>
          <a:lstStyle/>
          <a:p>
            <a:pPr indent="0" marL="0">
              <a:buNone/>
            </a:pPr>
            <a:r>
              <a:rPr lang="en-US" sz="1400" i="1" dirty="0">
                <a:solidFill>
                  <a:schemeClr val="tx1"/>
                </a:solidFill>
              </a:rPr>
              <a:t>“Teman-teman saya juga pakai Spotify.”</a:t>
            </a:r>
            <a:endParaRPr lang="en-US" sz="1400" dirty="0"/>
          </a:p>
        </p:txBody>
      </p:sp>
      <p:sp>
        <p:nvSpPr>
          <p:cNvPr id="19" name="Facilitating Conditions"/>
          <p:cNvSpPr/>
          <p:nvPr/>
        </p:nvSpPr>
        <p:spPr>
          <a:xfrm>
            <a:off x="9033358" y="155448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20" name="Facilitating Conditions lingkaran"/>
          <p:cNvSpPr/>
          <p:nvPr/>
        </p:nvSpPr>
        <p:spPr>
          <a:xfrm>
            <a:off x="9216238" y="1737360"/>
            <a:ext cx="457200" cy="457200"/>
          </a:xfrm>
          <a:prstGeom prst="ellipse">
            <a:avLst/>
          </a:prstGeom>
          <a:solidFill>
            <a:schemeClr val="accent1"/>
          </a:solidFill>
          <a:ln/>
        </p:spPr>
      </p:sp>
      <p:pic>
        <p:nvPicPr>
          <p:cNvPr id="21" name="Facilitating Conditions ikon" descr="preencoded.png">    </p:cNvPr>
          <p:cNvPicPr>
            <a:picLocks noChangeAspect="1"/>
          </p:cNvPicPr>
          <p:nvPr/>
        </p:nvPicPr>
        <p:blipFill>
          <a:blip r:embed="rId4"/>
          <a:stretch>
            <a:fillRect/>
          </a:stretch>
        </p:blipFill>
        <p:spPr>
          <a:xfrm>
            <a:off x="9325966" y="1847088"/>
            <a:ext cx="237744" cy="237744"/>
          </a:xfrm>
          <a:prstGeom prst="rect">
            <a:avLst/>
          </a:prstGeom>
        </p:spPr>
      </p:pic>
      <p:sp>
        <p:nvSpPr>
          <p:cNvPr id="22" name="Text 16"/>
          <p:cNvSpPr txBox="1"/>
          <p:nvPr/>
        </p:nvSpPr>
        <p:spPr>
          <a:xfrm>
            <a:off x="9764878" y="1737360"/>
            <a:ext cx="1737360" cy="457200"/>
          </a:xfrm>
          <a:prstGeom prst="rect">
            <a:avLst/>
          </a:prstGeom>
          <a:noFill/>
          <a:ln/>
        </p:spPr>
        <p:txBody>
          <a:bodyPr wrap="square" lIns="0" tIns="0" rIns="0" bIns="0" rtlCol="0" anchor="ctr"/>
          <a:lstStyle/>
          <a:p>
            <a:pPr indent="0" marL="0">
              <a:buNone/>
            </a:pPr>
            <a:r>
              <a:rPr lang="en-US" sz="1200" b="1" dirty="0">
                <a:solidFill>
                  <a:schemeClr val="accent1"/>
                </a:solidFill>
              </a:rPr>
              <a:t>Facilitating Conditions</a:t>
            </a:r>
            <a:endParaRPr lang="en-US" sz="1200" dirty="0"/>
          </a:p>
        </p:txBody>
      </p:sp>
      <p:sp>
        <p:nvSpPr>
          <p:cNvPr id="23" name="Text 17"/>
          <p:cNvSpPr txBox="1"/>
          <p:nvPr/>
        </p:nvSpPr>
        <p:spPr>
          <a:xfrm>
            <a:off x="9216238" y="2304288"/>
            <a:ext cx="2240280" cy="868680"/>
          </a:xfrm>
          <a:prstGeom prst="rect">
            <a:avLst/>
          </a:prstGeom>
          <a:noFill/>
          <a:ln/>
        </p:spPr>
        <p:txBody>
          <a:bodyPr wrap="square" lIns="0" tIns="0" rIns="0" bIns="0" rtlCol="0" anchor="t"/>
          <a:lstStyle/>
          <a:p>
            <a:pPr indent="0" marL="0">
              <a:buNone/>
            </a:pPr>
            <a:r>
              <a:rPr lang="en-US" sz="1400" i="1" dirty="0">
                <a:solidFill>
                  <a:schemeClr val="tx1"/>
                </a:solidFill>
              </a:rPr>
              <a:t>“HP dan internet saya mendukung.”</a:t>
            </a:r>
            <a:endParaRPr lang="en-US" sz="1400" dirty="0"/>
          </a:p>
        </p:txBody>
      </p:sp>
      <p:sp>
        <p:nvSpPr>
          <p:cNvPr id="24" name="Hedonic Motivation"/>
          <p:cNvSpPr/>
          <p:nvPr/>
        </p:nvSpPr>
        <p:spPr>
          <a:xfrm>
            <a:off x="548640" y="347472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25" name="Hedonic Motivation lingkaran"/>
          <p:cNvSpPr/>
          <p:nvPr/>
        </p:nvSpPr>
        <p:spPr>
          <a:xfrm>
            <a:off x="731520" y="3657600"/>
            <a:ext cx="457200" cy="457200"/>
          </a:xfrm>
          <a:prstGeom prst="ellipse">
            <a:avLst/>
          </a:prstGeom>
          <a:solidFill>
            <a:schemeClr val="accent2"/>
          </a:solidFill>
          <a:ln/>
        </p:spPr>
      </p:sp>
      <p:pic>
        <p:nvPicPr>
          <p:cNvPr id="26" name="Hedonic Motivation ikon" descr="preencoded.png">    </p:cNvPr>
          <p:cNvPicPr>
            <a:picLocks noChangeAspect="1"/>
          </p:cNvPicPr>
          <p:nvPr/>
        </p:nvPicPr>
        <p:blipFill>
          <a:blip r:embed="rId5"/>
          <a:stretch>
            <a:fillRect/>
          </a:stretch>
        </p:blipFill>
        <p:spPr>
          <a:xfrm>
            <a:off x="841248" y="3767328"/>
            <a:ext cx="237744" cy="237744"/>
          </a:xfrm>
          <a:prstGeom prst="rect">
            <a:avLst/>
          </a:prstGeom>
        </p:spPr>
      </p:pic>
      <p:sp>
        <p:nvSpPr>
          <p:cNvPr id="27" name="Text 20"/>
          <p:cNvSpPr txBox="1"/>
          <p:nvPr/>
        </p:nvSpPr>
        <p:spPr>
          <a:xfrm>
            <a:off x="1280160" y="3657600"/>
            <a:ext cx="1737360" cy="457200"/>
          </a:xfrm>
          <a:prstGeom prst="rect">
            <a:avLst/>
          </a:prstGeom>
          <a:noFill/>
          <a:ln/>
        </p:spPr>
        <p:txBody>
          <a:bodyPr wrap="square" lIns="0" tIns="0" rIns="0" bIns="0" rtlCol="0" anchor="ctr"/>
          <a:lstStyle/>
          <a:p>
            <a:pPr indent="0" marL="0">
              <a:buNone/>
            </a:pPr>
            <a:r>
              <a:rPr lang="en-US" sz="1200" b="1" dirty="0">
                <a:solidFill>
                  <a:schemeClr val="accent2"/>
                </a:solidFill>
              </a:rPr>
              <a:t>Hedonic Motivation</a:t>
            </a:r>
            <a:endParaRPr lang="en-US" sz="1200" dirty="0"/>
          </a:p>
        </p:txBody>
      </p:sp>
      <p:sp>
        <p:nvSpPr>
          <p:cNvPr id="28" name="Text 21"/>
          <p:cNvSpPr txBox="1"/>
          <p:nvPr/>
        </p:nvSpPr>
        <p:spPr>
          <a:xfrm>
            <a:off x="731520" y="4224528"/>
            <a:ext cx="2240280" cy="868680"/>
          </a:xfrm>
          <a:prstGeom prst="rect">
            <a:avLst/>
          </a:prstGeom>
          <a:noFill/>
          <a:ln/>
        </p:spPr>
        <p:txBody>
          <a:bodyPr wrap="square" lIns="0" tIns="0" rIns="0" bIns="0" rtlCol="0" anchor="t"/>
          <a:lstStyle/>
          <a:p>
            <a:pPr indent="0" marL="0">
              <a:buNone/>
            </a:pPr>
            <a:r>
              <a:rPr lang="en-US" sz="1400" i="1" dirty="0">
                <a:solidFill>
                  <a:schemeClr val="tx1"/>
                </a:solidFill>
              </a:rPr>
              <a:t>“Mendengarkan musik di Spotify itu menyenangkan.”</a:t>
            </a:r>
            <a:endParaRPr lang="en-US" sz="1400" dirty="0"/>
          </a:p>
        </p:txBody>
      </p:sp>
      <p:sp>
        <p:nvSpPr>
          <p:cNvPr id="29" name="Price Value"/>
          <p:cNvSpPr/>
          <p:nvPr/>
        </p:nvSpPr>
        <p:spPr>
          <a:xfrm>
            <a:off x="3376879" y="347472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30" name="Price Value lingkaran"/>
          <p:cNvSpPr/>
          <p:nvPr/>
        </p:nvSpPr>
        <p:spPr>
          <a:xfrm>
            <a:off x="3559759" y="3657600"/>
            <a:ext cx="457200" cy="457200"/>
          </a:xfrm>
          <a:prstGeom prst="ellipse">
            <a:avLst/>
          </a:prstGeom>
          <a:solidFill>
            <a:schemeClr val="accent2"/>
          </a:solidFill>
          <a:ln/>
        </p:spPr>
      </p:sp>
      <p:pic>
        <p:nvPicPr>
          <p:cNvPr id="31" name="Price Value ikon" descr="preencoded.png">    </p:cNvPr>
          <p:cNvPicPr>
            <a:picLocks noChangeAspect="1"/>
          </p:cNvPicPr>
          <p:nvPr/>
        </p:nvPicPr>
        <p:blipFill>
          <a:blip r:embed="rId6"/>
          <a:stretch>
            <a:fillRect/>
          </a:stretch>
        </p:blipFill>
        <p:spPr>
          <a:xfrm>
            <a:off x="3669487" y="3767328"/>
            <a:ext cx="237744" cy="237744"/>
          </a:xfrm>
          <a:prstGeom prst="rect">
            <a:avLst/>
          </a:prstGeom>
        </p:spPr>
      </p:pic>
      <p:sp>
        <p:nvSpPr>
          <p:cNvPr id="32" name="Text 24"/>
          <p:cNvSpPr txBox="1"/>
          <p:nvPr/>
        </p:nvSpPr>
        <p:spPr>
          <a:xfrm>
            <a:off x="4108399" y="3657600"/>
            <a:ext cx="1737360" cy="457200"/>
          </a:xfrm>
          <a:prstGeom prst="rect">
            <a:avLst/>
          </a:prstGeom>
          <a:noFill/>
          <a:ln/>
        </p:spPr>
        <p:txBody>
          <a:bodyPr wrap="square" lIns="0" tIns="0" rIns="0" bIns="0" rtlCol="0" anchor="ctr"/>
          <a:lstStyle/>
          <a:p>
            <a:pPr indent="0" marL="0">
              <a:buNone/>
            </a:pPr>
            <a:r>
              <a:rPr lang="en-US" sz="1200" b="1" dirty="0">
                <a:solidFill>
                  <a:schemeClr val="accent2"/>
                </a:solidFill>
              </a:rPr>
              <a:t>Price Value</a:t>
            </a:r>
            <a:endParaRPr lang="en-US" sz="1200" dirty="0"/>
          </a:p>
        </p:txBody>
      </p:sp>
      <p:sp>
        <p:nvSpPr>
          <p:cNvPr id="33" name="Text 25"/>
          <p:cNvSpPr txBox="1"/>
          <p:nvPr/>
        </p:nvSpPr>
        <p:spPr>
          <a:xfrm>
            <a:off x="3559759" y="4224528"/>
            <a:ext cx="2240280" cy="868680"/>
          </a:xfrm>
          <a:prstGeom prst="rect">
            <a:avLst/>
          </a:prstGeom>
          <a:noFill/>
          <a:ln/>
        </p:spPr>
        <p:txBody>
          <a:bodyPr wrap="square" lIns="0" tIns="0" rIns="0" bIns="0" rtlCol="0" anchor="t"/>
          <a:lstStyle/>
          <a:p>
            <a:pPr indent="0" marL="0">
              <a:buNone/>
            </a:pPr>
            <a:r>
              <a:rPr lang="en-US" sz="1400" i="1" dirty="0">
                <a:solidFill>
                  <a:schemeClr val="tx1"/>
                </a:solidFill>
              </a:rPr>
              <a:t>“Harga Premium sebanding dengan fiturnya.”</a:t>
            </a:r>
            <a:endParaRPr lang="en-US" sz="1400" dirty="0"/>
          </a:p>
        </p:txBody>
      </p:sp>
      <p:sp>
        <p:nvSpPr>
          <p:cNvPr id="34" name="Habit"/>
          <p:cNvSpPr/>
          <p:nvPr/>
        </p:nvSpPr>
        <p:spPr>
          <a:xfrm>
            <a:off x="6205118" y="3474720"/>
            <a:ext cx="2606040" cy="1691640"/>
          </a:xfrm>
          <a:prstGeom prst="roundRect">
            <a:avLst>
              <a:gd name="adj" fmla="val 6486"/>
            </a:avLst>
          </a:prstGeom>
          <a:solidFill>
            <a:schemeClr val="bg1"/>
          </a:solidFill>
          <a:ln/>
          <a:effectLst>
            <a:outerShdw sx="100000" sy="100000" kx="0" ky="0" algn="bl" rotWithShape="0" blurRad="101600" dist="25400" dir="5400000">
              <a:srgbClr val="1C1A33">
                <a:alpha val="14000"/>
              </a:srgbClr>
            </a:outerShdw>
          </a:effectLst>
        </p:spPr>
      </p:sp>
      <p:sp>
        <p:nvSpPr>
          <p:cNvPr id="35" name="Habit lingkaran"/>
          <p:cNvSpPr/>
          <p:nvPr/>
        </p:nvSpPr>
        <p:spPr>
          <a:xfrm>
            <a:off x="6387998" y="3657600"/>
            <a:ext cx="457200" cy="457200"/>
          </a:xfrm>
          <a:prstGeom prst="ellipse">
            <a:avLst/>
          </a:prstGeom>
          <a:solidFill>
            <a:schemeClr val="accent2"/>
          </a:solidFill>
          <a:ln/>
        </p:spPr>
      </p:sp>
      <p:pic>
        <p:nvPicPr>
          <p:cNvPr id="36" name="Habit ikon" descr="preencoded.png">    </p:cNvPr>
          <p:cNvPicPr>
            <a:picLocks noChangeAspect="1"/>
          </p:cNvPicPr>
          <p:nvPr/>
        </p:nvPicPr>
        <p:blipFill>
          <a:blip r:embed="rId7"/>
          <a:stretch>
            <a:fillRect/>
          </a:stretch>
        </p:blipFill>
        <p:spPr>
          <a:xfrm>
            <a:off x="6497726" y="3767328"/>
            <a:ext cx="237744" cy="237744"/>
          </a:xfrm>
          <a:prstGeom prst="rect">
            <a:avLst/>
          </a:prstGeom>
        </p:spPr>
      </p:pic>
      <p:sp>
        <p:nvSpPr>
          <p:cNvPr id="37" name="Text 28"/>
          <p:cNvSpPr txBox="1"/>
          <p:nvPr/>
        </p:nvSpPr>
        <p:spPr>
          <a:xfrm>
            <a:off x="6936638" y="3657600"/>
            <a:ext cx="1737360" cy="457200"/>
          </a:xfrm>
          <a:prstGeom prst="rect">
            <a:avLst/>
          </a:prstGeom>
          <a:noFill/>
          <a:ln/>
        </p:spPr>
        <p:txBody>
          <a:bodyPr wrap="square" lIns="0" tIns="0" rIns="0" bIns="0" rtlCol="0" anchor="ctr"/>
          <a:lstStyle/>
          <a:p>
            <a:pPr indent="0" marL="0">
              <a:buNone/>
            </a:pPr>
            <a:r>
              <a:rPr lang="en-US" sz="1200" b="1" dirty="0">
                <a:solidFill>
                  <a:schemeClr val="accent2"/>
                </a:solidFill>
              </a:rPr>
              <a:t>Habit</a:t>
            </a:r>
            <a:endParaRPr lang="en-US" sz="1200" dirty="0"/>
          </a:p>
        </p:txBody>
      </p:sp>
      <p:sp>
        <p:nvSpPr>
          <p:cNvPr id="38" name="Text 29"/>
          <p:cNvSpPr txBox="1"/>
          <p:nvPr/>
        </p:nvSpPr>
        <p:spPr>
          <a:xfrm>
            <a:off x="6387998" y="4224528"/>
            <a:ext cx="2240280" cy="868680"/>
          </a:xfrm>
          <a:prstGeom prst="rect">
            <a:avLst/>
          </a:prstGeom>
          <a:noFill/>
          <a:ln/>
        </p:spPr>
        <p:txBody>
          <a:bodyPr wrap="square" lIns="0" tIns="0" rIns="0" bIns="0" rtlCol="0" anchor="t"/>
          <a:lstStyle/>
          <a:p>
            <a:pPr indent="0" marL="0">
              <a:buNone/>
            </a:pPr>
            <a:r>
              <a:rPr lang="en-US" sz="1400" i="1" dirty="0">
                <a:solidFill>
                  <a:schemeClr val="tx1"/>
                </a:solidFill>
              </a:rPr>
              <a:t>“Saya sudah terbiasa membukanya setiap hari.”</a:t>
            </a:r>
            <a:endParaRPr lang="en-US" sz="1400" dirty="0"/>
          </a:p>
        </p:txBody>
      </p:sp>
      <p:sp>
        <p:nvSpPr>
          <p:cNvPr id="39" name="Hasil BI dan UB"/>
          <p:cNvSpPr/>
          <p:nvPr/>
        </p:nvSpPr>
        <p:spPr>
          <a:xfrm>
            <a:off x="9033358" y="3474720"/>
            <a:ext cx="2606040" cy="1691640"/>
          </a:xfrm>
          <a:prstGeom prst="roundRect">
            <a:avLst>
              <a:gd name="adj" fmla="val 6486"/>
            </a:avLst>
          </a:prstGeom>
          <a:solidFill>
            <a:schemeClr val="tx2"/>
          </a:solidFill>
          <a:ln/>
          <a:effectLst>
            <a:outerShdw sx="100000" sy="100000" kx="0" ky="0" algn="bl" rotWithShape="0" blurRad="101600" dist="25400" dir="5400000">
              <a:srgbClr val="1C1A33">
                <a:alpha val="14000"/>
              </a:srgbClr>
            </a:outerShdw>
          </a:effectLst>
        </p:spPr>
      </p:sp>
      <p:pic>
        <p:nvPicPr>
          <p:cNvPr id="40" name="Ikon musik" descr="preencoded.png">    </p:cNvPr>
          <p:cNvPicPr>
            <a:picLocks noChangeAspect="1"/>
          </p:cNvPicPr>
          <p:nvPr/>
        </p:nvPicPr>
        <p:blipFill>
          <a:blip r:embed="rId8"/>
          <a:stretch>
            <a:fillRect/>
          </a:stretch>
        </p:blipFill>
        <p:spPr>
          <a:xfrm>
            <a:off x="9216238" y="3657600"/>
            <a:ext cx="365760" cy="365760"/>
          </a:xfrm>
          <a:prstGeom prst="rect">
            <a:avLst/>
          </a:prstGeom>
        </p:spPr>
      </p:pic>
      <p:sp>
        <p:nvSpPr>
          <p:cNvPr id="41" name="Text 31"/>
          <p:cNvSpPr txBox="1"/>
          <p:nvPr/>
        </p:nvSpPr>
        <p:spPr>
          <a:xfrm>
            <a:off x="9719158" y="3657600"/>
            <a:ext cx="1737360" cy="365760"/>
          </a:xfrm>
          <a:prstGeom prst="rect">
            <a:avLst/>
          </a:prstGeom>
          <a:noFill/>
          <a:ln/>
        </p:spPr>
        <p:txBody>
          <a:bodyPr wrap="square" lIns="0" tIns="0" rIns="0" bIns="0" rtlCol="0" anchor="ctr"/>
          <a:lstStyle/>
          <a:p>
            <a:pPr indent="0" marL="0">
              <a:buNone/>
            </a:pPr>
            <a:r>
              <a:rPr lang="en-US" sz="1400" b="1" dirty="0">
                <a:solidFill>
                  <a:schemeClr val="accent2"/>
                </a:solidFill>
              </a:rPr>
              <a:t>Hasilnya</a:t>
            </a:r>
            <a:endParaRPr lang="en-US" sz="1400" dirty="0"/>
          </a:p>
        </p:txBody>
      </p:sp>
      <p:sp>
        <p:nvSpPr>
          <p:cNvPr id="42" name="Text 32"/>
          <p:cNvSpPr txBox="1"/>
          <p:nvPr/>
        </p:nvSpPr>
        <p:spPr>
          <a:xfrm>
            <a:off x="9216238" y="4206240"/>
            <a:ext cx="2240280" cy="868680"/>
          </a:xfrm>
          <a:prstGeom prst="rect">
            <a:avLst/>
          </a:prstGeom>
          <a:noFill/>
          <a:ln/>
        </p:spPr>
        <p:txBody>
          <a:bodyPr wrap="square" lIns="0" tIns="0" rIns="0" bIns="0" rtlCol="0" anchor="t"/>
          <a:lstStyle/>
          <a:p>
            <a:pPr indent="0" marL="0">
              <a:buNone/>
            </a:pPr>
            <a:r>
              <a:rPr lang="en-US" sz="1400" b="1" dirty="0">
                <a:solidFill>
                  <a:schemeClr val="bg1"/>
                </a:solidFill>
              </a:rPr>
              <a:t>BI: </a:t>
            </a:r>
            <a:pPr indent="0" marL="0">
              <a:buNone/>
            </a:pPr>
            <a:r>
              <a:rPr lang="en-US" sz="1400" dirty="0">
                <a:solidFill>
                  <a:schemeClr val="bg1"/>
                </a:solidFill>
              </a:rPr>
              <a:t>ingin terus berlangganan</a:t>
            </a:r>
            <a:endParaRPr lang="en-US" sz="1400" dirty="0"/>
          </a:p>
          <a:p>
            <a:pPr indent="0" marL="0">
              <a:buNone/>
            </a:pPr>
            <a:r>
              <a:rPr lang="en-US" sz="1400" b="1" dirty="0">
                <a:solidFill>
                  <a:schemeClr val="bg1"/>
                </a:solidFill>
              </a:rPr>
              <a:t>UB: </a:t>
            </a:r>
            <a:pPr indent="0" marL="0">
              <a:buNone/>
            </a:pPr>
            <a:r>
              <a:rPr lang="en-US" sz="1400" dirty="0">
                <a:solidFill>
                  <a:schemeClr val="bg1"/>
                </a:solidFill>
              </a:rPr>
              <a:t>memakai secara rutin</a:t>
            </a:r>
            <a:endParaRPr lang="en-US" sz="1400" dirty="0"/>
          </a:p>
        </p:txBody>
      </p:sp>
      <p:sp>
        <p:nvSpPr>
          <p:cNvPr id="43" name="Pelajaran studi kasus"/>
          <p:cNvSpPr/>
          <p:nvPr/>
        </p:nvSpPr>
        <p:spPr>
          <a:xfrm>
            <a:off x="548640" y="5440680"/>
            <a:ext cx="11091672" cy="731520"/>
          </a:xfrm>
          <a:prstGeom prst="roundRect">
            <a:avLst>
              <a:gd name="adj" fmla="val 15000"/>
            </a:avLst>
          </a:prstGeom>
          <a:solidFill>
            <a:schemeClr val="bg2"/>
          </a:solidFill>
          <a:ln/>
        </p:spPr>
      </p:sp>
      <p:sp>
        <p:nvSpPr>
          <p:cNvPr id="44" name="Text 34"/>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500" b="1" dirty="0">
                <a:solidFill>
                  <a:schemeClr val="accent2"/>
                </a:solidFill>
              </a:rPr>
              <a:t>Pelajaran: </a:t>
            </a:r>
            <a:pPr indent="0" marL="0">
              <a:buNone/>
            </a:pPr>
            <a:r>
              <a:rPr lang="en-US" sz="1500" dirty="0">
                <a:solidFill>
                  <a:schemeClr val="tx1"/>
                </a:solidFill>
              </a:rPr>
              <a:t>untuk layanan konsumen berbayar, kesenangan, harga, dan kebiasaan sering sama pentingnya dengan manfaat dan kemudahan.</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PERBANDINGAN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UTAUT vs UTAUT2 dalam satu tabel</a:t>
            </a:r>
            <a:endParaRPr lang="en-US" sz="3400" dirty="0"/>
          </a:p>
        </p:txBody>
      </p:sp>
      <p:graphicFrame>
        <p:nvGraphicFramePr>
          <p:cNvPr id="20" name="Tabel perbandingan"/>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651760"/>
                <a:gridCol w="3931920"/>
                <a:gridCol w="4507992"/>
              </a:tblGrid>
              <a:tr h="475488">
                <a:tc>
                  <a:txBody>
                    <a:bodyPr/>
                    <a:lstStyle/>
                    <a:p>
                      <a:pPr indent="0" marL="0">
                        <a:buNone/>
                      </a:pPr>
                      <a:r>
                        <a:rPr lang="en-US" sz="1400" b="1" dirty="0">
                          <a:solidFill>
                            <a:schemeClr val="bg1"/>
                          </a:solidFill>
                        </a:rPr>
                        <a:t>Aspek</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UTAUT</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UTAUT2</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accent2"/>
                    </a:solidFill>
                  </a:tcPr>
                </a:tc>
              </a:tr>
              <a:tr h="475488">
                <a:tc>
                  <a:txBody>
                    <a:bodyPr/>
                    <a:lstStyle/>
                    <a:p>
                      <a:pPr indent="0" marL="0">
                        <a:buNone/>
                      </a:pPr>
                      <a:r>
                        <a:rPr lang="en-US" sz="1400" b="1" dirty="0">
                          <a:solidFill>
                            <a:schemeClr val="tx2"/>
                          </a:solidFill>
                        </a:rPr>
                        <a:t>Penulis &amp; tahun</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Venkatesh, Morris, Davis &amp; Davis (2003)</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Venkatesh, Thong &amp; Xu (2012)</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Fokus konteks</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Organisasi / lingkungan kerja</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Konsumen (B2C)</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2"/>
                          </a:solidFill>
                        </a:rPr>
                        <a:t>Studi asal</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organisasi, longitudinal</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1.512 pengguna mobile internet, Hong Kong</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Konstruk</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 PE, EE, SI, FC</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 PE, EE, SI, FC + HM, PV, Habit</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2"/>
                          </a:solidFill>
                        </a:rPr>
                        <a:t>Moderator</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Gender, Age, Experience, Voluntariness</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Gender, Age, Experience</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Jalur langsung ke UB</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FC dan BI</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FC, Habit, dan BI</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2"/>
                          </a:solidFill>
                        </a:rPr>
                        <a:t>Pengaruh FC</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Hanya ke Use Behavior</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Ke Behavioral Intention dan Use Behavior</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Varians BI dijelaskan</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±70% (studi 2003)</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74% (naik dari 56% pada data yang sama)</a:t>
                      </a:r>
                      <a:endParaRPr lang="en-US" sz="1400" dirty="0"/>
                    </a:p>
                  </a:txBody>
                  <a:tcPr marL="109728" marR="109728" marT="45720" marB="45720"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600" b="1" dirty="0">
                <a:solidFill>
                  <a:schemeClr val="tx1"/>
                </a:solidFill>
              </a:rPr>
              <a:t>Inti perbedaan:  </a:t>
            </a:r>
            <a:pPr indent="0" marL="0">
              <a:buNone/>
            </a:pPr>
            <a:r>
              <a:rPr lang="en-US" sz="1600" b="1" dirty="0">
                <a:solidFill>
                  <a:schemeClr val="accent1"/>
                </a:solidFill>
              </a:rPr>
              <a:t>PE + EE + SI + FC</a:t>
            </a:r>
            <a:pPr indent="0" marL="0">
              <a:buNone/>
            </a:pPr>
            <a:r>
              <a:rPr lang="en-US" sz="1600" b="1" dirty="0">
                <a:solidFill>
                  <a:schemeClr val="tx1"/>
                </a:solidFill>
              </a:rPr>
              <a:t>   →   </a:t>
            </a:r>
            <a:pPr indent="0" marL="0">
              <a:buNone/>
            </a:pPr>
            <a:r>
              <a:rPr lang="en-US" sz="1600" b="1" dirty="0">
                <a:solidFill>
                  <a:schemeClr val="accent2"/>
                </a:solidFill>
              </a:rPr>
              <a:t>PE + EE + SI + FC + HM + PV + Habit</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HUBUNGAN DENGAN TAM</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Dari TAM ke UTAUT: apa yang berubah?</a:t>
            </a:r>
            <a:endParaRPr lang="en-US" sz="3400" dirty="0"/>
          </a:p>
        </p:txBody>
      </p:sp>
      <p:sp>
        <p:nvSpPr>
          <p:cNvPr id="4" name="Text 2"/>
          <p:cNvSpPr txBox="1"/>
          <p:nvPr/>
        </p:nvSpPr>
        <p:spPr>
          <a:xfrm>
            <a:off x="548640" y="1508760"/>
            <a:ext cx="3931920" cy="365760"/>
          </a:xfrm>
          <a:prstGeom prst="rect">
            <a:avLst/>
          </a:prstGeom>
          <a:noFill/>
          <a:ln/>
        </p:spPr>
        <p:txBody>
          <a:bodyPr wrap="square" lIns="0" tIns="0" rIns="0" bIns="0" rtlCol="0" anchor="t"/>
          <a:lstStyle/>
          <a:p>
            <a:pPr indent="0" marL="0">
              <a:buNone/>
            </a:pPr>
            <a:r>
              <a:rPr lang="en-US" sz="1600" b="1" dirty="0">
                <a:solidFill>
                  <a:schemeClr val="accent6"/>
                </a:solidFill>
              </a:rPr>
              <a:t>TAM (Davis, 1989)</a:t>
            </a:r>
            <a:endParaRPr lang="en-US" sz="1600" dirty="0"/>
          </a:p>
        </p:txBody>
      </p:sp>
      <p:sp>
        <p:nvSpPr>
          <p:cNvPr id="5" name="Text 3"/>
          <p:cNvSpPr txBox="1"/>
          <p:nvPr/>
        </p:nvSpPr>
        <p:spPr>
          <a:xfrm>
            <a:off x="5166360" y="1508760"/>
            <a:ext cx="3108960" cy="365760"/>
          </a:xfrm>
          <a:prstGeom prst="rect">
            <a:avLst/>
          </a:prstGeom>
          <a:noFill/>
          <a:ln/>
        </p:spPr>
        <p:txBody>
          <a:bodyPr wrap="square" lIns="0" tIns="0" rIns="0" bIns="0" rtlCol="0" anchor="t"/>
          <a:lstStyle/>
          <a:p>
            <a:pPr indent="0" marL="0">
              <a:buNone/>
            </a:pPr>
            <a:r>
              <a:rPr lang="en-US" sz="1600" b="1" dirty="0">
                <a:solidFill>
                  <a:schemeClr val="accent1"/>
                </a:solidFill>
              </a:rPr>
              <a:t>UTAUT (2003)</a:t>
            </a:r>
            <a:endParaRPr lang="en-US" sz="1600" dirty="0"/>
          </a:p>
        </p:txBody>
      </p:sp>
      <p:sp>
        <p:nvSpPr>
          <p:cNvPr id="6" name="Text 4"/>
          <p:cNvSpPr txBox="1"/>
          <p:nvPr/>
        </p:nvSpPr>
        <p:spPr>
          <a:xfrm>
            <a:off x="8458200" y="1508760"/>
            <a:ext cx="3108960" cy="365760"/>
          </a:xfrm>
          <a:prstGeom prst="rect">
            <a:avLst/>
          </a:prstGeom>
          <a:noFill/>
          <a:ln/>
        </p:spPr>
        <p:txBody>
          <a:bodyPr wrap="square" lIns="0" tIns="0" rIns="0" bIns="0" rtlCol="0" anchor="t"/>
          <a:lstStyle/>
          <a:p>
            <a:pPr indent="0" marL="0">
              <a:buNone/>
            </a:pPr>
            <a:r>
              <a:rPr lang="en-US" sz="1600" b="1" dirty="0">
                <a:solidFill>
                  <a:schemeClr val="tx2"/>
                </a:solidFill>
              </a:rPr>
              <a:t>Keterangan</a:t>
            </a:r>
            <a:endParaRPr lang="en-US" sz="1600" dirty="0"/>
          </a:p>
        </p:txBody>
      </p:sp>
      <p:sp>
        <p:nvSpPr>
          <p:cNvPr id="7" name="TAM 0"/>
          <p:cNvSpPr/>
          <p:nvPr/>
        </p:nvSpPr>
        <p:spPr>
          <a:xfrm>
            <a:off x="548640" y="1965960"/>
            <a:ext cx="3931920" cy="512064"/>
          </a:xfrm>
          <a:prstGeom prst="roundRect">
            <a:avLst>
              <a:gd name="adj" fmla="val 21429"/>
            </a:avLst>
          </a:prstGeom>
          <a:solidFill>
            <a:schemeClr val="bg2"/>
          </a:solidFill>
          <a:ln/>
        </p:spPr>
      </p:sp>
      <p:sp>
        <p:nvSpPr>
          <p:cNvPr id="8" name="Text 6"/>
          <p:cNvSpPr txBox="1"/>
          <p:nvPr/>
        </p:nvSpPr>
        <p:spPr>
          <a:xfrm>
            <a:off x="777240" y="1965960"/>
            <a:ext cx="3566160" cy="512064"/>
          </a:xfrm>
          <a:prstGeom prst="rect">
            <a:avLst/>
          </a:prstGeom>
          <a:noFill/>
          <a:ln/>
        </p:spPr>
        <p:txBody>
          <a:bodyPr wrap="square" lIns="0" tIns="0" rIns="0" bIns="0" rtlCol="0" anchor="ctr"/>
          <a:lstStyle/>
          <a:p>
            <a:pPr indent="0" marL="0">
              <a:buNone/>
            </a:pPr>
            <a:r>
              <a:rPr lang="en-US" sz="1500" b="1" dirty="0">
                <a:solidFill>
                  <a:schemeClr val="tx1"/>
                </a:solidFill>
              </a:rPr>
              <a:t>Perceived Usefulness</a:t>
            </a:r>
            <a:endParaRPr lang="en-US" sz="1500" dirty="0"/>
          </a:p>
        </p:txBody>
      </p:sp>
      <p:pic>
        <p:nvPicPr>
          <p:cNvPr id="9" name="Panah 0" descr="preencoded.png">    </p:cNvPr>
          <p:cNvPicPr>
            <a:picLocks noChangeAspect="1"/>
          </p:cNvPicPr>
          <p:nvPr/>
        </p:nvPicPr>
        <p:blipFill>
          <a:blip r:embed="rId1"/>
          <a:stretch>
            <a:fillRect/>
          </a:stretch>
        </p:blipFill>
        <p:spPr>
          <a:xfrm>
            <a:off x="4645152" y="2084832"/>
            <a:ext cx="274320" cy="274320"/>
          </a:xfrm>
          <a:prstGeom prst="rect">
            <a:avLst/>
          </a:prstGeom>
        </p:spPr>
      </p:pic>
      <p:sp>
        <p:nvSpPr>
          <p:cNvPr id="10" name="UTAUT 0"/>
          <p:cNvSpPr/>
          <p:nvPr/>
        </p:nvSpPr>
        <p:spPr>
          <a:xfrm>
            <a:off x="5166360" y="1965960"/>
            <a:ext cx="3108960" cy="512064"/>
          </a:xfrm>
          <a:prstGeom prst="roundRect">
            <a:avLst>
              <a:gd name="adj" fmla="val 21429"/>
            </a:avLst>
          </a:prstGeom>
          <a:solidFill>
            <a:schemeClr val="accent1"/>
          </a:solidFill>
          <a:ln/>
        </p:spPr>
      </p:sp>
      <p:sp>
        <p:nvSpPr>
          <p:cNvPr id="11" name="Text 8"/>
          <p:cNvSpPr txBox="1"/>
          <p:nvPr/>
        </p:nvSpPr>
        <p:spPr>
          <a:xfrm>
            <a:off x="5349240" y="1965960"/>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Performance Expectancy</a:t>
            </a:r>
            <a:endParaRPr lang="en-US" sz="1500" dirty="0"/>
          </a:p>
        </p:txBody>
      </p:sp>
      <p:sp>
        <p:nvSpPr>
          <p:cNvPr id="12" name="Text 9"/>
          <p:cNvSpPr txBox="1"/>
          <p:nvPr/>
        </p:nvSpPr>
        <p:spPr>
          <a:xfrm>
            <a:off x="8458200" y="1965960"/>
            <a:ext cx="3182112" cy="512064"/>
          </a:xfrm>
          <a:prstGeom prst="rect">
            <a:avLst/>
          </a:prstGeom>
          <a:noFill/>
          <a:ln/>
        </p:spPr>
        <p:txBody>
          <a:bodyPr wrap="square" lIns="0" tIns="0" rIns="0" bIns="0" rtlCol="0" anchor="ctr"/>
          <a:lstStyle/>
          <a:p>
            <a:pPr indent="0" marL="0">
              <a:buNone/>
            </a:pPr>
            <a:r>
              <a:rPr lang="en-US" sz="1300" dirty="0">
                <a:solidFill>
                  <a:schemeClr val="tx2"/>
                </a:solidFill>
              </a:rPr>
              <a:t>Konsep setara: manfaat</a:t>
            </a:r>
            <a:endParaRPr lang="en-US" sz="1300" dirty="0"/>
          </a:p>
        </p:txBody>
      </p:sp>
      <p:sp>
        <p:nvSpPr>
          <p:cNvPr id="13" name="TAM 1"/>
          <p:cNvSpPr/>
          <p:nvPr/>
        </p:nvSpPr>
        <p:spPr>
          <a:xfrm>
            <a:off x="548640" y="2587752"/>
            <a:ext cx="3931920" cy="512064"/>
          </a:xfrm>
          <a:prstGeom prst="roundRect">
            <a:avLst>
              <a:gd name="adj" fmla="val 21429"/>
            </a:avLst>
          </a:prstGeom>
          <a:solidFill>
            <a:schemeClr val="bg2"/>
          </a:solidFill>
          <a:ln/>
        </p:spPr>
      </p:sp>
      <p:sp>
        <p:nvSpPr>
          <p:cNvPr id="14" name="Text 11"/>
          <p:cNvSpPr txBox="1"/>
          <p:nvPr/>
        </p:nvSpPr>
        <p:spPr>
          <a:xfrm>
            <a:off x="777240" y="2587752"/>
            <a:ext cx="3566160" cy="512064"/>
          </a:xfrm>
          <a:prstGeom prst="rect">
            <a:avLst/>
          </a:prstGeom>
          <a:noFill/>
          <a:ln/>
        </p:spPr>
        <p:txBody>
          <a:bodyPr wrap="square" lIns="0" tIns="0" rIns="0" bIns="0" rtlCol="0" anchor="ctr"/>
          <a:lstStyle/>
          <a:p>
            <a:pPr indent="0" marL="0">
              <a:buNone/>
            </a:pPr>
            <a:r>
              <a:rPr lang="en-US" sz="1500" b="1" dirty="0">
                <a:solidFill>
                  <a:schemeClr val="tx1"/>
                </a:solidFill>
              </a:rPr>
              <a:t>Perceived Ease of Use</a:t>
            </a:r>
            <a:endParaRPr lang="en-US" sz="1500" dirty="0"/>
          </a:p>
        </p:txBody>
      </p:sp>
      <p:pic>
        <p:nvPicPr>
          <p:cNvPr id="15" name="Panah 1" descr="preencoded.png">    </p:cNvPr>
          <p:cNvPicPr>
            <a:picLocks noChangeAspect="1"/>
          </p:cNvPicPr>
          <p:nvPr/>
        </p:nvPicPr>
        <p:blipFill>
          <a:blip r:embed="rId2"/>
          <a:stretch>
            <a:fillRect/>
          </a:stretch>
        </p:blipFill>
        <p:spPr>
          <a:xfrm>
            <a:off x="4645152" y="2706624"/>
            <a:ext cx="274320" cy="274320"/>
          </a:xfrm>
          <a:prstGeom prst="rect">
            <a:avLst/>
          </a:prstGeom>
        </p:spPr>
      </p:pic>
      <p:sp>
        <p:nvSpPr>
          <p:cNvPr id="16" name="UTAUT 1"/>
          <p:cNvSpPr/>
          <p:nvPr/>
        </p:nvSpPr>
        <p:spPr>
          <a:xfrm>
            <a:off x="5166360" y="2587752"/>
            <a:ext cx="3108960" cy="512064"/>
          </a:xfrm>
          <a:prstGeom prst="roundRect">
            <a:avLst>
              <a:gd name="adj" fmla="val 21429"/>
            </a:avLst>
          </a:prstGeom>
          <a:solidFill>
            <a:schemeClr val="accent1"/>
          </a:solidFill>
          <a:ln/>
        </p:spPr>
      </p:sp>
      <p:sp>
        <p:nvSpPr>
          <p:cNvPr id="17" name="Text 13"/>
          <p:cNvSpPr txBox="1"/>
          <p:nvPr/>
        </p:nvSpPr>
        <p:spPr>
          <a:xfrm>
            <a:off x="5349240" y="2587752"/>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Effort Expectancy</a:t>
            </a:r>
            <a:endParaRPr lang="en-US" sz="1500" dirty="0"/>
          </a:p>
        </p:txBody>
      </p:sp>
      <p:sp>
        <p:nvSpPr>
          <p:cNvPr id="18" name="Text 14"/>
          <p:cNvSpPr txBox="1"/>
          <p:nvPr/>
        </p:nvSpPr>
        <p:spPr>
          <a:xfrm>
            <a:off x="8458200" y="2587752"/>
            <a:ext cx="3182112" cy="512064"/>
          </a:xfrm>
          <a:prstGeom prst="rect">
            <a:avLst/>
          </a:prstGeom>
          <a:noFill/>
          <a:ln/>
        </p:spPr>
        <p:txBody>
          <a:bodyPr wrap="square" lIns="0" tIns="0" rIns="0" bIns="0" rtlCol="0" anchor="ctr"/>
          <a:lstStyle/>
          <a:p>
            <a:pPr indent="0" marL="0">
              <a:buNone/>
            </a:pPr>
            <a:r>
              <a:rPr lang="en-US" sz="1300" dirty="0">
                <a:solidFill>
                  <a:schemeClr val="tx2"/>
                </a:solidFill>
              </a:rPr>
              <a:t>Konsep setara: kemudahan</a:t>
            </a:r>
            <a:endParaRPr lang="en-US" sz="1300" dirty="0"/>
          </a:p>
        </p:txBody>
      </p:sp>
      <p:sp>
        <p:nvSpPr>
          <p:cNvPr id="19" name="TAM 2"/>
          <p:cNvSpPr/>
          <p:nvPr/>
        </p:nvSpPr>
        <p:spPr>
          <a:xfrm>
            <a:off x="548640" y="3209544"/>
            <a:ext cx="3931920" cy="512064"/>
          </a:xfrm>
          <a:prstGeom prst="roundRect">
            <a:avLst>
              <a:gd name="adj" fmla="val 21429"/>
            </a:avLst>
          </a:prstGeom>
          <a:solidFill>
            <a:schemeClr val="bg2"/>
          </a:solidFill>
          <a:ln/>
        </p:spPr>
      </p:sp>
      <p:sp>
        <p:nvSpPr>
          <p:cNvPr id="20" name="Text 16"/>
          <p:cNvSpPr txBox="1"/>
          <p:nvPr/>
        </p:nvSpPr>
        <p:spPr>
          <a:xfrm>
            <a:off x="777240" y="3209544"/>
            <a:ext cx="3566160" cy="512064"/>
          </a:xfrm>
          <a:prstGeom prst="rect">
            <a:avLst/>
          </a:prstGeom>
          <a:noFill/>
          <a:ln/>
        </p:spPr>
        <p:txBody>
          <a:bodyPr wrap="square" lIns="0" tIns="0" rIns="0" bIns="0" rtlCol="0" anchor="ctr"/>
          <a:lstStyle/>
          <a:p>
            <a:pPr indent="0" marL="0">
              <a:buNone/>
            </a:pPr>
            <a:r>
              <a:rPr lang="en-US" sz="1500" b="1" dirty="0">
                <a:solidFill>
                  <a:schemeClr val="tx1"/>
                </a:solidFill>
              </a:rPr>
              <a:t>Subjective Norm (TAM2)</a:t>
            </a:r>
            <a:endParaRPr lang="en-US" sz="1500" dirty="0"/>
          </a:p>
        </p:txBody>
      </p:sp>
      <p:pic>
        <p:nvPicPr>
          <p:cNvPr id="21" name="Panah 2" descr="preencoded.png">    </p:cNvPr>
          <p:cNvPicPr>
            <a:picLocks noChangeAspect="1"/>
          </p:cNvPicPr>
          <p:nvPr/>
        </p:nvPicPr>
        <p:blipFill>
          <a:blip r:embed="rId3"/>
          <a:stretch>
            <a:fillRect/>
          </a:stretch>
        </p:blipFill>
        <p:spPr>
          <a:xfrm>
            <a:off x="4645152" y="3328416"/>
            <a:ext cx="274320" cy="274320"/>
          </a:xfrm>
          <a:prstGeom prst="rect">
            <a:avLst/>
          </a:prstGeom>
        </p:spPr>
      </p:pic>
      <p:sp>
        <p:nvSpPr>
          <p:cNvPr id="22" name="UTAUT 2"/>
          <p:cNvSpPr/>
          <p:nvPr/>
        </p:nvSpPr>
        <p:spPr>
          <a:xfrm>
            <a:off x="5166360" y="3209544"/>
            <a:ext cx="3108960" cy="512064"/>
          </a:xfrm>
          <a:prstGeom prst="roundRect">
            <a:avLst>
              <a:gd name="adj" fmla="val 21429"/>
            </a:avLst>
          </a:prstGeom>
          <a:solidFill>
            <a:schemeClr val="accent1"/>
          </a:solidFill>
          <a:ln/>
        </p:spPr>
      </p:sp>
      <p:sp>
        <p:nvSpPr>
          <p:cNvPr id="23" name="Text 18"/>
          <p:cNvSpPr txBox="1"/>
          <p:nvPr/>
        </p:nvSpPr>
        <p:spPr>
          <a:xfrm>
            <a:off x="5349240" y="3209544"/>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Social Influence</a:t>
            </a:r>
            <a:endParaRPr lang="en-US" sz="1500" dirty="0"/>
          </a:p>
        </p:txBody>
      </p:sp>
      <p:sp>
        <p:nvSpPr>
          <p:cNvPr id="24" name="Text 19"/>
          <p:cNvSpPr txBox="1"/>
          <p:nvPr/>
        </p:nvSpPr>
        <p:spPr>
          <a:xfrm>
            <a:off x="8458200" y="3209544"/>
            <a:ext cx="3182112" cy="512064"/>
          </a:xfrm>
          <a:prstGeom prst="rect">
            <a:avLst/>
          </a:prstGeom>
          <a:noFill/>
          <a:ln/>
        </p:spPr>
        <p:txBody>
          <a:bodyPr wrap="square" lIns="0" tIns="0" rIns="0" bIns="0" rtlCol="0" anchor="ctr"/>
          <a:lstStyle/>
          <a:p>
            <a:pPr indent="0" marL="0">
              <a:buNone/>
            </a:pPr>
            <a:r>
              <a:rPr lang="en-US" sz="1300" dirty="0">
                <a:solidFill>
                  <a:schemeClr val="tx2"/>
                </a:solidFill>
              </a:rPr>
              <a:t>Diperluas: image, faktor sosial</a:t>
            </a:r>
            <a:endParaRPr lang="en-US" sz="1300" dirty="0"/>
          </a:p>
        </p:txBody>
      </p:sp>
      <p:sp>
        <p:nvSpPr>
          <p:cNvPr id="25" name="TAM 3"/>
          <p:cNvSpPr/>
          <p:nvPr/>
        </p:nvSpPr>
        <p:spPr>
          <a:xfrm>
            <a:off x="548640" y="3831336"/>
            <a:ext cx="3931920" cy="512064"/>
          </a:xfrm>
          <a:prstGeom prst="roundRect">
            <a:avLst>
              <a:gd name="adj" fmla="val 21429"/>
            </a:avLst>
          </a:prstGeom>
          <a:solidFill>
            <a:schemeClr val="bg1"/>
          </a:solidFill>
          <a:ln/>
        </p:spPr>
      </p:sp>
      <p:sp>
        <p:nvSpPr>
          <p:cNvPr id="26" name="TAM kosong 3"/>
          <p:cNvSpPr/>
          <p:nvPr/>
        </p:nvSpPr>
        <p:spPr>
          <a:xfrm>
            <a:off x="548640" y="3831336"/>
            <a:ext cx="3931920" cy="512064"/>
          </a:xfrm>
          <a:prstGeom prst="roundRect">
            <a:avLst>
              <a:gd name="adj" fmla="val 21429"/>
            </a:avLst>
          </a:prstGeom>
          <a:ln w="12700">
            <a:solidFill>
              <a:srgbClr val="D9D7E8"/>
            </a:solidFill>
            <a:prstDash val="dash"/>
          </a:ln>
        </p:spPr>
      </p:sp>
      <p:sp>
        <p:nvSpPr>
          <p:cNvPr id="27" name="Text 22"/>
          <p:cNvSpPr txBox="1"/>
          <p:nvPr/>
        </p:nvSpPr>
        <p:spPr>
          <a:xfrm>
            <a:off x="777240" y="3831336"/>
            <a:ext cx="3566160" cy="512064"/>
          </a:xfrm>
          <a:prstGeom prst="rect">
            <a:avLst/>
          </a:prstGeom>
          <a:noFill/>
          <a:ln/>
        </p:spPr>
        <p:txBody>
          <a:bodyPr wrap="square" lIns="0" tIns="0" rIns="0" bIns="0" rtlCol="0" anchor="ctr"/>
          <a:lstStyle/>
          <a:p>
            <a:pPr indent="0" marL="0">
              <a:buNone/>
            </a:pPr>
            <a:r>
              <a:rPr lang="en-US" sz="1500" i="1" dirty="0">
                <a:solidFill>
                  <a:schemeClr val="accent6"/>
                </a:solidFill>
              </a:rPr>
              <a:t>(tidak ada)</a:t>
            </a:r>
            <a:endParaRPr lang="en-US" sz="1500" dirty="0"/>
          </a:p>
        </p:txBody>
      </p:sp>
      <p:pic>
        <p:nvPicPr>
          <p:cNvPr id="28" name="Panah 3" descr="preencoded.png">    </p:cNvPr>
          <p:cNvPicPr>
            <a:picLocks noChangeAspect="1"/>
          </p:cNvPicPr>
          <p:nvPr/>
        </p:nvPicPr>
        <p:blipFill>
          <a:blip r:embed="rId4"/>
          <a:stretch>
            <a:fillRect/>
          </a:stretch>
        </p:blipFill>
        <p:spPr>
          <a:xfrm>
            <a:off x="4645152" y="3950208"/>
            <a:ext cx="274320" cy="274320"/>
          </a:xfrm>
          <a:prstGeom prst="rect">
            <a:avLst/>
          </a:prstGeom>
        </p:spPr>
      </p:pic>
      <p:sp>
        <p:nvSpPr>
          <p:cNvPr id="29" name="UTAUT 3"/>
          <p:cNvSpPr/>
          <p:nvPr/>
        </p:nvSpPr>
        <p:spPr>
          <a:xfrm>
            <a:off x="5166360" y="3831336"/>
            <a:ext cx="3108960" cy="512064"/>
          </a:xfrm>
          <a:prstGeom prst="roundRect">
            <a:avLst>
              <a:gd name="adj" fmla="val 21429"/>
            </a:avLst>
          </a:prstGeom>
          <a:solidFill>
            <a:schemeClr val="accent1"/>
          </a:solidFill>
          <a:ln/>
        </p:spPr>
      </p:sp>
      <p:sp>
        <p:nvSpPr>
          <p:cNvPr id="30" name="Text 24"/>
          <p:cNvSpPr txBox="1"/>
          <p:nvPr/>
        </p:nvSpPr>
        <p:spPr>
          <a:xfrm>
            <a:off x="5349240" y="3831336"/>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Facilitating Conditions</a:t>
            </a:r>
            <a:endParaRPr lang="en-US" sz="1500" dirty="0"/>
          </a:p>
        </p:txBody>
      </p:sp>
      <p:sp>
        <p:nvSpPr>
          <p:cNvPr id="31" name="Text 25"/>
          <p:cNvSpPr txBox="1"/>
          <p:nvPr/>
        </p:nvSpPr>
        <p:spPr>
          <a:xfrm>
            <a:off x="8458200" y="3831336"/>
            <a:ext cx="3182112" cy="512064"/>
          </a:xfrm>
          <a:prstGeom prst="rect">
            <a:avLst/>
          </a:prstGeom>
          <a:noFill/>
          <a:ln/>
        </p:spPr>
        <p:txBody>
          <a:bodyPr wrap="square" lIns="0" tIns="0" rIns="0" bIns="0" rtlCol="0" anchor="ctr"/>
          <a:lstStyle/>
          <a:p>
            <a:pPr indent="0" marL="0">
              <a:buNone/>
            </a:pPr>
            <a:r>
              <a:rPr lang="en-US" sz="1300" dirty="0">
                <a:solidFill>
                  <a:schemeClr val="tx2"/>
                </a:solidFill>
              </a:rPr>
              <a:t>Baru: kondisi pendukung</a:t>
            </a:r>
            <a:endParaRPr lang="en-US" sz="1300" dirty="0"/>
          </a:p>
        </p:txBody>
      </p:sp>
      <p:sp>
        <p:nvSpPr>
          <p:cNvPr id="32" name="TAM 4"/>
          <p:cNvSpPr/>
          <p:nvPr/>
        </p:nvSpPr>
        <p:spPr>
          <a:xfrm>
            <a:off x="548640" y="4453128"/>
            <a:ext cx="3931920" cy="512064"/>
          </a:xfrm>
          <a:prstGeom prst="roundRect">
            <a:avLst>
              <a:gd name="adj" fmla="val 21429"/>
            </a:avLst>
          </a:prstGeom>
          <a:solidFill>
            <a:schemeClr val="bg2"/>
          </a:solidFill>
          <a:ln/>
        </p:spPr>
      </p:sp>
      <p:sp>
        <p:nvSpPr>
          <p:cNvPr id="33" name="Text 27"/>
          <p:cNvSpPr txBox="1"/>
          <p:nvPr/>
        </p:nvSpPr>
        <p:spPr>
          <a:xfrm>
            <a:off x="777240" y="4453128"/>
            <a:ext cx="3566160" cy="512064"/>
          </a:xfrm>
          <a:prstGeom prst="rect">
            <a:avLst/>
          </a:prstGeom>
          <a:noFill/>
          <a:ln/>
        </p:spPr>
        <p:txBody>
          <a:bodyPr wrap="square" lIns="0" tIns="0" rIns="0" bIns="0" rtlCol="0" anchor="ctr"/>
          <a:lstStyle/>
          <a:p>
            <a:pPr indent="0" marL="0">
              <a:buNone/>
            </a:pPr>
            <a:r>
              <a:rPr lang="en-US" sz="1500" b="1" dirty="0">
                <a:solidFill>
                  <a:schemeClr val="tx1"/>
                </a:solidFill>
              </a:rPr>
              <a:t>Attitude</a:t>
            </a:r>
            <a:endParaRPr lang="en-US" sz="1500" dirty="0"/>
          </a:p>
        </p:txBody>
      </p:sp>
      <p:pic>
        <p:nvPicPr>
          <p:cNvPr id="34" name="Panah 4" descr="preencoded.png">    </p:cNvPr>
          <p:cNvPicPr>
            <a:picLocks noChangeAspect="1"/>
          </p:cNvPicPr>
          <p:nvPr/>
        </p:nvPicPr>
        <p:blipFill>
          <a:blip r:embed="rId5"/>
          <a:stretch>
            <a:fillRect/>
          </a:stretch>
        </p:blipFill>
        <p:spPr>
          <a:xfrm>
            <a:off x="4645152" y="4572000"/>
            <a:ext cx="274320" cy="274320"/>
          </a:xfrm>
          <a:prstGeom prst="rect">
            <a:avLst/>
          </a:prstGeom>
        </p:spPr>
      </p:pic>
      <p:sp>
        <p:nvSpPr>
          <p:cNvPr id="35" name="UTAUT 4"/>
          <p:cNvSpPr/>
          <p:nvPr/>
        </p:nvSpPr>
        <p:spPr>
          <a:xfrm>
            <a:off x="5166360" y="4453128"/>
            <a:ext cx="3108960" cy="512064"/>
          </a:xfrm>
          <a:prstGeom prst="roundRect">
            <a:avLst>
              <a:gd name="adj" fmla="val 21429"/>
            </a:avLst>
          </a:prstGeom>
          <a:solidFill>
            <a:schemeClr val="accent6"/>
          </a:solidFill>
          <a:ln/>
        </p:spPr>
      </p:sp>
      <p:sp>
        <p:nvSpPr>
          <p:cNvPr id="36" name="Text 29"/>
          <p:cNvSpPr txBox="1"/>
          <p:nvPr/>
        </p:nvSpPr>
        <p:spPr>
          <a:xfrm>
            <a:off x="5349240" y="4453128"/>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Tidak dipakai</a:t>
            </a:r>
            <a:endParaRPr lang="en-US" sz="1500" dirty="0"/>
          </a:p>
        </p:txBody>
      </p:sp>
      <p:sp>
        <p:nvSpPr>
          <p:cNvPr id="37" name="Text 30"/>
          <p:cNvSpPr txBox="1"/>
          <p:nvPr/>
        </p:nvSpPr>
        <p:spPr>
          <a:xfrm>
            <a:off x="8458200" y="4453128"/>
            <a:ext cx="3182112" cy="512064"/>
          </a:xfrm>
          <a:prstGeom prst="rect">
            <a:avLst/>
          </a:prstGeom>
          <a:noFill/>
          <a:ln/>
        </p:spPr>
        <p:txBody>
          <a:bodyPr wrap="square" lIns="0" tIns="0" rIns="0" bIns="0" rtlCol="0" anchor="ctr"/>
          <a:lstStyle/>
          <a:p>
            <a:pPr indent="0" marL="0">
              <a:buNone/>
            </a:pPr>
            <a:r>
              <a:rPr lang="en-US" sz="1300" dirty="0">
                <a:solidFill>
                  <a:schemeClr val="tx2"/>
                </a:solidFill>
              </a:rPr>
              <a:t>Tidak signifikan setelah PE &amp; EE masuk</a:t>
            </a:r>
            <a:endParaRPr lang="en-US" sz="1300" dirty="0"/>
          </a:p>
        </p:txBody>
      </p:sp>
      <p:sp>
        <p:nvSpPr>
          <p:cNvPr id="38" name="TAM 5"/>
          <p:cNvSpPr/>
          <p:nvPr/>
        </p:nvSpPr>
        <p:spPr>
          <a:xfrm>
            <a:off x="548640" y="5074920"/>
            <a:ext cx="3931920" cy="512064"/>
          </a:xfrm>
          <a:prstGeom prst="roundRect">
            <a:avLst>
              <a:gd name="adj" fmla="val 21429"/>
            </a:avLst>
          </a:prstGeom>
          <a:solidFill>
            <a:schemeClr val="bg1"/>
          </a:solidFill>
          <a:ln/>
        </p:spPr>
      </p:sp>
      <p:sp>
        <p:nvSpPr>
          <p:cNvPr id="39" name="TAM kosong 5"/>
          <p:cNvSpPr/>
          <p:nvPr/>
        </p:nvSpPr>
        <p:spPr>
          <a:xfrm>
            <a:off x="548640" y="5074920"/>
            <a:ext cx="3931920" cy="512064"/>
          </a:xfrm>
          <a:prstGeom prst="roundRect">
            <a:avLst>
              <a:gd name="adj" fmla="val 21429"/>
            </a:avLst>
          </a:prstGeom>
          <a:ln w="12700">
            <a:solidFill>
              <a:srgbClr val="D9D7E8"/>
            </a:solidFill>
            <a:prstDash val="dash"/>
          </a:ln>
        </p:spPr>
      </p:sp>
      <p:sp>
        <p:nvSpPr>
          <p:cNvPr id="40" name="Text 33"/>
          <p:cNvSpPr txBox="1"/>
          <p:nvPr/>
        </p:nvSpPr>
        <p:spPr>
          <a:xfrm>
            <a:off x="777240" y="5074920"/>
            <a:ext cx="3566160" cy="512064"/>
          </a:xfrm>
          <a:prstGeom prst="rect">
            <a:avLst/>
          </a:prstGeom>
          <a:noFill/>
          <a:ln/>
        </p:spPr>
        <p:txBody>
          <a:bodyPr wrap="square" lIns="0" tIns="0" rIns="0" bIns="0" rtlCol="0" anchor="ctr"/>
          <a:lstStyle/>
          <a:p>
            <a:pPr indent="0" marL="0">
              <a:buNone/>
            </a:pPr>
            <a:r>
              <a:rPr lang="en-US" sz="1500" i="1" dirty="0">
                <a:solidFill>
                  <a:schemeClr val="accent6"/>
                </a:solidFill>
              </a:rPr>
              <a:t>(tidak ada)</a:t>
            </a:r>
            <a:endParaRPr lang="en-US" sz="1500" dirty="0"/>
          </a:p>
        </p:txBody>
      </p:sp>
      <p:pic>
        <p:nvPicPr>
          <p:cNvPr id="41" name="Panah 5" descr="preencoded.png">    </p:cNvPr>
          <p:cNvPicPr>
            <a:picLocks noChangeAspect="1"/>
          </p:cNvPicPr>
          <p:nvPr/>
        </p:nvPicPr>
        <p:blipFill>
          <a:blip r:embed="rId6"/>
          <a:stretch>
            <a:fillRect/>
          </a:stretch>
        </p:blipFill>
        <p:spPr>
          <a:xfrm>
            <a:off x="4645152" y="5193792"/>
            <a:ext cx="274320" cy="274320"/>
          </a:xfrm>
          <a:prstGeom prst="rect">
            <a:avLst/>
          </a:prstGeom>
        </p:spPr>
      </p:pic>
      <p:sp>
        <p:nvSpPr>
          <p:cNvPr id="42" name="UTAUT 5"/>
          <p:cNvSpPr/>
          <p:nvPr/>
        </p:nvSpPr>
        <p:spPr>
          <a:xfrm>
            <a:off x="5166360" y="5074920"/>
            <a:ext cx="3108960" cy="512064"/>
          </a:xfrm>
          <a:prstGeom prst="roundRect">
            <a:avLst>
              <a:gd name="adj" fmla="val 21429"/>
            </a:avLst>
          </a:prstGeom>
          <a:solidFill>
            <a:schemeClr val="accent1"/>
          </a:solidFill>
          <a:ln/>
        </p:spPr>
      </p:sp>
      <p:sp>
        <p:nvSpPr>
          <p:cNvPr id="43" name="Text 35"/>
          <p:cNvSpPr txBox="1"/>
          <p:nvPr/>
        </p:nvSpPr>
        <p:spPr>
          <a:xfrm>
            <a:off x="5349240" y="5074920"/>
            <a:ext cx="2834640" cy="512064"/>
          </a:xfrm>
          <a:prstGeom prst="rect">
            <a:avLst/>
          </a:prstGeom>
          <a:noFill/>
          <a:ln/>
        </p:spPr>
        <p:txBody>
          <a:bodyPr wrap="square" lIns="0" tIns="0" rIns="0" bIns="0" rtlCol="0" anchor="ctr"/>
          <a:lstStyle/>
          <a:p>
            <a:pPr indent="0" marL="0">
              <a:buNone/>
            </a:pPr>
            <a:r>
              <a:rPr lang="en-US" sz="1500" b="1" dirty="0">
                <a:solidFill>
                  <a:schemeClr val="bg1"/>
                </a:solidFill>
              </a:rPr>
              <a:t>4 moderator</a:t>
            </a:r>
            <a:endParaRPr lang="en-US" sz="1500" dirty="0"/>
          </a:p>
        </p:txBody>
      </p:sp>
      <p:sp>
        <p:nvSpPr>
          <p:cNvPr id="44" name="Text 36"/>
          <p:cNvSpPr txBox="1"/>
          <p:nvPr/>
        </p:nvSpPr>
        <p:spPr>
          <a:xfrm>
            <a:off x="8458200" y="5074920"/>
            <a:ext cx="3182112" cy="512064"/>
          </a:xfrm>
          <a:prstGeom prst="rect">
            <a:avLst/>
          </a:prstGeom>
          <a:noFill/>
          <a:ln/>
        </p:spPr>
        <p:txBody>
          <a:bodyPr wrap="square" lIns="0" tIns="0" rIns="0" bIns="0" rtlCol="0" anchor="ctr"/>
          <a:lstStyle/>
          <a:p>
            <a:pPr indent="0" marL="0">
              <a:buNone/>
            </a:pPr>
            <a:r>
              <a:rPr lang="en-US" sz="1300" dirty="0">
                <a:solidFill>
                  <a:schemeClr val="tx2"/>
                </a:solidFill>
              </a:rPr>
              <a:t>Baru: gender, age, experience, voluntariness</a:t>
            </a:r>
            <a:endParaRPr lang="en-US" sz="1300" dirty="0"/>
          </a:p>
        </p:txBody>
      </p:sp>
      <p:sp>
        <p:nvSpPr>
          <p:cNvPr id="45" name="Text 37"/>
          <p:cNvSpPr txBox="1"/>
          <p:nvPr/>
        </p:nvSpPr>
        <p:spPr>
          <a:xfrm>
            <a:off x="548640" y="5760720"/>
            <a:ext cx="11091672" cy="502920"/>
          </a:xfrm>
          <a:prstGeom prst="rect">
            <a:avLst/>
          </a:prstGeom>
          <a:noFill/>
          <a:ln/>
        </p:spPr>
        <p:txBody>
          <a:bodyPr wrap="square" lIns="0" tIns="0" rIns="0" bIns="0" rtlCol="0" anchor="t"/>
          <a:lstStyle/>
          <a:p>
            <a:pPr indent="0" marL="0">
              <a:buNone/>
            </a:pPr>
            <a:r>
              <a:rPr lang="en-US" sz="1400" i="1" dirty="0">
                <a:solidFill>
                  <a:schemeClr val="tx2"/>
                </a:solidFill>
              </a:rPr>
              <a:t>Kesimpulan: UTAUT bukan pengganti total TAM, melainkan perluasan yang lebih komprehensif. TAM ringkas; UTAUT menambahkan faktor sosial, fasilitas, perilaku nyata, dan moderator.</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PENERAPAN DALAM PENELITIAN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Contoh butir kuesioner (skala Likert)</a:t>
            </a:r>
            <a:endParaRPr lang="en-US" sz="3400" dirty="0"/>
          </a:p>
        </p:txBody>
      </p:sp>
      <p:graphicFrame>
        <p:nvGraphicFramePr>
          <p:cNvPr id="22" name="Tabel indikator"/>
          <p:cNvGraphicFramePr>
            <a:graphicFrameLocks noGrp="1"/>
          </p:cNvGraphicFramePr>
          <p:nvPr>
            <p:extLst>
              <p:ext uri="{D42A27DB-BD31-4B8C-83A1-F6EECF244321}">
                <p14:modId xmlns:p14="http://schemas.microsoft.com/office/powerpoint/2010/main" val="1579011935"/>
              </p:ext>
            </p:extLst>
          </p:nvPr>
        </p:nvGraphicFramePr>
        <p:xfrm>
          <a:off x="548640" y="1554480"/>
          <a:ext cx="8229600" cy="914400"/>
        </p:xfrm>
        <a:graphic>
          <a:graphicData uri="http://schemas.openxmlformats.org/drawingml/2006/table">
            <a:tbl>
              <a:tblPr/>
              <a:tblGrid>
                <a:gridCol w="731520"/>
                <a:gridCol w="2377440"/>
                <a:gridCol w="5120640"/>
              </a:tblGrid>
              <a:tr h="502920">
                <a:tc>
                  <a:txBody>
                    <a:bodyPr/>
                    <a:lstStyle/>
                    <a:p>
                      <a:pPr indent="0" marL="0">
                        <a:buNone/>
                      </a:pPr>
                      <a:r>
                        <a:rPr lang="en-US" sz="1300" b="1" dirty="0">
                          <a:solidFill>
                            <a:schemeClr val="bg1"/>
                          </a:solidFill>
                        </a:rPr>
                        <a:t>Kode</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Konstruk</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Contoh pernyataan (adaptasi Venkatesh dkk., 2012)</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tx1"/>
                    </a:solidFill>
                  </a:tcPr>
                </a:tc>
              </a:tr>
              <a:tr h="502920">
                <a:tc>
                  <a:txBody>
                    <a:bodyPr/>
                    <a:lstStyle/>
                    <a:p>
                      <a:pPr algn="ctr" indent="0" marL="0">
                        <a:buNone/>
                      </a:pPr>
                      <a:r>
                        <a:rPr lang="en-US" sz="1300" b="1" dirty="0">
                          <a:solidFill>
                            <a:schemeClr val="accent1"/>
                          </a:solidFill>
                        </a:rPr>
                        <a:t>PE</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Performance Expectancy</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Saya merasa [aplikasi] berguna dalam kehidupan sehari-hari.</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502920">
                <a:tc>
                  <a:txBody>
                    <a:bodyPr/>
                    <a:lstStyle/>
                    <a:p>
                      <a:pPr algn="ctr" indent="0" marL="0">
                        <a:buNone/>
                      </a:pPr>
                      <a:r>
                        <a:rPr lang="en-US" sz="1300" b="1" dirty="0">
                          <a:solidFill>
                            <a:schemeClr val="accent1"/>
                          </a:solidFill>
                        </a:rPr>
                        <a:t>EE</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Effort Expectancy</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Mempelajari cara menggunakan [aplikasi] mudah bagi saya.</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502920">
                <a:tc>
                  <a:txBody>
                    <a:bodyPr/>
                    <a:lstStyle/>
                    <a:p>
                      <a:pPr algn="ctr" indent="0" marL="0">
                        <a:buNone/>
                      </a:pPr>
                      <a:r>
                        <a:rPr lang="en-US" sz="1300" b="1" dirty="0">
                          <a:solidFill>
                            <a:schemeClr val="accent1"/>
                          </a:solidFill>
                        </a:rPr>
                        <a:t>SI</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Social Influence</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Orang-orang yang penting bagi saya berpendapat saya sebaiknya menggunakan [aplikasi].</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502920">
                <a:tc>
                  <a:txBody>
                    <a:bodyPr/>
                    <a:lstStyle/>
                    <a:p>
                      <a:pPr algn="ctr" indent="0" marL="0">
                        <a:buNone/>
                      </a:pPr>
                      <a:r>
                        <a:rPr lang="en-US" sz="1300" b="1" dirty="0">
                          <a:solidFill>
                            <a:schemeClr val="accent1"/>
                          </a:solidFill>
                        </a:rPr>
                        <a:t>FC</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Facilitating Conditions</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Saya memiliki sumber daya yang diperlukan untuk menggunakan [aplikasi].</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502920">
                <a:tc>
                  <a:txBody>
                    <a:bodyPr/>
                    <a:lstStyle/>
                    <a:p>
                      <a:pPr algn="ctr" indent="0" marL="0">
                        <a:buNone/>
                      </a:pPr>
                      <a:r>
                        <a:rPr lang="en-US" sz="1300" b="1" dirty="0">
                          <a:solidFill>
                            <a:schemeClr val="accent2"/>
                          </a:solidFill>
                        </a:rPr>
                        <a:t>HM</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Hedonic Motivation</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Menggunakan [aplikasi] itu menyenangkan.</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502920">
                <a:tc>
                  <a:txBody>
                    <a:bodyPr/>
                    <a:lstStyle/>
                    <a:p>
                      <a:pPr algn="ctr" indent="0" marL="0">
                        <a:buNone/>
                      </a:pPr>
                      <a:r>
                        <a:rPr lang="en-US" sz="1300" b="1" dirty="0">
                          <a:solidFill>
                            <a:schemeClr val="accent2"/>
                          </a:solidFill>
                        </a:rPr>
                        <a:t>PV</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Price Value</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[Aplikasi] memberikan nilai yang baik sesuai dengan harganya.</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r h="502920">
                <a:tc>
                  <a:txBody>
                    <a:bodyPr/>
                    <a:lstStyle/>
                    <a:p>
                      <a:pPr algn="ctr" indent="0" marL="0">
                        <a:buNone/>
                      </a:pPr>
                      <a:r>
                        <a:rPr lang="en-US" sz="1300" b="1" dirty="0">
                          <a:solidFill>
                            <a:schemeClr val="accent2"/>
                          </a:solidFill>
                        </a:rPr>
                        <a:t>HT</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Habit</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Menggunakan [aplikasi] sudah menjadi kebiasaan bagi saya.</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2"/>
                    </a:solidFill>
                  </a:tcPr>
                </a:tc>
              </a:tr>
              <a:tr h="502920">
                <a:tc>
                  <a:txBody>
                    <a:bodyPr/>
                    <a:lstStyle/>
                    <a:p>
                      <a:pPr algn="ctr" indent="0" marL="0">
                        <a:buNone/>
                      </a:pPr>
                      <a:r>
                        <a:rPr lang="en-US" sz="1300" b="1" dirty="0">
                          <a:solidFill>
                            <a:schemeClr val="tx2"/>
                          </a:solidFill>
                        </a:rPr>
                        <a:t>BI</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Behavioral Intention</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Saya berniat untuk terus menggunakan [aplikasi] di masa mendatang.</a:t>
                      </a:r>
                      <a:endParaRPr lang="en-US" sz="1300" dirty="0"/>
                    </a:p>
                  </a:txBody>
                  <a:tcPr marL="91440" marR="91440" marT="36576" marB="36576" anchor="ctr">
                    <a:lnL w="9525" cap="flat" cmpd="sng" algn="ctr">
                      <a:solidFill>
                        <a:srgbClr val="D9D7E8"/>
                      </a:solidFill>
                      <a:prstDash val="solid"/>
                      <a:round/>
                      <a:headEnd type="none" w="med" len="med"/>
                      <a:tailEnd type="none" w="med" len="med"/>
                    </a:lnL>
                    <a:lnR w="9525" cap="flat" cmpd="sng" algn="ctr">
                      <a:solidFill>
                        <a:srgbClr val="D9D7E8"/>
                      </a:solidFill>
                      <a:prstDash val="solid"/>
                      <a:round/>
                      <a:headEnd type="none" w="med" len="med"/>
                      <a:tailEnd type="none" w="med" len="med"/>
                    </a:lnR>
                    <a:lnT w="9525" cap="flat" cmpd="sng" algn="ctr">
                      <a:solidFill>
                        <a:srgbClr val="D9D7E8"/>
                      </a:solidFill>
                      <a:prstDash val="solid"/>
                      <a:round/>
                      <a:headEnd type="none" w="med" len="med"/>
                      <a:tailEnd type="none" w="med" len="med"/>
                    </a:lnT>
                    <a:lnB w="9525" cap="flat" cmpd="sng" algn="ctr">
                      <a:solidFill>
                        <a:srgbClr val="D9D7E8"/>
                      </a:solidFill>
                      <a:prstDash val="solid"/>
                      <a:round/>
                      <a:headEnd type="none" w="med" len="med"/>
                      <a:tailEnd type="none" w="med" len="med"/>
                    </a:lnB>
                    <a:solidFill>
                      <a:schemeClr val="bg1"/>
                    </a:solidFill>
                  </a:tcPr>
                </a:tc>
              </a:tr>
            </a:tbl>
          </a:graphicData>
        </a:graphic>
      </p:graphicFrame>
      <p:sp>
        <p:nvSpPr>
          <p:cNvPr id="5" name="Kartu skala"/>
          <p:cNvSpPr/>
          <p:nvPr/>
        </p:nvSpPr>
        <p:spPr>
          <a:xfrm>
            <a:off x="9052560" y="1554480"/>
            <a:ext cx="2587752" cy="4526280"/>
          </a:xfrm>
          <a:prstGeom prst="roundRect">
            <a:avLst>
              <a:gd name="adj" fmla="val 4240"/>
            </a:avLst>
          </a:prstGeom>
          <a:solidFill>
            <a:schemeClr val="bg2"/>
          </a:solidFill>
          <a:ln/>
        </p:spPr>
      </p:sp>
      <p:sp>
        <p:nvSpPr>
          <p:cNvPr id="6" name="Skala lingkaran"/>
          <p:cNvSpPr/>
          <p:nvPr/>
        </p:nvSpPr>
        <p:spPr>
          <a:xfrm>
            <a:off x="9326880" y="1783080"/>
            <a:ext cx="594360" cy="594360"/>
          </a:xfrm>
          <a:prstGeom prst="ellipse">
            <a:avLst/>
          </a:prstGeom>
          <a:solidFill>
            <a:schemeClr val="tx2"/>
          </a:solidFill>
          <a:ln/>
        </p:spPr>
      </p:sp>
      <p:pic>
        <p:nvPicPr>
          <p:cNvPr id="7" name="Skala ikon" descr="preencoded.png">    </p:cNvPr>
          <p:cNvPicPr>
            <a:picLocks noChangeAspect="1"/>
          </p:cNvPicPr>
          <p:nvPr/>
        </p:nvPicPr>
        <p:blipFill>
          <a:blip r:embed="rId1"/>
          <a:stretch>
            <a:fillRect/>
          </a:stretch>
        </p:blipFill>
        <p:spPr>
          <a:xfrm>
            <a:off x="9469526" y="1925726"/>
            <a:ext cx="309067" cy="309067"/>
          </a:xfrm>
          <a:prstGeom prst="rect">
            <a:avLst/>
          </a:prstGeom>
        </p:spPr>
      </p:pic>
      <p:sp>
        <p:nvSpPr>
          <p:cNvPr id="8" name="Text 4"/>
          <p:cNvSpPr txBox="1"/>
          <p:nvPr/>
        </p:nvSpPr>
        <p:spPr>
          <a:xfrm>
            <a:off x="9326880" y="2514600"/>
            <a:ext cx="2103120" cy="365760"/>
          </a:xfrm>
          <a:prstGeom prst="rect">
            <a:avLst/>
          </a:prstGeom>
          <a:noFill/>
          <a:ln/>
        </p:spPr>
        <p:txBody>
          <a:bodyPr wrap="square" lIns="0" tIns="0" rIns="0" bIns="0" rtlCol="0" anchor="t"/>
          <a:lstStyle/>
          <a:p>
            <a:pPr indent="0" marL="0">
              <a:buNone/>
            </a:pPr>
            <a:r>
              <a:rPr lang="en-US" sz="1600" b="1" dirty="0">
                <a:solidFill>
                  <a:schemeClr val="tx1"/>
                </a:solidFill>
              </a:rPr>
              <a:t>Cara mengukur</a:t>
            </a:r>
            <a:endParaRPr lang="en-US" sz="1600" dirty="0"/>
          </a:p>
        </p:txBody>
      </p:sp>
      <p:sp>
        <p:nvSpPr>
          <p:cNvPr id="9" name="Text 5"/>
          <p:cNvSpPr txBox="1"/>
          <p:nvPr/>
        </p:nvSpPr>
        <p:spPr>
          <a:xfrm>
            <a:off x="9326880" y="2880360"/>
            <a:ext cx="2103120" cy="685800"/>
          </a:xfrm>
          <a:prstGeom prst="rect">
            <a:avLst/>
          </a:prstGeom>
          <a:noFill/>
          <a:ln/>
        </p:spPr>
        <p:txBody>
          <a:bodyPr wrap="square" lIns="0" tIns="0" rIns="0" bIns="0" rtlCol="0" anchor="t"/>
          <a:lstStyle/>
          <a:p>
            <a:pPr indent="0" marL="0">
              <a:buNone/>
            </a:pPr>
            <a:r>
              <a:rPr lang="en-US" sz="1300" dirty="0">
                <a:solidFill>
                  <a:schemeClr val="tx1"/>
                </a:solidFill>
              </a:rPr>
              <a:t>Responden menilai tiap pernyataan, misalnya:</a:t>
            </a:r>
            <a:endParaRPr lang="en-US" sz="1300" dirty="0"/>
          </a:p>
        </p:txBody>
      </p:sp>
      <p:sp>
        <p:nvSpPr>
          <p:cNvPr id="10" name="Skala 1"/>
          <p:cNvSpPr/>
          <p:nvPr/>
        </p:nvSpPr>
        <p:spPr>
          <a:xfrm>
            <a:off x="9326880" y="3657600"/>
            <a:ext cx="411480" cy="411480"/>
          </a:xfrm>
          <a:prstGeom prst="roundRect">
            <a:avLst>
              <a:gd name="adj" fmla="val 50000"/>
            </a:avLst>
          </a:prstGeom>
          <a:solidFill>
            <a:srgbClr val="D9D7E8"/>
          </a:solidFill>
          <a:ln/>
        </p:spPr>
      </p:sp>
      <p:sp>
        <p:nvSpPr>
          <p:cNvPr id="11" name="Skala 1 teks"/>
          <p:cNvSpPr txBox="1"/>
          <p:nvPr/>
        </p:nvSpPr>
        <p:spPr>
          <a:xfrm>
            <a:off x="9326880" y="365760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2" name="Text 8"/>
          <p:cNvSpPr txBox="1"/>
          <p:nvPr/>
        </p:nvSpPr>
        <p:spPr>
          <a:xfrm>
            <a:off x="9829800" y="3657600"/>
            <a:ext cx="1691640" cy="411480"/>
          </a:xfrm>
          <a:prstGeom prst="rect">
            <a:avLst/>
          </a:prstGeom>
          <a:noFill/>
          <a:ln/>
        </p:spPr>
        <p:txBody>
          <a:bodyPr wrap="square" lIns="0" tIns="0" rIns="0" bIns="0" rtlCol="0" anchor="ctr"/>
          <a:lstStyle/>
          <a:p>
            <a:pPr indent="0" marL="0">
              <a:buNone/>
            </a:pPr>
            <a:r>
              <a:rPr lang="en-US" sz="1300" dirty="0">
                <a:solidFill>
                  <a:schemeClr val="tx1"/>
                </a:solidFill>
              </a:rPr>
              <a:t>Sangat tidak setuju</a:t>
            </a:r>
            <a:endParaRPr lang="en-US" sz="1300" dirty="0"/>
          </a:p>
        </p:txBody>
      </p:sp>
      <p:sp>
        <p:nvSpPr>
          <p:cNvPr id="13" name="Skala 4"/>
          <p:cNvSpPr/>
          <p:nvPr/>
        </p:nvSpPr>
        <p:spPr>
          <a:xfrm>
            <a:off x="9326880" y="4160520"/>
            <a:ext cx="411480" cy="411480"/>
          </a:xfrm>
          <a:prstGeom prst="roundRect">
            <a:avLst>
              <a:gd name="adj" fmla="val 50000"/>
            </a:avLst>
          </a:prstGeom>
          <a:solidFill>
            <a:srgbClr val="D9D7E8"/>
          </a:solidFill>
          <a:ln/>
        </p:spPr>
      </p:sp>
      <p:sp>
        <p:nvSpPr>
          <p:cNvPr id="14" name="Skala 4 teks"/>
          <p:cNvSpPr txBox="1"/>
          <p:nvPr/>
        </p:nvSpPr>
        <p:spPr>
          <a:xfrm>
            <a:off x="9326880" y="416052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15" name="Text 11"/>
          <p:cNvSpPr txBox="1"/>
          <p:nvPr/>
        </p:nvSpPr>
        <p:spPr>
          <a:xfrm>
            <a:off x="9829800" y="4160520"/>
            <a:ext cx="1691640" cy="411480"/>
          </a:xfrm>
          <a:prstGeom prst="rect">
            <a:avLst/>
          </a:prstGeom>
          <a:noFill/>
          <a:ln/>
        </p:spPr>
        <p:txBody>
          <a:bodyPr wrap="square" lIns="0" tIns="0" rIns="0" bIns="0" rtlCol="0" anchor="ctr"/>
          <a:lstStyle/>
          <a:p>
            <a:pPr indent="0" marL="0">
              <a:buNone/>
            </a:pPr>
            <a:r>
              <a:rPr lang="en-US" sz="1300" dirty="0">
                <a:solidFill>
                  <a:schemeClr val="tx1"/>
                </a:solidFill>
              </a:rPr>
              <a:t>Netral</a:t>
            </a:r>
            <a:endParaRPr lang="en-US" sz="1300" dirty="0"/>
          </a:p>
        </p:txBody>
      </p:sp>
      <p:sp>
        <p:nvSpPr>
          <p:cNvPr id="16" name="Skala 7"/>
          <p:cNvSpPr/>
          <p:nvPr/>
        </p:nvSpPr>
        <p:spPr>
          <a:xfrm>
            <a:off x="9326880" y="4663440"/>
            <a:ext cx="411480" cy="411480"/>
          </a:xfrm>
          <a:prstGeom prst="roundRect">
            <a:avLst>
              <a:gd name="adj" fmla="val 50000"/>
            </a:avLst>
          </a:prstGeom>
          <a:solidFill>
            <a:schemeClr val="accent1"/>
          </a:solidFill>
          <a:ln/>
        </p:spPr>
      </p:sp>
      <p:sp>
        <p:nvSpPr>
          <p:cNvPr id="17" name="Skala 7 teks"/>
          <p:cNvSpPr txBox="1"/>
          <p:nvPr/>
        </p:nvSpPr>
        <p:spPr>
          <a:xfrm>
            <a:off x="9326880" y="46634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8" name="Text 14"/>
          <p:cNvSpPr txBox="1"/>
          <p:nvPr/>
        </p:nvSpPr>
        <p:spPr>
          <a:xfrm>
            <a:off x="9829800" y="4663440"/>
            <a:ext cx="1691640" cy="411480"/>
          </a:xfrm>
          <a:prstGeom prst="rect">
            <a:avLst/>
          </a:prstGeom>
          <a:noFill/>
          <a:ln/>
        </p:spPr>
        <p:txBody>
          <a:bodyPr wrap="square" lIns="0" tIns="0" rIns="0" bIns="0" rtlCol="0" anchor="ctr"/>
          <a:lstStyle/>
          <a:p>
            <a:pPr indent="0" marL="0">
              <a:buNone/>
            </a:pPr>
            <a:r>
              <a:rPr lang="en-US" sz="1300" dirty="0">
                <a:solidFill>
                  <a:schemeClr val="tx1"/>
                </a:solidFill>
              </a:rPr>
              <a:t>Sangat setuju</a:t>
            </a:r>
            <a:endParaRPr lang="en-US" sz="1300" dirty="0"/>
          </a:p>
        </p:txBody>
      </p:sp>
      <p:sp>
        <p:nvSpPr>
          <p:cNvPr id="19" name="Text 15"/>
          <p:cNvSpPr txBox="1"/>
          <p:nvPr/>
        </p:nvSpPr>
        <p:spPr>
          <a:xfrm>
            <a:off x="9326880" y="5212080"/>
            <a:ext cx="2103120" cy="731520"/>
          </a:xfrm>
          <a:prstGeom prst="rect">
            <a:avLst/>
          </a:prstGeom>
          <a:noFill/>
          <a:ln/>
        </p:spPr>
        <p:txBody>
          <a:bodyPr wrap="square" lIns="0" tIns="0" rIns="0" bIns="0" rtlCol="0" anchor="t"/>
          <a:lstStyle/>
          <a:p>
            <a:pPr indent="0" marL="0">
              <a:buNone/>
            </a:pPr>
            <a:r>
              <a:rPr lang="en-US" sz="1200" dirty="0">
                <a:solidFill>
                  <a:schemeClr val="accent6"/>
                </a:solidFill>
              </a:rPr>
              <a:t>Use Behavior biasanya diukur dari frekuensi penggunaan.</a:t>
            </a:r>
            <a:endParaRPr lang="en-US" sz="1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CARA MUDAH MENGINGAT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Tujuh pertanyaan sederhana</a:t>
            </a:r>
            <a:endParaRPr lang="en-US" sz="3400" dirty="0"/>
          </a:p>
        </p:txBody>
      </p:sp>
      <p:sp>
        <p:nvSpPr>
          <p:cNvPr id="4" name="Text 2"/>
          <p:cNvSpPr txBox="1"/>
          <p:nvPr/>
        </p:nvSpPr>
        <p:spPr>
          <a:xfrm>
            <a:off x="548640" y="1600200"/>
            <a:ext cx="2743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UTAUT</a:t>
            </a:r>
            <a:endParaRPr lang="en-US" sz="2400" dirty="0"/>
          </a:p>
        </p:txBody>
      </p:sp>
      <p:sp>
        <p:nvSpPr>
          <p:cNvPr id="5" name="Performance Expectancy"/>
          <p:cNvSpPr/>
          <p:nvPr/>
        </p:nvSpPr>
        <p:spPr>
          <a:xfrm>
            <a:off x="548640" y="214884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6" name="Performance Expectancy lingkaran"/>
          <p:cNvSpPr/>
          <p:nvPr/>
        </p:nvSpPr>
        <p:spPr>
          <a:xfrm>
            <a:off x="777240" y="2423160"/>
            <a:ext cx="548640" cy="548640"/>
          </a:xfrm>
          <a:prstGeom prst="ellipse">
            <a:avLst/>
          </a:prstGeom>
          <a:solidFill>
            <a:schemeClr val="accent1"/>
          </a:solidFill>
          <a:ln/>
        </p:spPr>
      </p:sp>
      <p:pic>
        <p:nvPicPr>
          <p:cNvPr id="7" name="Performance Expectancy ikon" descr="preencoded.png">    </p:cNvPr>
          <p:cNvPicPr>
            <a:picLocks noChangeAspect="1"/>
          </p:cNvPicPr>
          <p:nvPr/>
        </p:nvPicPr>
        <p:blipFill>
          <a:blip r:embed="rId1"/>
          <a:stretch>
            <a:fillRect/>
          </a:stretch>
        </p:blipFill>
        <p:spPr>
          <a:xfrm>
            <a:off x="908914" y="2554834"/>
            <a:ext cx="285293" cy="285293"/>
          </a:xfrm>
          <a:prstGeom prst="rect">
            <a:avLst/>
          </a:prstGeom>
        </p:spPr>
      </p:pic>
      <p:sp>
        <p:nvSpPr>
          <p:cNvPr id="8" name="Text 5"/>
          <p:cNvSpPr txBox="1"/>
          <p:nvPr/>
        </p:nvSpPr>
        <p:spPr>
          <a:xfrm>
            <a:off x="1463040" y="237744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Berguna?</a:t>
            </a:r>
            <a:endParaRPr lang="en-US" sz="1600" dirty="0"/>
          </a:p>
        </p:txBody>
      </p:sp>
      <p:sp>
        <p:nvSpPr>
          <p:cNvPr id="9" name="Text 6"/>
          <p:cNvSpPr txBox="1"/>
          <p:nvPr/>
        </p:nvSpPr>
        <p:spPr>
          <a:xfrm>
            <a:off x="777240" y="3063240"/>
            <a:ext cx="2240280" cy="320040"/>
          </a:xfrm>
          <a:prstGeom prst="rect">
            <a:avLst/>
          </a:prstGeom>
          <a:noFill/>
          <a:ln/>
        </p:spPr>
        <p:txBody>
          <a:bodyPr wrap="square" lIns="0" tIns="0" rIns="0" bIns="0" rtlCol="0" anchor="t"/>
          <a:lstStyle/>
          <a:p>
            <a:pPr indent="0" marL="0">
              <a:buNone/>
            </a:pPr>
            <a:r>
              <a:rPr lang="en-US" sz="1200" b="1" dirty="0">
                <a:solidFill>
                  <a:schemeClr val="accent1"/>
                </a:solidFill>
              </a:rPr>
              <a:t>Performance Expectancy</a:t>
            </a:r>
            <a:endParaRPr lang="en-US" sz="1200" dirty="0"/>
          </a:p>
        </p:txBody>
      </p:sp>
      <p:sp>
        <p:nvSpPr>
          <p:cNvPr id="10" name="Effort Expectancy"/>
          <p:cNvSpPr/>
          <p:nvPr/>
        </p:nvSpPr>
        <p:spPr>
          <a:xfrm>
            <a:off x="3376879" y="214884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11" name="Effort Expectancy lingkaran"/>
          <p:cNvSpPr/>
          <p:nvPr/>
        </p:nvSpPr>
        <p:spPr>
          <a:xfrm>
            <a:off x="3605479" y="2423160"/>
            <a:ext cx="548640" cy="548640"/>
          </a:xfrm>
          <a:prstGeom prst="ellipse">
            <a:avLst/>
          </a:prstGeom>
          <a:solidFill>
            <a:schemeClr val="accent1"/>
          </a:solidFill>
          <a:ln/>
        </p:spPr>
      </p:sp>
      <p:pic>
        <p:nvPicPr>
          <p:cNvPr id="12" name="Effort Expectancy ikon" descr="preencoded.png">    </p:cNvPr>
          <p:cNvPicPr>
            <a:picLocks noChangeAspect="1"/>
          </p:cNvPicPr>
          <p:nvPr/>
        </p:nvPicPr>
        <p:blipFill>
          <a:blip r:embed="rId2"/>
          <a:stretch>
            <a:fillRect/>
          </a:stretch>
        </p:blipFill>
        <p:spPr>
          <a:xfrm>
            <a:off x="3737153" y="2554834"/>
            <a:ext cx="285293" cy="285293"/>
          </a:xfrm>
          <a:prstGeom prst="rect">
            <a:avLst/>
          </a:prstGeom>
        </p:spPr>
      </p:pic>
      <p:sp>
        <p:nvSpPr>
          <p:cNvPr id="13" name="Text 9"/>
          <p:cNvSpPr txBox="1"/>
          <p:nvPr/>
        </p:nvSpPr>
        <p:spPr>
          <a:xfrm>
            <a:off x="4291279" y="237744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Mudah?</a:t>
            </a:r>
            <a:endParaRPr lang="en-US" sz="1600" dirty="0"/>
          </a:p>
        </p:txBody>
      </p:sp>
      <p:sp>
        <p:nvSpPr>
          <p:cNvPr id="14" name="Text 10"/>
          <p:cNvSpPr txBox="1"/>
          <p:nvPr/>
        </p:nvSpPr>
        <p:spPr>
          <a:xfrm>
            <a:off x="3605479" y="3063240"/>
            <a:ext cx="2240280" cy="320040"/>
          </a:xfrm>
          <a:prstGeom prst="rect">
            <a:avLst/>
          </a:prstGeom>
          <a:noFill/>
          <a:ln/>
        </p:spPr>
        <p:txBody>
          <a:bodyPr wrap="square" lIns="0" tIns="0" rIns="0" bIns="0" rtlCol="0" anchor="t"/>
          <a:lstStyle/>
          <a:p>
            <a:pPr indent="0" marL="0">
              <a:buNone/>
            </a:pPr>
            <a:r>
              <a:rPr lang="en-US" sz="1200" b="1" dirty="0">
                <a:solidFill>
                  <a:schemeClr val="accent1"/>
                </a:solidFill>
              </a:rPr>
              <a:t>Effort Expectancy</a:t>
            </a:r>
            <a:endParaRPr lang="en-US" sz="1200" dirty="0"/>
          </a:p>
        </p:txBody>
      </p:sp>
      <p:sp>
        <p:nvSpPr>
          <p:cNvPr id="15" name="Social Influence"/>
          <p:cNvSpPr/>
          <p:nvPr/>
        </p:nvSpPr>
        <p:spPr>
          <a:xfrm>
            <a:off x="6205118" y="214884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16" name="Social Influence lingkaran"/>
          <p:cNvSpPr/>
          <p:nvPr/>
        </p:nvSpPr>
        <p:spPr>
          <a:xfrm>
            <a:off x="6433718" y="2423160"/>
            <a:ext cx="548640" cy="548640"/>
          </a:xfrm>
          <a:prstGeom prst="ellipse">
            <a:avLst/>
          </a:prstGeom>
          <a:solidFill>
            <a:schemeClr val="accent1"/>
          </a:solidFill>
          <a:ln/>
        </p:spPr>
      </p:sp>
      <p:pic>
        <p:nvPicPr>
          <p:cNvPr id="17" name="Social Influence ikon" descr="preencoded.png">    </p:cNvPr>
          <p:cNvPicPr>
            <a:picLocks noChangeAspect="1"/>
          </p:cNvPicPr>
          <p:nvPr/>
        </p:nvPicPr>
        <p:blipFill>
          <a:blip r:embed="rId3"/>
          <a:stretch>
            <a:fillRect/>
          </a:stretch>
        </p:blipFill>
        <p:spPr>
          <a:xfrm>
            <a:off x="6565392" y="2554834"/>
            <a:ext cx="285293" cy="285293"/>
          </a:xfrm>
          <a:prstGeom prst="rect">
            <a:avLst/>
          </a:prstGeom>
        </p:spPr>
      </p:pic>
      <p:sp>
        <p:nvSpPr>
          <p:cNvPr id="18" name="Text 13"/>
          <p:cNvSpPr txBox="1"/>
          <p:nvPr/>
        </p:nvSpPr>
        <p:spPr>
          <a:xfrm>
            <a:off x="7119518" y="237744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Didorong orang lain?</a:t>
            </a:r>
            <a:endParaRPr lang="en-US" sz="1600" dirty="0"/>
          </a:p>
        </p:txBody>
      </p:sp>
      <p:sp>
        <p:nvSpPr>
          <p:cNvPr id="19" name="Text 14"/>
          <p:cNvSpPr txBox="1"/>
          <p:nvPr/>
        </p:nvSpPr>
        <p:spPr>
          <a:xfrm>
            <a:off x="6433718" y="3063240"/>
            <a:ext cx="2240280" cy="320040"/>
          </a:xfrm>
          <a:prstGeom prst="rect">
            <a:avLst/>
          </a:prstGeom>
          <a:noFill/>
          <a:ln/>
        </p:spPr>
        <p:txBody>
          <a:bodyPr wrap="square" lIns="0" tIns="0" rIns="0" bIns="0" rtlCol="0" anchor="t"/>
          <a:lstStyle/>
          <a:p>
            <a:pPr indent="0" marL="0">
              <a:buNone/>
            </a:pPr>
            <a:r>
              <a:rPr lang="en-US" sz="1200" b="1" dirty="0">
                <a:solidFill>
                  <a:schemeClr val="accent1"/>
                </a:solidFill>
              </a:rPr>
              <a:t>Social Influence</a:t>
            </a:r>
            <a:endParaRPr lang="en-US" sz="1200" dirty="0"/>
          </a:p>
        </p:txBody>
      </p:sp>
      <p:sp>
        <p:nvSpPr>
          <p:cNvPr id="20" name="Facilitating Conditions"/>
          <p:cNvSpPr/>
          <p:nvPr/>
        </p:nvSpPr>
        <p:spPr>
          <a:xfrm>
            <a:off x="9033358" y="214884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21" name="Facilitating Conditions lingkaran"/>
          <p:cNvSpPr/>
          <p:nvPr/>
        </p:nvSpPr>
        <p:spPr>
          <a:xfrm>
            <a:off x="9261958" y="2423160"/>
            <a:ext cx="548640" cy="548640"/>
          </a:xfrm>
          <a:prstGeom prst="ellipse">
            <a:avLst/>
          </a:prstGeom>
          <a:solidFill>
            <a:schemeClr val="accent1"/>
          </a:solidFill>
          <a:ln/>
        </p:spPr>
      </p:sp>
      <p:pic>
        <p:nvPicPr>
          <p:cNvPr id="22" name="Facilitating Conditions ikon" descr="preencoded.png">    </p:cNvPr>
          <p:cNvPicPr>
            <a:picLocks noChangeAspect="1"/>
          </p:cNvPicPr>
          <p:nvPr/>
        </p:nvPicPr>
        <p:blipFill>
          <a:blip r:embed="rId4"/>
          <a:stretch>
            <a:fillRect/>
          </a:stretch>
        </p:blipFill>
        <p:spPr>
          <a:xfrm>
            <a:off x="9393631" y="2554834"/>
            <a:ext cx="285293" cy="285293"/>
          </a:xfrm>
          <a:prstGeom prst="rect">
            <a:avLst/>
          </a:prstGeom>
        </p:spPr>
      </p:pic>
      <p:sp>
        <p:nvSpPr>
          <p:cNvPr id="23" name="Text 17"/>
          <p:cNvSpPr txBox="1"/>
          <p:nvPr/>
        </p:nvSpPr>
        <p:spPr>
          <a:xfrm>
            <a:off x="9947758" y="237744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Fasilitas mendukung?</a:t>
            </a:r>
            <a:endParaRPr lang="en-US" sz="1600" dirty="0"/>
          </a:p>
        </p:txBody>
      </p:sp>
      <p:sp>
        <p:nvSpPr>
          <p:cNvPr id="24" name="Text 18"/>
          <p:cNvSpPr txBox="1"/>
          <p:nvPr/>
        </p:nvSpPr>
        <p:spPr>
          <a:xfrm>
            <a:off x="9261958" y="3063240"/>
            <a:ext cx="2240280" cy="320040"/>
          </a:xfrm>
          <a:prstGeom prst="rect">
            <a:avLst/>
          </a:prstGeom>
          <a:noFill/>
          <a:ln/>
        </p:spPr>
        <p:txBody>
          <a:bodyPr wrap="square" lIns="0" tIns="0" rIns="0" bIns="0" rtlCol="0" anchor="t"/>
          <a:lstStyle/>
          <a:p>
            <a:pPr indent="0" marL="0">
              <a:buNone/>
            </a:pPr>
            <a:r>
              <a:rPr lang="en-US" sz="1200" b="1" dirty="0">
                <a:solidFill>
                  <a:schemeClr val="accent1"/>
                </a:solidFill>
              </a:rPr>
              <a:t>Facilitating Conditions</a:t>
            </a:r>
            <a:endParaRPr lang="en-US" sz="1200" dirty="0"/>
          </a:p>
        </p:txBody>
      </p:sp>
      <p:sp>
        <p:nvSpPr>
          <p:cNvPr id="25" name="Text 19"/>
          <p:cNvSpPr txBox="1"/>
          <p:nvPr/>
        </p:nvSpPr>
        <p:spPr>
          <a:xfrm>
            <a:off x="548640" y="3840480"/>
            <a:ext cx="54864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UTAUT2</a:t>
            </a:r>
            <a:pPr indent="0" marL="0">
              <a:buNone/>
            </a:pPr>
            <a:r>
              <a:rPr lang="en-US" sz="2400" b="1" dirty="0">
                <a:solidFill>
                  <a:schemeClr val="tx2"/>
                </a:solidFill>
                <a:latin typeface="Cambria" pitchFamily="34" charset="0"/>
                <a:ea typeface="Cambria" pitchFamily="34" charset="-122"/>
                <a:cs typeface="Cambria" pitchFamily="34" charset="-120"/>
              </a:rPr>
              <a:t>  =  UTAUT  +</a:t>
            </a:r>
            <a:endParaRPr lang="en-US" sz="2400" dirty="0"/>
          </a:p>
        </p:txBody>
      </p:sp>
      <p:sp>
        <p:nvSpPr>
          <p:cNvPr id="26" name="Hedonic Motivation"/>
          <p:cNvSpPr/>
          <p:nvPr/>
        </p:nvSpPr>
        <p:spPr>
          <a:xfrm>
            <a:off x="548640" y="438912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27" name="Hedonic Motivation lingkaran"/>
          <p:cNvSpPr/>
          <p:nvPr/>
        </p:nvSpPr>
        <p:spPr>
          <a:xfrm>
            <a:off x="777240" y="4663440"/>
            <a:ext cx="548640" cy="548640"/>
          </a:xfrm>
          <a:prstGeom prst="ellipse">
            <a:avLst/>
          </a:prstGeom>
          <a:solidFill>
            <a:schemeClr val="accent2"/>
          </a:solidFill>
          <a:ln/>
        </p:spPr>
      </p:sp>
      <p:pic>
        <p:nvPicPr>
          <p:cNvPr id="28" name="Hedonic Motivation ikon" descr="preencoded.png">    </p:cNvPr>
          <p:cNvPicPr>
            <a:picLocks noChangeAspect="1"/>
          </p:cNvPicPr>
          <p:nvPr/>
        </p:nvPicPr>
        <p:blipFill>
          <a:blip r:embed="rId5"/>
          <a:stretch>
            <a:fillRect/>
          </a:stretch>
        </p:blipFill>
        <p:spPr>
          <a:xfrm>
            <a:off x="908914" y="4795114"/>
            <a:ext cx="285293" cy="285293"/>
          </a:xfrm>
          <a:prstGeom prst="rect">
            <a:avLst/>
          </a:prstGeom>
        </p:spPr>
      </p:pic>
      <p:sp>
        <p:nvSpPr>
          <p:cNvPr id="29" name="Text 22"/>
          <p:cNvSpPr txBox="1"/>
          <p:nvPr/>
        </p:nvSpPr>
        <p:spPr>
          <a:xfrm>
            <a:off x="1463040" y="461772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Menyenangkan?</a:t>
            </a:r>
            <a:endParaRPr lang="en-US" sz="1600" dirty="0"/>
          </a:p>
        </p:txBody>
      </p:sp>
      <p:sp>
        <p:nvSpPr>
          <p:cNvPr id="30" name="Text 23"/>
          <p:cNvSpPr txBox="1"/>
          <p:nvPr/>
        </p:nvSpPr>
        <p:spPr>
          <a:xfrm>
            <a:off x="777240" y="5303520"/>
            <a:ext cx="2240280" cy="320040"/>
          </a:xfrm>
          <a:prstGeom prst="rect">
            <a:avLst/>
          </a:prstGeom>
          <a:noFill/>
          <a:ln/>
        </p:spPr>
        <p:txBody>
          <a:bodyPr wrap="square" lIns="0" tIns="0" rIns="0" bIns="0" rtlCol="0" anchor="t"/>
          <a:lstStyle/>
          <a:p>
            <a:pPr indent="0" marL="0">
              <a:buNone/>
            </a:pPr>
            <a:r>
              <a:rPr lang="en-US" sz="1200" b="1" dirty="0">
                <a:solidFill>
                  <a:schemeClr val="accent2"/>
                </a:solidFill>
              </a:rPr>
              <a:t>Hedonic Motivation</a:t>
            </a:r>
            <a:endParaRPr lang="en-US" sz="1200" dirty="0"/>
          </a:p>
        </p:txBody>
      </p:sp>
      <p:sp>
        <p:nvSpPr>
          <p:cNvPr id="31" name="Price Value"/>
          <p:cNvSpPr/>
          <p:nvPr/>
        </p:nvSpPr>
        <p:spPr>
          <a:xfrm>
            <a:off x="3376879" y="438912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32" name="Price Value lingkaran"/>
          <p:cNvSpPr/>
          <p:nvPr/>
        </p:nvSpPr>
        <p:spPr>
          <a:xfrm>
            <a:off x="3605479" y="4663440"/>
            <a:ext cx="548640" cy="548640"/>
          </a:xfrm>
          <a:prstGeom prst="ellipse">
            <a:avLst/>
          </a:prstGeom>
          <a:solidFill>
            <a:schemeClr val="accent2"/>
          </a:solidFill>
          <a:ln/>
        </p:spPr>
      </p:sp>
      <p:pic>
        <p:nvPicPr>
          <p:cNvPr id="33" name="Price Value ikon" descr="preencoded.png">    </p:cNvPr>
          <p:cNvPicPr>
            <a:picLocks noChangeAspect="1"/>
          </p:cNvPicPr>
          <p:nvPr/>
        </p:nvPicPr>
        <p:blipFill>
          <a:blip r:embed="rId6"/>
          <a:stretch>
            <a:fillRect/>
          </a:stretch>
        </p:blipFill>
        <p:spPr>
          <a:xfrm>
            <a:off x="3737153" y="4795114"/>
            <a:ext cx="285293" cy="285293"/>
          </a:xfrm>
          <a:prstGeom prst="rect">
            <a:avLst/>
          </a:prstGeom>
        </p:spPr>
      </p:pic>
      <p:sp>
        <p:nvSpPr>
          <p:cNvPr id="34" name="Text 26"/>
          <p:cNvSpPr txBox="1"/>
          <p:nvPr/>
        </p:nvSpPr>
        <p:spPr>
          <a:xfrm>
            <a:off x="4291279" y="461772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Harganya sepadan?</a:t>
            </a:r>
            <a:endParaRPr lang="en-US" sz="1600" dirty="0"/>
          </a:p>
        </p:txBody>
      </p:sp>
      <p:sp>
        <p:nvSpPr>
          <p:cNvPr id="35" name="Text 27"/>
          <p:cNvSpPr txBox="1"/>
          <p:nvPr/>
        </p:nvSpPr>
        <p:spPr>
          <a:xfrm>
            <a:off x="3605479" y="5303520"/>
            <a:ext cx="2240280" cy="320040"/>
          </a:xfrm>
          <a:prstGeom prst="rect">
            <a:avLst/>
          </a:prstGeom>
          <a:noFill/>
          <a:ln/>
        </p:spPr>
        <p:txBody>
          <a:bodyPr wrap="square" lIns="0" tIns="0" rIns="0" bIns="0" rtlCol="0" anchor="t"/>
          <a:lstStyle/>
          <a:p>
            <a:pPr indent="0" marL="0">
              <a:buNone/>
            </a:pPr>
            <a:r>
              <a:rPr lang="en-US" sz="1200" b="1" dirty="0">
                <a:solidFill>
                  <a:schemeClr val="accent2"/>
                </a:solidFill>
              </a:rPr>
              <a:t>Price Value</a:t>
            </a:r>
            <a:endParaRPr lang="en-US" sz="1200" dirty="0"/>
          </a:p>
        </p:txBody>
      </p:sp>
      <p:sp>
        <p:nvSpPr>
          <p:cNvPr id="36" name="Habit"/>
          <p:cNvSpPr/>
          <p:nvPr/>
        </p:nvSpPr>
        <p:spPr>
          <a:xfrm>
            <a:off x="6205118" y="4389120"/>
            <a:ext cx="2606040" cy="1371600"/>
          </a:xfrm>
          <a:prstGeom prst="roundRect">
            <a:avLst>
              <a:gd name="adj" fmla="val 8000"/>
            </a:avLst>
          </a:prstGeom>
          <a:solidFill>
            <a:schemeClr val="bg1"/>
          </a:solidFill>
          <a:ln/>
          <a:effectLst>
            <a:outerShdw sx="100000" sy="100000" kx="0" ky="0" algn="bl" rotWithShape="0" blurRad="101600" dist="25400" dir="5400000">
              <a:srgbClr val="1C1A33">
                <a:alpha val="14000"/>
              </a:srgbClr>
            </a:outerShdw>
          </a:effectLst>
        </p:spPr>
      </p:sp>
      <p:sp>
        <p:nvSpPr>
          <p:cNvPr id="37" name="Habit lingkaran"/>
          <p:cNvSpPr/>
          <p:nvPr/>
        </p:nvSpPr>
        <p:spPr>
          <a:xfrm>
            <a:off x="6433718" y="4663440"/>
            <a:ext cx="548640" cy="548640"/>
          </a:xfrm>
          <a:prstGeom prst="ellipse">
            <a:avLst/>
          </a:prstGeom>
          <a:solidFill>
            <a:schemeClr val="accent2"/>
          </a:solidFill>
          <a:ln/>
        </p:spPr>
      </p:sp>
      <p:pic>
        <p:nvPicPr>
          <p:cNvPr id="38" name="Habit ikon" descr="preencoded.png">    </p:cNvPr>
          <p:cNvPicPr>
            <a:picLocks noChangeAspect="1"/>
          </p:cNvPicPr>
          <p:nvPr/>
        </p:nvPicPr>
        <p:blipFill>
          <a:blip r:embed="rId7"/>
          <a:stretch>
            <a:fillRect/>
          </a:stretch>
        </p:blipFill>
        <p:spPr>
          <a:xfrm>
            <a:off x="6565392" y="4795114"/>
            <a:ext cx="285293" cy="285293"/>
          </a:xfrm>
          <a:prstGeom prst="rect">
            <a:avLst/>
          </a:prstGeom>
        </p:spPr>
      </p:pic>
      <p:sp>
        <p:nvSpPr>
          <p:cNvPr id="39" name="Text 30"/>
          <p:cNvSpPr txBox="1"/>
          <p:nvPr/>
        </p:nvSpPr>
        <p:spPr>
          <a:xfrm>
            <a:off x="7119518" y="4617720"/>
            <a:ext cx="1554480" cy="640080"/>
          </a:xfrm>
          <a:prstGeom prst="rect">
            <a:avLst/>
          </a:prstGeom>
          <a:noFill/>
          <a:ln/>
        </p:spPr>
        <p:txBody>
          <a:bodyPr wrap="square" lIns="0" tIns="0" rIns="0" bIns="0" rtlCol="0" anchor="ctr"/>
          <a:lstStyle/>
          <a:p>
            <a:pPr indent="0" marL="0">
              <a:buNone/>
            </a:pPr>
            <a:r>
              <a:rPr lang="en-US" sz="1600" b="1" dirty="0">
                <a:solidFill>
                  <a:schemeClr val="tx1"/>
                </a:solidFill>
              </a:rPr>
              <a:t>Sudah kebiasaan?</a:t>
            </a:r>
            <a:endParaRPr lang="en-US" sz="1600" dirty="0"/>
          </a:p>
        </p:txBody>
      </p:sp>
      <p:sp>
        <p:nvSpPr>
          <p:cNvPr id="40" name="Text 31"/>
          <p:cNvSpPr txBox="1"/>
          <p:nvPr/>
        </p:nvSpPr>
        <p:spPr>
          <a:xfrm>
            <a:off x="6433718" y="5303520"/>
            <a:ext cx="2240280" cy="320040"/>
          </a:xfrm>
          <a:prstGeom prst="rect">
            <a:avLst/>
          </a:prstGeom>
          <a:noFill/>
          <a:ln/>
        </p:spPr>
        <p:txBody>
          <a:bodyPr wrap="square" lIns="0" tIns="0" rIns="0" bIns="0" rtlCol="0" anchor="t"/>
          <a:lstStyle/>
          <a:p>
            <a:pPr indent="0" marL="0">
              <a:buNone/>
            </a:pPr>
            <a:r>
              <a:rPr lang="en-US" sz="1200" b="1" dirty="0">
                <a:solidFill>
                  <a:schemeClr val="accent2"/>
                </a:solidFill>
              </a:rPr>
              <a:t>Habit</a:t>
            </a:r>
            <a:endParaRPr lang="en-US" sz="1200" dirty="0"/>
          </a:p>
        </p:txBody>
      </p:sp>
      <p:sp>
        <p:nvSpPr>
          <p:cNvPr id="41" name="Hasil"/>
          <p:cNvSpPr/>
          <p:nvPr/>
        </p:nvSpPr>
        <p:spPr>
          <a:xfrm>
            <a:off x="9033358" y="4389120"/>
            <a:ext cx="2606040" cy="1371600"/>
          </a:xfrm>
          <a:prstGeom prst="roundRect">
            <a:avLst>
              <a:gd name="adj" fmla="val 8000"/>
            </a:avLst>
          </a:prstGeom>
          <a:solidFill>
            <a:schemeClr val="tx2"/>
          </a:solidFill>
          <a:ln/>
        </p:spPr>
      </p:sp>
      <p:sp>
        <p:nvSpPr>
          <p:cNvPr id="42" name="Text 33"/>
          <p:cNvSpPr txBox="1"/>
          <p:nvPr/>
        </p:nvSpPr>
        <p:spPr>
          <a:xfrm>
            <a:off x="9261958" y="4389120"/>
            <a:ext cx="2148840" cy="1371600"/>
          </a:xfrm>
          <a:prstGeom prst="rect">
            <a:avLst/>
          </a:prstGeom>
          <a:noFill/>
          <a:ln/>
        </p:spPr>
        <p:txBody>
          <a:bodyPr wrap="square" lIns="0" tIns="0" rIns="0" bIns="0" rtlCol="0" anchor="ctr"/>
          <a:lstStyle/>
          <a:p>
            <a:pPr indent="0" marL="0">
              <a:buNone/>
            </a:pPr>
            <a:r>
              <a:rPr lang="en-US" sz="1300" dirty="0">
                <a:solidFill>
                  <a:schemeClr val="bg2"/>
                </a:solidFill>
              </a:rPr>
              <a:t>Jika semuanya “ya”:</a:t>
            </a:r>
            <a:endParaRPr lang="en-US" sz="1300" dirty="0"/>
          </a:p>
          <a:p>
            <a:pPr indent="0" marL="0">
              <a:buNone/>
            </a:pPr>
            <a:r>
              <a:rPr lang="en-US" sz="1700" b="1" dirty="0">
                <a:solidFill>
                  <a:schemeClr val="bg1"/>
                </a:solidFill>
              </a:rPr>
              <a:t>Niat  →  Penggunaan</a:t>
            </a:r>
            <a:endParaRPr lang="en-US" sz="13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365760"/>
          </a:xfrm>
          <a:prstGeom prst="rect">
            <a:avLst/>
          </a:prstGeom>
          <a:noFill/>
          <a:ln/>
        </p:spPr>
        <p:txBody>
          <a:bodyPr wrap="square" lIns="0" tIns="0" rIns="0" bIns="0" rtlCol="0"/>
          <a:lstStyle/>
          <a:p>
            <a:pPr indent="0" marL="0">
              <a:buNone/>
            </a:pPr>
            <a:r>
              <a:rPr lang="en-US" sz="1400" b="1" spc="200" kern="0" dirty="0">
                <a:solidFill>
                  <a:schemeClr val="accent1"/>
                </a:solidFill>
              </a:rPr>
              <a:t>KESIMPULAN</a:t>
            </a:r>
            <a:endParaRPr lang="en-US" sz="1400" dirty="0"/>
          </a:p>
        </p:txBody>
      </p:sp>
      <p:sp>
        <p:nvSpPr>
          <p:cNvPr id="3" name="Text 0"/>
          <p:cNvSpPr/>
          <p:nvPr>
            <p:ph idx="101" type="title" hasCustomPrompt="1"/>
          </p:nvPr>
        </p:nvSpPr>
        <p:spPr>
          <a:xfrm>
            <a:off x="731520" y="1828800"/>
            <a:ext cx="10698480" cy="1463040"/>
          </a:xfrm>
          <a:prstGeom prst="rect">
            <a:avLst/>
          </a:prstGeom>
          <a:noFill/>
          <a:ln/>
        </p:spPr>
        <p:txBody>
          <a:bodyPr wrap="square" lIns="0" tIns="0" rIns="0" bIns="0" rtlCol="0" anchor="ctr"/>
          <a:lstStyle/>
          <a:p>
            <a:pPr algn="l" indent="0" marL="0">
              <a:buNone/>
            </a:pPr>
            <a:r>
              <a:rPr lang="en-US" sz="6000" b="1" dirty="0">
                <a:solidFill>
                  <a:schemeClr val="bg1"/>
                </a:solidFill>
              </a:rPr>
              <a:t>Inti yang perlu diingat</a:t>
            </a:r>
            <a:endParaRPr lang="en-US" sz="6000" dirty="0"/>
          </a:p>
        </p:txBody>
      </p:sp>
      <p:sp>
        <p:nvSpPr>
          <p:cNvPr id="4" name="Text 2"/>
          <p:cNvSpPr txBox="1"/>
          <p:nvPr/>
        </p:nvSpPr>
        <p:spPr>
          <a:xfrm>
            <a:off x="731520" y="3429000"/>
            <a:ext cx="54864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1371600" y="3474720"/>
            <a:ext cx="9966960" cy="731520"/>
          </a:xfrm>
          <a:prstGeom prst="rect">
            <a:avLst/>
          </a:prstGeom>
          <a:noFill/>
          <a:ln/>
        </p:spPr>
        <p:txBody>
          <a:bodyPr wrap="square" lIns="0" tIns="0" rIns="0" bIns="0" rtlCol="0" anchor="ctr"/>
          <a:lstStyle/>
          <a:p>
            <a:pPr indent="0" marL="0">
              <a:buNone/>
            </a:pPr>
            <a:r>
              <a:rPr lang="en-US" sz="1700" dirty="0">
                <a:solidFill>
                  <a:schemeClr val="bg2"/>
                </a:solidFill>
              </a:rPr>
              <a:t>UTAUT (2003) menyatukan 8 teori menjadi 4 faktor inti, PE, EE, SI, FC, yang membentuk niat dan penggunaan nyata, dengan 4 moderator.</a:t>
            </a:r>
            <a:endParaRPr lang="en-US" sz="1700" dirty="0"/>
          </a:p>
        </p:txBody>
      </p:sp>
      <p:sp>
        <p:nvSpPr>
          <p:cNvPr id="6" name="Text 4"/>
          <p:cNvSpPr txBox="1"/>
          <p:nvPr/>
        </p:nvSpPr>
        <p:spPr>
          <a:xfrm>
            <a:off x="731520" y="4343400"/>
            <a:ext cx="54864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2</a:t>
            </a:r>
            <a:endParaRPr lang="en-US" sz="3600" dirty="0"/>
          </a:p>
        </p:txBody>
      </p:sp>
      <p:sp>
        <p:nvSpPr>
          <p:cNvPr id="7" name="Text 5"/>
          <p:cNvSpPr txBox="1"/>
          <p:nvPr/>
        </p:nvSpPr>
        <p:spPr>
          <a:xfrm>
            <a:off x="1371600" y="4389120"/>
            <a:ext cx="9966960" cy="731520"/>
          </a:xfrm>
          <a:prstGeom prst="rect">
            <a:avLst/>
          </a:prstGeom>
          <a:noFill/>
          <a:ln/>
        </p:spPr>
        <p:txBody>
          <a:bodyPr wrap="square" lIns="0" tIns="0" rIns="0" bIns="0" rtlCol="0" anchor="ctr"/>
          <a:lstStyle/>
          <a:p>
            <a:pPr indent="0" marL="0">
              <a:buNone/>
            </a:pPr>
            <a:r>
              <a:rPr lang="en-US" sz="1700" dirty="0">
                <a:solidFill>
                  <a:schemeClr val="bg2"/>
                </a:solidFill>
              </a:rPr>
              <a:t>UTAUT2 (2012) membawa model ke konteks konsumen dengan menambahkan Hedonic Motivation, Price Value, dan Habit.</a:t>
            </a:r>
            <a:endParaRPr lang="en-US" sz="1700" dirty="0"/>
          </a:p>
        </p:txBody>
      </p:sp>
      <p:sp>
        <p:nvSpPr>
          <p:cNvPr id="8" name="Text 6"/>
          <p:cNvSpPr txBox="1"/>
          <p:nvPr/>
        </p:nvSpPr>
        <p:spPr>
          <a:xfrm>
            <a:off x="731520" y="5257800"/>
            <a:ext cx="54864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3</a:t>
            </a:r>
            <a:endParaRPr lang="en-US" sz="3600" dirty="0"/>
          </a:p>
        </p:txBody>
      </p:sp>
      <p:sp>
        <p:nvSpPr>
          <p:cNvPr id="9" name="Text 7"/>
          <p:cNvSpPr txBox="1"/>
          <p:nvPr/>
        </p:nvSpPr>
        <p:spPr>
          <a:xfrm>
            <a:off x="1371600" y="5303520"/>
            <a:ext cx="9966960" cy="731520"/>
          </a:xfrm>
          <a:prstGeom prst="rect">
            <a:avLst/>
          </a:prstGeom>
          <a:noFill/>
          <a:ln/>
        </p:spPr>
        <p:txBody>
          <a:bodyPr wrap="square" lIns="0" tIns="0" rIns="0" bIns="0" rtlCol="0" anchor="ctr"/>
          <a:lstStyle/>
          <a:p>
            <a:pPr indent="0" marL="0">
              <a:buNone/>
            </a:pPr>
            <a:r>
              <a:rPr lang="en-US" sz="1700" dirty="0">
                <a:solidFill>
                  <a:schemeClr val="bg2"/>
                </a:solidFill>
              </a:rPr>
              <a:t>UTAUT menjawab “mengapa orang mau memakai teknologi”; UTAUT2 menambahkan peran kesenangan, biaya, dan kebiasaan.</a:t>
            </a:r>
            <a:endParaRPr lang="en-US" sz="1700" dirty="0"/>
          </a:p>
        </p:txBody>
      </p:sp>
      <p:sp>
        <p:nvSpPr>
          <p:cNvPr id="11" name="Text 0"/>
          <p:cNvSpPr/>
          <p:nvPr>
            <p:ph idx="102" type="body" hasCustomPrompt="1"/>
          </p:nvPr>
        </p:nvSpPr>
        <p:spPr>
          <a:xfrm>
            <a:off x="731520" y="3383280"/>
            <a:ext cx="6035040" cy="100584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200" kern="0" dirty="0">
                <a:solidFill>
                  <a:schemeClr val="accent1"/>
                </a:solidFill>
              </a:rPr>
              <a:t>REFERENSI</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Daftar pustaka</a:t>
            </a:r>
            <a:endParaRPr lang="en-US" sz="3400" dirty="0"/>
          </a:p>
        </p:txBody>
      </p:sp>
      <p:sp>
        <p:nvSpPr>
          <p:cNvPr id="4" name="Referensi lingkaran"/>
          <p:cNvSpPr/>
          <p:nvPr/>
        </p:nvSpPr>
        <p:spPr>
          <a:xfrm>
            <a:off x="548640" y="1600200"/>
            <a:ext cx="640080" cy="640080"/>
          </a:xfrm>
          <a:prstGeom prst="ellipse">
            <a:avLst/>
          </a:prstGeom>
          <a:solidFill>
            <a:schemeClr val="tx2"/>
          </a:solidFill>
          <a:ln/>
        </p:spPr>
      </p:sp>
      <p:pic>
        <p:nvPicPr>
          <p:cNvPr id="5" name="Referensi ikon" descr="preencoded.png">    </p:cNvPr>
          <p:cNvPicPr>
            <a:picLocks noChangeAspect="1"/>
          </p:cNvPicPr>
          <p:nvPr/>
        </p:nvPicPr>
        <p:blipFill>
          <a:blip r:embed="rId1"/>
          <a:stretch>
            <a:fillRect/>
          </a:stretch>
        </p:blipFill>
        <p:spPr>
          <a:xfrm>
            <a:off x="702259" y="1753819"/>
            <a:ext cx="332842" cy="332842"/>
          </a:xfrm>
          <a:prstGeom prst="rect">
            <a:avLst/>
          </a:prstGeom>
        </p:spPr>
      </p:pic>
      <p:sp>
        <p:nvSpPr>
          <p:cNvPr id="6" name="Text 3"/>
          <p:cNvSpPr txBox="1"/>
          <p:nvPr/>
        </p:nvSpPr>
        <p:spPr>
          <a:xfrm>
            <a:off x="1463040" y="1600200"/>
            <a:ext cx="10149840" cy="448056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Venkatesh, V., Morris, M. G., Davis, G. B., &amp; Davis, F. D. (2003). User acceptance of information technology: Toward a unified view. MIS Quarterly, 27(3), 425–478.</a:t>
            </a:r>
            <a:endParaRPr lang="en-US" sz="1400" dirty="0"/>
          </a:p>
          <a:p>
            <a:pPr indent="0" marL="0">
              <a:spcAft>
                <a:spcPts val="1000"/>
              </a:spcAft>
              <a:buNone/>
            </a:pPr>
            <a:r>
              <a:rPr lang="en-US" sz="1400" dirty="0">
                <a:solidFill>
                  <a:schemeClr val="tx1"/>
                </a:solidFill>
              </a:rPr>
              <a:t>Venkatesh, V., Thong, J. Y. L., &amp; Xu, X. (2012). Consumer acceptance and use of information technology: Extending the unified theory of acceptance and use of technology. MIS Quarterly, 36(1), 157–178.</a:t>
            </a:r>
            <a:endParaRPr lang="en-US" sz="1400" dirty="0"/>
          </a:p>
          <a:p>
            <a:pPr indent="0" marL="0">
              <a:spcAft>
                <a:spcPts val="1000"/>
              </a:spcAft>
              <a:buNone/>
            </a:pPr>
            <a:r>
              <a:rPr lang="en-US" sz="1400" dirty="0">
                <a:solidFill>
                  <a:schemeClr val="tx1"/>
                </a:solidFill>
              </a:rPr>
              <a:t>Davis, F. D. (1989). Perceived usefulness, perceived ease of use, and user acceptance of information technology. MIS Quarterly, 13(3), 319–340.</a:t>
            </a:r>
            <a:endParaRPr lang="en-US" sz="1400" dirty="0"/>
          </a:p>
          <a:p>
            <a:pPr indent="0" marL="0">
              <a:spcAft>
                <a:spcPts val="1000"/>
              </a:spcAft>
              <a:buNone/>
            </a:pPr>
            <a:r>
              <a:rPr lang="en-US" sz="1400" dirty="0">
                <a:solidFill>
                  <a:schemeClr val="tx1"/>
                </a:solidFill>
              </a:rPr>
              <a:t>Ajzen, I. (1991). The theory of planned behavior. Organizational Behavior and Human Decision Processes, 50(2), 179–211.</a:t>
            </a:r>
            <a:endParaRPr lang="en-US" sz="1400" dirty="0"/>
          </a:p>
          <a:p>
            <a:pPr indent="0" marL="0">
              <a:spcAft>
                <a:spcPts val="1000"/>
              </a:spcAft>
              <a:buNone/>
            </a:pPr>
            <a:r>
              <a:rPr lang="en-US" sz="1400" dirty="0">
                <a:solidFill>
                  <a:schemeClr val="tx1"/>
                </a:solidFill>
              </a:rPr>
              <a:t>Rogers, E. M. (1995). Diffusion of Innovations (4th ed.). New York: Free Press.</a:t>
            </a:r>
            <a:endParaRPr lang="en-US" sz="1400" dirty="0"/>
          </a:p>
          <a:p>
            <a:pPr indent="0" marL="0">
              <a:spcAft>
                <a:spcPts val="1000"/>
              </a:spcAft>
              <a:buNone/>
            </a:pPr>
            <a:r>
              <a:rPr lang="en-US" sz="1400" dirty="0">
                <a:solidFill>
                  <a:schemeClr val="tx1"/>
                </a:solidFill>
              </a:rPr>
              <a:t>Compeau, D. R., &amp; Higgins, C. A. (1995). Computer self-efficacy: Development of a measure and initial test. MIS Quarterly, 19(2), 189–211.</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UTAUT Ink">
  <a:themeElements>
    <a:clrScheme name="UTAUT Ink">
      <a:dk1>
        <a:srgbClr val="1C1A33"/>
      </a:dk1>
      <a:lt1>
        <a:srgbClr val="FFFFFF"/>
      </a:lt1>
      <a:dk2>
        <a:srgbClr val="2E2A5A"/>
      </a:dk2>
      <a:lt2>
        <a:srgbClr val="F1F0F7"/>
      </a:lt2>
      <a:accent1>
        <a:srgbClr val="0E9F9A"/>
      </a:accent1>
      <a:accent2>
        <a:srgbClr val="E8962E"/>
      </a:accent2>
      <a:accent3>
        <a:srgbClr val="E85D4A"/>
      </a:accent3>
      <a:accent4>
        <a:srgbClr val="6C5CE7"/>
      </a:accent4>
      <a:accent5>
        <a:srgbClr val="3FA34D"/>
      </a:accent5>
      <a:accent6>
        <a:srgbClr val="8A8AA3"/>
      </a:accent6>
      <a:hlink>
        <a:srgbClr val="0E9F9A"/>
      </a:hlink>
      <a:folHlink>
        <a:srgbClr val="6C5CE7"/>
      </a:folHlink>
    </a:clrScheme>
    <a:fontScheme name="UTAUT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UTAUT dan UTAUT2</dc:title>
  <dc:subject>Teori Penerimaan dan Penggunaan Teknologi</dc:subject>
  <dc:creator>S-Enigma</dc:creator>
  <cp:lastModifiedBy>S-Enigma</cp:lastModifiedBy>
  <cp:revision>1</cp:revision>
  <dcterms:created xsi:type="dcterms:W3CDTF">2026-10-07T13:19:11Z</dcterms:created>
  <dcterms:modified xsi:type="dcterms:W3CDTF">2026-10-07T13:19:11Z</dcterms:modified>
</cp:coreProperties>
</file>